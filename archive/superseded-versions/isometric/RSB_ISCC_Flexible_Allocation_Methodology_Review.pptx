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48"/>
  </p:normalViewPr>
  <p:slideViewPr>
    <p:cSldViewPr snapToGrid="0" snapToObjects="1">
      <p:cViewPr varScale="1">
        <p:scale>
          <a:sx n="112" d="100"/>
          <a:sy n="112" d="100"/>
        </p:scale>
        <p:origin x="60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3477875"/>
          </a:xfrm>
          <a:prstGeom prst="rect">
            <a:avLst/>
          </a:prstGeom>
          <a:noFill/>
        </p:spPr>
        <p:txBody>
          <a:bodyPr wrap="square">
            <a:spAutoFit/>
          </a:bodyPr>
          <a:lstStyle/>
          <a:p>
            <a:pPr algn="l">
              <a:spcAft>
                <a:spcPts val="800"/>
              </a:spcAft>
              <a:defRPr sz="1800" b="1" i="0">
                <a:solidFill>
                  <a:srgbClr val="1B2A41"/>
                </a:solidFill>
                <a:latin typeface="Calibri"/>
              </a:defRPr>
            </a:pPr>
            <a:r>
              <a:rPr dirty="0"/>
              <a:t>RSB (Roundtable on Sustainable Biomaterials) and ISCC (International Sustainability &amp; Carbon Certification) are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endParaRPr dirty="0"/>
          </a:p>
          <a:p>
            <a:pPr algn="l">
              <a:spcAft>
                <a:spcPts val="800"/>
              </a:spcAft>
              <a:defRPr sz="1600" b="0" i="0">
                <a:solidFill>
                  <a:srgbClr val="333333"/>
                </a:solidFill>
                <a:latin typeface="Calibri"/>
              </a:defRPr>
            </a:pPr>
            <a:r>
              <a:rPr dirty="0"/>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endParaRPr dirty="0"/>
          </a:p>
          <a:p>
            <a:pPr algn="l">
              <a:spcAft>
                <a:spcPts val="800"/>
              </a:spcAft>
              <a:defRPr sz="1800" b="1" i="0">
                <a:solidFill>
                  <a:srgbClr val="2E5C6E"/>
                </a:solidFill>
                <a:latin typeface="Calibri"/>
              </a:defRPr>
            </a:pPr>
            <a:r>
              <a:rPr dirty="0"/>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endParaRPr dirty="0"/>
          </a:p>
          <a:p>
            <a:pPr algn="l">
              <a:spcAft>
                <a:spcPts val="800"/>
              </a:spcAft>
              <a:defRPr sz="1600" b="0" i="0">
                <a:solidFill>
                  <a:srgbClr val="333333"/>
                </a:solidFill>
                <a:latin typeface="Calibri"/>
              </a:defRPr>
            </a:pPr>
            <a:r>
              <a:rPr dirty="0"/>
              <a:t>The answer depends entirely on which track within each body is in 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600" b="0" i="0">
                <a:solidFill>
                  <a:srgbClr val="333333"/>
                </a:solidFill>
                <a:latin typeface="Calibri"/>
              </a:defRPr>
            </a:pPr>
            <a:endParaRPr/>
          </a:p>
          <a:p>
            <a:pPr algn="l">
              <a:spcAft>
                <a:spcPts val="800"/>
              </a:spcAft>
              <a:defRPr sz="1400" b="1" i="0">
                <a:solidFill>
                  <a:srgbClr val="333333"/>
                </a:solidFill>
                <a:latin typeface="Calibri"/>
              </a:defRPr>
            </a:pPr>
            <a:r>
              <a:t>Worked example, from the standard itself (Annex IV, p.29):</a:t>
            </a:r>
          </a:p>
          <a:p>
            <a:pPr algn="l">
              <a:spcAft>
                <a:spcPts val="800"/>
              </a:spcAft>
              <a:defRPr sz="1400" b="0" i="1">
                <a:solidFill>
                  <a:srgbClr val="333333"/>
                </a:solidFill>
                <a:latin typeface="Calibri"/>
              </a:defRPr>
            </a:pPr>
            <a:r>
              <a:t>“1.1t of jet fuel will be sold with 100% bioattributed claim, while the remaining quantity of products will be sold with 0% bioattributed claim. Note that the amount of jet fuel sold with 100% flexible attributed claim is limited by the amount of biogenic carbon content in the biobased feedstock considering the efficiency in converting the feedstock into output.”</a:t>
            </a:r>
          </a:p>
          <a:p>
            <a:pPr algn="l">
              <a:spcAft>
                <a:spcPts val="800"/>
              </a:spcAft>
              <a:defRPr sz="600" b="0" i="0">
                <a:solidFill>
                  <a:srgbClr val="333333"/>
                </a:solidFill>
                <a:latin typeface="Calibri"/>
              </a:defRPr>
            </a:pPr>
            <a:endParaRPr/>
          </a:p>
          <a:p>
            <a:pPr algn="l">
              <a:spcAft>
                <a:spcPts val="800"/>
              </a:spcAft>
              <a:defRPr sz="1400" b="0" i="0">
                <a:solidFill>
                  <a:srgbClr val="333333"/>
                </a:solidFill>
                <a:latin typeface="Calibri"/>
              </a:defRPr>
            </a:pPr>
            <a:r>
              <a:t>The cap (Annex IV, p.26): eligible carbon exiting the process = feedstock mass × carbon content × conversion efficiency. Worked figure: 10t of biogenic carbon in, at 90% conversion efficiency, yields a 9t ceiling — regardless of which output the claim is pointed at.</a:t>
            </a:r>
          </a:p>
          <a:p>
            <a:pPr algn="l">
              <a:spcAft>
                <a:spcPts val="800"/>
              </a:spcAft>
              <a:defRPr sz="600" b="0" i="0">
                <a:solidFill>
                  <a:srgbClr val="333333"/>
                </a:solidFill>
                <a:latin typeface="Calibri"/>
              </a:defRPr>
            </a:pPr>
            <a:endParaRPr/>
          </a:p>
          <a:p>
            <a:pPr algn="l">
              <a:spcAft>
                <a:spcPts val="800"/>
              </a:spcAft>
              <a:defRPr sz="1400" b="0" i="0">
                <a:solidFill>
                  <a:srgbClr val="333333"/>
                </a:solidFill>
                <a:latin typeface="Calibri"/>
              </a:defRPr>
            </a:pPr>
            <a:r>
              <a:t>Guardrails: GHG emissions still allocated energy-basis regardless of the claim (Annex IV, Note 7, p.28); non-negative balance every 3 months (§2.4.5, p.12); output cannot claim “physical sustainable content” — an alternate label like “RSB-Compliant Advanced Fuel” is required instead (§2.5.4, p.12).</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0" i="0">
                <a:solidFill>
                  <a:srgbClr val="333333"/>
                </a:solidFill>
                <a:latin typeface="Calibri"/>
              </a:defRPr>
            </a:pPr>
            <a:r>
              <a:rPr dirty="0"/>
              <a:t>ISCC PLUS 203-2, Chain of Custody v1.1 (valid 13 Nov 2025), §6.4.2, p.26, lists four mass-balancing options under its Credit Method — Free Attribution, Fuel-Use Excluded, Proportional, and Trace-the-Atom — and defines the first:</a:t>
            </a:r>
          </a:p>
          <a:p>
            <a:pPr algn="l">
              <a:spcAft>
                <a:spcPts val="800"/>
              </a:spcAft>
              <a:defRPr sz="1400" b="0" i="1">
                <a:solidFill>
                  <a:srgbClr val="333333"/>
                </a:solidFill>
                <a:latin typeface="Calibri"/>
              </a:defRPr>
            </a:pPr>
            <a:r>
              <a:rPr dirty="0"/>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600" b="0" i="0">
                <a:solidFill>
                  <a:srgbClr val="333333"/>
                </a:solidFill>
                <a:latin typeface="Calibri"/>
              </a:defRPr>
            </a:pPr>
            <a:endParaRPr dirty="0"/>
          </a:p>
          <a:p>
            <a:pPr algn="l">
              <a:spcAft>
                <a:spcPts val="800"/>
              </a:spcAft>
              <a:defRPr sz="1400" b="1" i="0">
                <a:solidFill>
                  <a:srgbClr val="333333"/>
                </a:solidFill>
                <a:latin typeface="Calibri"/>
              </a:defRPr>
            </a:pPr>
            <a:r>
              <a:rPr dirty="0"/>
              <a:t>Guardrails (§6.3, p.21 — apply to every mass-balancing option, Free Attribution included):</a:t>
            </a:r>
          </a:p>
          <a:p>
            <a:pPr algn="l">
              <a:spcAft>
                <a:spcPts val="800"/>
              </a:spcAft>
              <a:defRPr sz="1300" b="0" i="0">
                <a:solidFill>
                  <a:srgbClr val="333333"/>
                </a:solidFill>
                <a:latin typeface="Calibri"/>
              </a:defRPr>
            </a:pPr>
            <a:r>
              <a:rPr dirty="0"/>
              <a:t>   •  “Physical Output: The amount of attributable credits cannot be higher than the physical output... It is not possible to attribute to a quantity of output which is not produced at the site.”</a:t>
            </a:r>
          </a:p>
          <a:p>
            <a:pPr algn="l">
              <a:spcAft>
                <a:spcPts val="800"/>
              </a:spcAft>
              <a:defRPr sz="1300" b="0" i="0">
                <a:solidFill>
                  <a:srgbClr val="333333"/>
                </a:solidFill>
                <a:latin typeface="Calibri"/>
              </a:defRPr>
            </a:pPr>
            <a:r>
              <a:rPr dirty="0"/>
              <a:t>   •  Chemical connectivity, operational data, and site-specific mass balancing must all be demonstrated.</a:t>
            </a:r>
          </a:p>
          <a:p>
            <a:pPr algn="l">
              <a:spcAft>
                <a:spcPts val="800"/>
              </a:spcAft>
              <a:defRPr sz="1300" b="0" i="0">
                <a:solidFill>
                  <a:srgbClr val="333333"/>
                </a:solidFill>
                <a:latin typeface="Calibri"/>
              </a:defRPr>
            </a:pPr>
            <a:r>
              <a:rPr dirty="0"/>
              <a:t>   •  Disclosure (§6.4.2, p.27): where an output's certified share is “compensated” beyond the proportion of certified input actually used, the outgoing Sustainability Declaration must say so explicitly.</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§6.3, §6.4.2, pp.21, 26–27.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0" i="0">
                <a:solidFill>
                  <a:srgbClr val="333333"/>
                </a:solidFill>
                <a:latin typeface="Calibri"/>
              </a:defRPr>
            </a:pPr>
            <a:r>
              <a:t>Both mechanisms start from the same physical fact. Co-processing and blending physically commingle biogenic and fossil material before any output stream exists. ISCC states the consequence directly (§6.2, p.18):</a:t>
            </a:r>
          </a:p>
          <a:p>
            <a:pPr algn="l">
              <a:spcAft>
                <a:spcPts val="800"/>
              </a:spcAft>
              <a:defRPr sz="1400" b="0" i="1">
                <a:solidFill>
                  <a:srgbClr val="333333"/>
                </a:solidFill>
                <a:latin typeface="Calibri"/>
              </a:defRPr>
            </a:pPr>
            <a:r>
              <a:t>“Due to the physical mixing, the mixture loses its individual properties. The sustainability characteristics of materials can therefore only be determined via the bookkeeping.”</a:t>
            </a:r>
          </a:p>
          <a:p>
            <a:pPr algn="l">
              <a:spcAft>
                <a:spcPts val="800"/>
              </a:spcAft>
              <a:defRPr sz="600" b="0" i="0">
                <a:solidFill>
                  <a:srgbClr val="333333"/>
                </a:solidFill>
                <a:latin typeface="Calibri"/>
              </a:defRPr>
            </a:pPr>
            <a:endParaRPr/>
          </a:p>
          <a:p>
            <a:pPr algn="l">
              <a:spcAft>
                <a:spcPts val="800"/>
              </a:spcAft>
              <a:defRPr sz="1500" b="0" i="0">
                <a:solidFill>
                  <a:srgbClr val="333333"/>
                </a:solidFill>
                <a:latin typeface="Calibri"/>
              </a:defRPr>
            </a:pPr>
            <a:r>
              <a:t>Once that's true, spreading the biogenic claim proportionally across every output — including the lowest-value ones — is a bookkeeping choice, not a more physically accurate one. Concentrating that same, already-fixed quantity onto the highest-value stream is an equally valid bookkeeping choice, provided it never exceeds what's physically present. Both standards enforce exactly that cap (RSB Annex IV Step 1; ISCC §6.3 “Physical Output”), and both keep it separate from the underlying emissions math and from double counting.</a:t>
            </a:r>
          </a:p>
          <a:p>
            <a:pPr algn="l">
              <a:spcAft>
                <a:spcPts val="800"/>
              </a:spcAft>
              <a:defRPr sz="800" b="0" i="0">
                <a:solidFill>
                  <a:srgbClr val="333333"/>
                </a:solidFill>
                <a:latin typeface="Calibri"/>
              </a:defRPr>
            </a:pPr>
            <a:endParaRPr/>
          </a:p>
          <a:p>
            <a:pPr algn="l">
              <a:spcAft>
                <a:spcPts val="800"/>
              </a:spcAft>
              <a:defRPr sz="1500" b="1" i="0">
                <a:solidFill>
                  <a:srgbClr val="1B2A41"/>
                </a:solidFill>
                <a:latin typeface="Calibri"/>
              </a:defRPr>
            </a:pPr>
            <a:r>
              <a:t>That is the reading this comparison supports: for the industry's two leading certifiers, free allocation is not really an “if” question anymore — it's a “when and how” question, bounded by a hard physical cap. What it buys is commercial: it lets a supplier concentrate a fixed, already-capped biogenic quantity onto the co-product stream the market values most (e.g. SAF), which is what makes bolting biogenic feedstock onto existing fossil infrastructure viable at the scale decarbonization targets require — without the total claimed benefit ever exceeding what was physically put in.</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Synthesis drawn from the guardrails cited on slides 5–6: RSB-STD-01-010 v2.8 Annex IV; ISCC PLUS 203-2 v1.1 §6.2–6.3.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234440"/>
          <a:ext cx="11247120" cy="48463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807720">
                <a:tc>
                  <a:txBody>
                    <a:bodyPr/>
                    <a:lstStyle/>
                    <a:p>
                      <a:pPr>
                        <a:defRPr sz="1350" b="1">
                          <a:solidFill>
                            <a:srgbClr val="FFFFFF"/>
                          </a:solidFill>
                          <a:latin typeface="Calibri"/>
                        </a:defRPr>
                      </a:pPr>
                      <a:r>
                        <a:t>Guardrail</a:t>
                      </a:r>
                    </a:p>
                  </a:txBody>
                  <a:tcPr marL="73152" marR="73152">
                    <a:solidFill>
                      <a:srgbClr val="1B2A41"/>
                    </a:solidFill>
                  </a:tcPr>
                </a:tc>
                <a:tc>
                  <a:txBody>
                    <a:bodyPr/>
                    <a:lstStyle/>
                    <a:p>
                      <a:pPr>
                        <a:defRPr sz="1350" b="1">
                          <a:solidFill>
                            <a:srgbClr val="FFFFFF"/>
                          </a:solidFill>
                          <a:latin typeface="Calibri"/>
                        </a:defRPr>
                      </a:pPr>
                      <a:r>
                        <a:t>RSB Advanced Fuels</a:t>
                      </a:r>
                    </a:p>
                  </a:txBody>
                  <a:tcPr marL="73152" marR="73152">
                    <a:solidFill>
                      <a:srgbClr val="1B2A41"/>
                    </a:solidFill>
                  </a:tcPr>
                </a:tc>
                <a:tc>
                  <a:txBody>
                    <a:bodyPr/>
                    <a:lstStyle/>
                    <a:p>
                      <a:pPr>
                        <a:defRPr sz="1350" b="1">
                          <a:solidFill>
                            <a:srgbClr val="FFFFFF"/>
                          </a:solidFill>
                          <a:latin typeface="Calibri"/>
                        </a:defRPr>
                      </a:pPr>
                      <a:r>
                        <a:t>ISCC PLUS</a:t>
                      </a:r>
                    </a:p>
                  </a:txBody>
                  <a:tcPr marL="73152" marR="73152">
                    <a:solidFill>
                      <a:srgbClr val="1B2A41"/>
                    </a:solidFill>
                  </a:tcPr>
                </a:tc>
                <a:extLst>
                  <a:ext uri="{0D108BD9-81ED-4DB2-BD59-A6C34878D82A}">
                    <a16:rowId xmlns:a16="http://schemas.microsoft.com/office/drawing/2014/main" val="10000"/>
                  </a:ext>
                </a:extLst>
              </a:tr>
              <a:tr h="807720">
                <a:tc>
                  <a:txBody>
                    <a:bodyPr/>
                    <a:lstStyle/>
                    <a:p>
                      <a:pPr>
                        <a:defRPr sz="1250" b="0">
                          <a:solidFill>
                            <a:srgbClr val="333333"/>
                          </a:solidFill>
                          <a:latin typeface="Calibri"/>
                        </a:defRPr>
                      </a:pPr>
                      <a:r>
                        <a:t>Physical cap on the claim</a:t>
                      </a:r>
                    </a:p>
                  </a:txBody>
                  <a:tcPr marL="73152" marR="73152">
                    <a:solidFill>
                      <a:srgbClr val="D6E4F0"/>
                    </a:solidFill>
                  </a:tcPr>
                </a:tc>
                <a:tc>
                  <a:txBody>
                    <a:bodyPr/>
                    <a:lstStyle/>
                    <a:p>
                      <a:pPr>
                        <a:defRPr sz="1250" b="0">
                          <a:solidFill>
                            <a:srgbClr val="333333"/>
                          </a:solidFill>
                          <a:latin typeface="Calibri"/>
                        </a:defRPr>
                      </a:pPr>
                      <a:r>
                        <a:t>Capped by feedstock carbon content × conversion efficiency (Annex IV, p.26)</a:t>
                      </a:r>
                    </a:p>
                  </a:txBody>
                  <a:tcPr marL="73152" marR="73152">
                    <a:solidFill>
                      <a:srgbClr val="D6E4F0"/>
                    </a:solidFill>
                  </a:tcPr>
                </a:tc>
                <a:tc>
                  <a:txBody>
                    <a:bodyPr/>
                    <a:lstStyle/>
                    <a:p>
                      <a:pPr>
                        <a:defRPr sz="1250" b="0">
                          <a:solidFill>
                            <a:srgbClr val="333333"/>
                          </a:solidFill>
                          <a:latin typeface="Calibri"/>
                        </a:defRPr>
                      </a:pPr>
                      <a:r>
                        <a:t>“Attributable credits cannot be higher than the physical output” (§6.3, p.21)</a:t>
                      </a:r>
                    </a:p>
                  </a:txBody>
                  <a:tcPr marL="73152" marR="73152">
                    <a:solidFill>
                      <a:srgbClr val="D6E4F0"/>
                    </a:solidFill>
                  </a:tcPr>
                </a:tc>
                <a:extLst>
                  <a:ext uri="{0D108BD9-81ED-4DB2-BD59-A6C34878D82A}">
                    <a16:rowId xmlns:a16="http://schemas.microsoft.com/office/drawing/2014/main" val="10001"/>
                  </a:ext>
                </a:extLst>
              </a:tr>
              <a:tr h="807720">
                <a:tc>
                  <a:txBody>
                    <a:bodyPr/>
                    <a:lstStyle/>
                    <a:p>
                      <a:pPr>
                        <a:defRPr sz="1250" b="0">
                          <a:solidFill>
                            <a:srgbClr val="333333"/>
                          </a:solidFill>
                          <a:latin typeface="Calibri"/>
                        </a:defRPr>
                      </a:pPr>
                      <a:r>
                        <a:t>Emissions math unaffected</a:t>
                      </a:r>
                    </a:p>
                  </a:txBody>
                  <a:tcPr marL="73152" marR="73152">
                    <a:solidFill>
                      <a:srgbClr val="FFFFFF"/>
                    </a:solidFill>
                  </a:tcPr>
                </a:tc>
                <a:tc>
                  <a:txBody>
                    <a:bodyPr/>
                    <a:lstStyle/>
                    <a:p>
                      <a:pPr>
                        <a:defRPr sz="1250" b="0">
                          <a:solidFill>
                            <a:srgbClr val="333333"/>
                          </a:solidFill>
                          <a:latin typeface="Calibri"/>
                        </a:defRPr>
                      </a:pPr>
                      <a:r>
                        <a:t>GHG emissions still allocated energy-basis regardless of claim (Annex IV, Note 7, p.28)</a:t>
                      </a:r>
                    </a:p>
                  </a:txBody>
                  <a:tcPr marL="73152" marR="73152">
                    <a:solidFill>
                      <a:srgbClr val="FFFFFF"/>
                    </a:solidFill>
                  </a:tcPr>
                </a:tc>
                <a:tc>
                  <a:txBody>
                    <a:bodyPr/>
                    <a:lstStyle/>
                    <a:p>
                      <a:pPr>
                        <a:defRPr sz="1250" b="0">
                          <a:solidFill>
                            <a:srgbClr val="333333"/>
                          </a:solidFill>
                          <a:latin typeface="Calibri"/>
                        </a:defRPr>
                      </a:pPr>
                      <a:r>
                        <a:t>Attribution governs the credit/claim; not shown here to alter GHG accounting</a:t>
                      </a:r>
                    </a:p>
                  </a:txBody>
                  <a:tcPr marL="73152" marR="73152">
                    <a:solidFill>
                      <a:srgbClr val="FFFFFF"/>
                    </a:solidFill>
                  </a:tcPr>
                </a:tc>
                <a:extLst>
                  <a:ext uri="{0D108BD9-81ED-4DB2-BD59-A6C34878D82A}">
                    <a16:rowId xmlns:a16="http://schemas.microsoft.com/office/drawing/2014/main" val="10002"/>
                  </a:ext>
                </a:extLst>
              </a:tr>
              <a:tr h="807720">
                <a:tc>
                  <a:txBody>
                    <a:bodyPr/>
                    <a:lstStyle/>
                    <a:p>
                      <a:pPr>
                        <a:defRPr sz="1250" b="0">
                          <a:solidFill>
                            <a:srgbClr val="333333"/>
                          </a:solidFill>
                          <a:latin typeface="Calibri"/>
                        </a:defRPr>
                      </a:pPr>
                      <a:r>
                        <a:t>Disclosure requirement</a:t>
                      </a:r>
                    </a:p>
                  </a:txBody>
                  <a:tcPr marL="73152" marR="73152">
                    <a:solidFill>
                      <a:srgbClr val="D6E4F0"/>
                    </a:solidFill>
                  </a:tcPr>
                </a:tc>
                <a:tc>
                  <a:txBody>
                    <a:bodyPr/>
                    <a:lstStyle/>
                    <a:p>
                      <a:pPr>
                        <a:defRPr sz="1250" b="0">
                          <a:solidFill>
                            <a:srgbClr val="333333"/>
                          </a:solidFill>
                          <a:latin typeface="Calibri"/>
                        </a:defRPr>
                      </a:pPr>
                      <a:r>
                        <a:t>Alternate claim label required — no “physical sustainable content” claim (§2.5.4, p.12)</a:t>
                      </a:r>
                    </a:p>
                  </a:txBody>
                  <a:tcPr marL="73152" marR="73152">
                    <a:solidFill>
                      <a:srgbClr val="D6E4F0"/>
                    </a:solidFill>
                  </a:tcPr>
                </a:tc>
                <a:tc>
                  <a:txBody>
                    <a:bodyPr/>
                    <a:lstStyle/>
                    <a:p>
                      <a:pPr>
                        <a:defRPr sz="1250" b="0">
                          <a:solidFill>
                            <a:srgbClr val="333333"/>
                          </a:solidFill>
                          <a:latin typeface="Calibri"/>
                        </a:defRPr>
                      </a:pPr>
                      <a:r>
                        <a:t>Outgoing Sustainability Declaration must flag compensation beyond proportion (§6.4.2, p.27)</a:t>
                      </a:r>
                    </a:p>
                  </a:txBody>
                  <a:tcPr marL="73152" marR="73152">
                    <a:solidFill>
                      <a:srgbClr val="D6E4F0"/>
                    </a:solidFill>
                  </a:tcPr>
                </a:tc>
                <a:extLst>
                  <a:ext uri="{0D108BD9-81ED-4DB2-BD59-A6C34878D82A}">
                    <a16:rowId xmlns:a16="http://schemas.microsoft.com/office/drawing/2014/main" val="10003"/>
                  </a:ext>
                </a:extLst>
              </a:tr>
              <a:tr h="807720">
                <a:tc>
                  <a:txBody>
                    <a:bodyPr/>
                    <a:lstStyle/>
                    <a:p>
                      <a:pPr>
                        <a:defRPr sz="1250" b="0">
                          <a:solidFill>
                            <a:srgbClr val="333333"/>
                          </a:solidFill>
                          <a:latin typeface="Calibri"/>
                        </a:defRPr>
                      </a:pPr>
                      <a:r>
                        <a:t>Balance / bookkeeping</a:t>
                      </a:r>
                    </a:p>
                  </a:txBody>
                  <a:tcPr marL="73152" marR="73152">
                    <a:solidFill>
                      <a:srgbClr val="FFFFFF"/>
                    </a:solidFill>
                  </a:tcPr>
                </a:tc>
                <a:tc>
                  <a:txBody>
                    <a:bodyPr/>
                    <a:lstStyle/>
                    <a:p>
                      <a:pPr>
                        <a:defRPr sz="1250" b="0">
                          <a:solidFill>
                            <a:srgbClr val="333333"/>
                          </a:solidFill>
                          <a:latin typeface="Calibri"/>
                        </a:defRPr>
                      </a:pPr>
                      <a:r>
                        <a:t>Non-negative balance every 3 months, documented (§2.4.5, p.12)</a:t>
                      </a:r>
                    </a:p>
                  </a:txBody>
                  <a:tcPr marL="73152" marR="73152">
                    <a:solidFill>
                      <a:srgbClr val="FFFFFF"/>
                    </a:solidFill>
                  </a:tcPr>
                </a:tc>
                <a:tc>
                  <a:txBody>
                    <a:bodyPr/>
                    <a:lstStyle/>
                    <a:p>
                      <a:pPr>
                        <a:defRPr sz="1250" b="0">
                          <a:solidFill>
                            <a:srgbClr val="333333"/>
                          </a:solidFill>
                          <a:latin typeface="Calibri"/>
                        </a:defRPr>
                      </a:pPr>
                      <a:r>
                        <a:t>Site-specific mass balance, documented operational data (§6.3, p.21)</a:t>
                      </a:r>
                    </a:p>
                  </a:txBody>
                  <a:tcPr marL="73152" marR="73152">
                    <a:solidFill>
                      <a:srgbClr val="FFFFFF"/>
                    </a:solidFill>
                  </a:tcPr>
                </a:tc>
                <a:extLst>
                  <a:ext uri="{0D108BD9-81ED-4DB2-BD59-A6C34878D82A}">
                    <a16:rowId xmlns:a16="http://schemas.microsoft.com/office/drawing/2014/main" val="10004"/>
                  </a:ext>
                </a:extLst>
              </a:tr>
              <a:tr h="807720">
                <a:tc>
                  <a:txBody>
                    <a:bodyPr/>
                    <a:lstStyle/>
                    <a:p>
                      <a:pPr>
                        <a:defRPr sz="1250" b="0">
                          <a:solidFill>
                            <a:srgbClr val="333333"/>
                          </a:solidFill>
                          <a:latin typeface="Calibri"/>
                        </a:defRPr>
                      </a:pPr>
                      <a:r>
                        <a:t>Status</a:t>
                      </a:r>
                    </a:p>
                  </a:txBody>
                  <a:tcPr marL="73152" marR="73152">
                    <a:solidFill>
                      <a:srgbClr val="D6E4F0"/>
                    </a:solidFill>
                  </a:tcPr>
                </a:tc>
                <a:tc>
                  <a:txBody>
                    <a:bodyPr/>
                    <a:lstStyle/>
                    <a:p>
                      <a:pPr>
                        <a:defRPr sz="1250" b="0">
                          <a:solidFill>
                            <a:srgbClr val="333333"/>
                          </a:solidFill>
                          <a:latin typeface="Calibri"/>
                        </a:defRPr>
                      </a:pPr>
                      <a:r>
                        <a:t>Published, in-force methodology with a numeric worked example (Annex IV)</a:t>
                      </a:r>
                    </a:p>
                  </a:txBody>
                  <a:tcPr marL="73152" marR="73152">
                    <a:solidFill>
                      <a:srgbClr val="D6E4F0"/>
                    </a:solidFill>
                  </a:tcPr>
                </a:tc>
                <a:tc>
                  <a:txBody>
                    <a:bodyPr/>
                    <a:lstStyle/>
                    <a:p>
                      <a:pPr>
                        <a:defRPr sz="1250" b="0">
                          <a:solidFill>
                            <a:srgbClr val="333333"/>
                          </a:solidFill>
                          <a:latin typeface="Calibri"/>
                        </a:defRPr>
                      </a:pPr>
                      <a:r>
                        <a:t>Published, in-force methodology (203-2 v1.1, valid 13 Nov 2025)</a:t>
                      </a:r>
                    </a:p>
                  </a:txBody>
                  <a:tcPr marL="73152" marR="73152">
                    <a:solidFill>
                      <a:srgbClr val="D6E4F0"/>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answer, in one table</a:t>
            </a:r>
          </a:p>
        </p:txBody>
      </p:sp>
      <p:graphicFrame>
        <p:nvGraphicFramePr>
          <p:cNvPr id="5" name="Table 4"/>
          <p:cNvGraphicFramePr>
            <a:graphicFrameLocks noGrp="1"/>
          </p:cNvGraphicFramePr>
          <p:nvPr/>
        </p:nvGraphicFramePr>
        <p:xfrm>
          <a:off x="822960" y="1371600"/>
          <a:ext cx="10515600" cy="36576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914400">
                <a:tc>
                  <a:txBody>
                    <a:bodyPr/>
                    <a:lstStyle/>
                    <a:p>
                      <a:pPr>
                        <a:defRPr sz="1350" b="1">
                          <a:solidFill>
                            <a:srgbClr val="FFFFFF"/>
                          </a:solidFill>
                          <a:latin typeface="Calibri"/>
                        </a:defRPr>
                      </a:pPr>
                      <a:endParaRPr/>
                    </a:p>
                  </a:txBody>
                  <a:tcPr marL="73152" marR="73152">
                    <a:solidFill>
                      <a:srgbClr val="1B2A41"/>
                    </a:solidFill>
                  </a:tcPr>
                </a:tc>
                <a:tc>
                  <a:txBody>
                    <a:bodyPr/>
                    <a:lstStyle/>
                    <a:p>
                      <a:pPr>
                        <a:defRPr sz="1350" b="1">
                          <a:solidFill>
                            <a:srgbClr val="FFFFFF"/>
                          </a:solidFill>
                          <a:latin typeface="Calibri"/>
                        </a:defRPr>
                      </a:pPr>
                      <a:r>
                        <a:t>RSB</a:t>
                      </a:r>
                    </a:p>
                  </a:txBody>
                  <a:tcPr marL="73152" marR="73152">
                    <a:solidFill>
                      <a:srgbClr val="1B2A41"/>
                    </a:solidFill>
                  </a:tcPr>
                </a:tc>
                <a:tc>
                  <a:txBody>
                    <a:bodyPr/>
                    <a:lstStyle/>
                    <a:p>
                      <a:pPr>
                        <a:defRPr sz="1350" b="1">
                          <a:solidFill>
                            <a:srgbClr val="FFFFFF"/>
                          </a:solidFill>
                          <a:latin typeface="Calibri"/>
                        </a:defRPr>
                      </a:pPr>
                      <a:r>
                        <a:t>ISCC</a:t>
                      </a:r>
                    </a:p>
                  </a:txBody>
                  <a:tcPr marL="73152" marR="73152">
                    <a:solidFill>
                      <a:srgbClr val="1B2A41"/>
                    </a:solidFill>
                  </a:tcPr>
                </a:tc>
                <a:extLst>
                  <a:ext uri="{0D108BD9-81ED-4DB2-BD59-A6C34878D82A}">
                    <a16:rowId xmlns:a16="http://schemas.microsoft.com/office/drawing/2014/main" val="10000"/>
                  </a:ext>
                </a:extLst>
              </a:tr>
              <a:tr h="914400">
                <a:tc>
                  <a:txBody>
                    <a:bodyPr/>
                    <a:lstStyle/>
                    <a:p>
                      <a:pPr>
                        <a:defRPr sz="1350" b="1">
                          <a:solidFill>
                            <a:srgbClr val="333333"/>
                          </a:solidFill>
                          <a:latin typeface="Calibri"/>
                        </a:defRPr>
                      </a:pPr>
                      <a:r>
                        <a:t>CORSIA track</a:t>
                      </a:r>
                    </a:p>
                  </a:txBody>
                  <a:tcPr marL="73152" marR="73152">
                    <a:solidFill>
                      <a:srgbClr val="D6E4F0"/>
                    </a:solidFill>
                  </a:tcPr>
                </a:tc>
                <a:tc>
                  <a:txBody>
                    <a:bodyPr/>
                    <a:lstStyle/>
                    <a:p>
                      <a:pPr>
                        <a:defRPr sz="1350" b="0">
                          <a:solidFill>
                            <a:srgbClr val="333333"/>
                          </a:solidFill>
                          <a:latin typeface="Calibri"/>
                        </a:defRPr>
                      </a:pPr>
                      <a:r>
                        <a:t>No free allocation (RSB-STD-12-001 v1.7, §3.4.7.1, p.23)</a:t>
                      </a:r>
                    </a:p>
                  </a:txBody>
                  <a:tcPr marL="73152" marR="73152">
                    <a:solidFill>
                      <a:srgbClr val="D6E4F0"/>
                    </a:solidFill>
                  </a:tcPr>
                </a:tc>
                <a:tc>
                  <a:txBody>
                    <a:bodyPr/>
                    <a:lstStyle/>
                    <a:p>
                      <a:pPr>
                        <a:defRPr sz="1350" b="0">
                          <a:solidFill>
                            <a:srgbClr val="333333"/>
                          </a:solidFill>
                          <a:latin typeface="Calibri"/>
                        </a:defRPr>
                      </a:pPr>
                      <a:r>
                        <a:t>No free allocation (ISCC CORSIA 203 v2.0, §4.4.4, p.42)</a:t>
                      </a:r>
                    </a:p>
                  </a:txBody>
                  <a:tcPr marL="73152" marR="73152">
                    <a:solidFill>
                      <a:srgbClr val="D6E4F0"/>
                    </a:solidFill>
                  </a:tcPr>
                </a:tc>
                <a:extLst>
                  <a:ext uri="{0D108BD9-81ED-4DB2-BD59-A6C34878D82A}">
                    <a16:rowId xmlns:a16="http://schemas.microsoft.com/office/drawing/2014/main" val="10001"/>
                  </a:ext>
                </a:extLst>
              </a:tr>
              <a:tr h="914400">
                <a:tc>
                  <a:txBody>
                    <a:bodyPr/>
                    <a:lstStyle/>
                    <a:p>
                      <a:pPr>
                        <a:defRPr sz="1350" b="1">
                          <a:solidFill>
                            <a:srgbClr val="333333"/>
                          </a:solidFill>
                          <a:latin typeface="Calibri"/>
                        </a:defRPr>
                      </a:pPr>
                      <a:r>
                        <a:t>Voluntary track</a:t>
                      </a:r>
                    </a:p>
                  </a:txBody>
                  <a:tcPr marL="73152" marR="73152">
                    <a:solidFill>
                      <a:srgbClr val="FFFFFF"/>
                    </a:solidFill>
                  </a:tcPr>
                </a:tc>
                <a:tc>
                  <a:txBody>
                    <a:bodyPr/>
                    <a:lstStyle/>
                    <a:p>
                      <a:pPr>
                        <a:defRPr sz="1350" b="0">
                          <a:solidFill>
                            <a:srgbClr val="333333"/>
                          </a:solidFill>
                          <a:latin typeface="Calibri"/>
                        </a:defRPr>
                      </a:pPr>
                      <a:r>
                        <a:t>Free allocation allowed (RSB-STD-01-010 v2.8, Annex IV)</a:t>
                      </a:r>
                    </a:p>
                  </a:txBody>
                  <a:tcPr marL="73152" marR="73152">
                    <a:solidFill>
                      <a:srgbClr val="FFFFFF"/>
                    </a:solidFill>
                  </a:tcPr>
                </a:tc>
                <a:tc>
                  <a:txBody>
                    <a:bodyPr/>
                    <a:lstStyle/>
                    <a:p>
                      <a:pPr>
                        <a:defRPr sz="1350" b="0">
                          <a:solidFill>
                            <a:srgbClr val="333333"/>
                          </a:solidFill>
                          <a:latin typeface="Calibri"/>
                        </a:defRPr>
                      </a:pPr>
                      <a:r>
                        <a:t>Free allocation allowed (ISCC PLUS 203-2 v1.1, §6.4.2)</a:t>
                      </a:r>
                    </a:p>
                  </a:txBody>
                  <a:tcPr marL="73152" marR="73152">
                    <a:solidFill>
                      <a:srgbClr val="FFFFFF"/>
                    </a:solidFill>
                  </a:tcPr>
                </a:tc>
                <a:extLst>
                  <a:ext uri="{0D108BD9-81ED-4DB2-BD59-A6C34878D82A}">
                    <a16:rowId xmlns:a16="http://schemas.microsoft.com/office/drawing/2014/main" val="10002"/>
                  </a:ext>
                </a:extLst>
              </a:tr>
              <a:tr h="914400">
                <a:tc>
                  <a:txBody>
                    <a:bodyPr/>
                    <a:lstStyle/>
                    <a:p>
                      <a:pPr>
                        <a:defRPr sz="1350" b="1">
                          <a:solidFill>
                            <a:srgbClr val="333333"/>
                          </a:solidFill>
                          <a:latin typeface="Calibri"/>
                        </a:defRPr>
                      </a:pPr>
                      <a:r>
                        <a:t>Common guardrail</a:t>
                      </a:r>
                    </a:p>
                  </a:txBody>
                  <a:tcPr marL="73152" marR="73152">
                    <a:solidFill>
                      <a:srgbClr val="D6E4F0"/>
                    </a:solidFill>
                  </a:tcPr>
                </a:tc>
                <a:tc>
                  <a:txBody>
                    <a:bodyPr/>
                    <a:lstStyle/>
                    <a:p>
                      <a:pPr>
                        <a:defRPr sz="1350" b="0">
                          <a:solidFill>
                            <a:srgbClr val="333333"/>
                          </a:solidFill>
                          <a:latin typeface="Calibri"/>
                        </a:defRPr>
                      </a:pPr>
                      <a:r>
                        <a:t>Capped at physically-present biogenic carbon; emissions stay energy-allocated</a:t>
                      </a:r>
                    </a:p>
                  </a:txBody>
                  <a:tcPr marL="73152" marR="73152">
                    <a:solidFill>
                      <a:srgbClr val="D6E4F0"/>
                    </a:solidFill>
                  </a:tcPr>
                </a:tc>
                <a:tc>
                  <a:txBody>
                    <a:bodyPr/>
                    <a:lstStyle/>
                    <a:p>
                      <a:pPr>
                        <a:defRPr sz="1350" b="0">
                          <a:solidFill>
                            <a:srgbClr val="333333"/>
                          </a:solidFill>
                          <a:latin typeface="Calibri"/>
                        </a:defRPr>
                      </a:pPr>
                      <a:r>
                        <a:t>Capped at physical output; compensation beyond proportion must be disclosed</a:t>
                      </a:r>
                    </a:p>
                  </a:txBody>
                  <a:tcPr marL="73152" marR="73152">
                    <a:solidFill>
                      <a:srgbClr val="D6E4F0"/>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822960" y="5349240"/>
            <a:ext cx="10515600" cy="914400"/>
          </a:xfrm>
          <a:prstGeom prst="rect">
            <a:avLst/>
          </a:prstGeom>
          <a:noFill/>
        </p:spPr>
        <p:txBody>
          <a:bodyPr wrap="square">
            <a:spAutoFit/>
          </a:bodyPr>
          <a:lstStyle/>
          <a:p>
            <a:pPr algn="l">
              <a:spcAft>
                <a:spcPts val="800"/>
              </a:spcAft>
              <a:defRPr sz="1500" b="1" i="0">
                <a:solidFill>
                  <a:srgbClr val="1B2A41"/>
                </a:solidFill>
                <a:latin typeface="Calibri"/>
              </a:defRPr>
            </a:pPr>
            <a:r>
              <a:t>Two independent, premier certification bodies drew the identical line: proportional-only where a binding regulatory scheme (CORSIA) requires it, free allocation where the market is voluntary — bounded by the same style of physical cap in both cases.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Full citations in the appendix.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1" i="0">
                <a:solidFill>
                  <a:srgbClr val="333333"/>
                </a:solidFill>
                <a:latin typeface="Calibri"/>
              </a:defRPr>
            </a:pPr>
            <a:r>
              <a:t>RSB Standard for Advanced Fuels, RSB-STD-01-010, Version 2.8, published April 2026.</a:t>
            </a:r>
          </a:p>
          <a:p>
            <a:pPr algn="l">
              <a:spcAft>
                <a:spcPts val="800"/>
              </a:spcAft>
              <a:defRPr sz="1200" b="0" i="0">
                <a:solidFill>
                  <a:srgbClr val="5A5A5A"/>
                </a:solidFill>
                <a:latin typeface="Calibri"/>
              </a:defRPr>
            </a:pPr>
            <a:r>
              <a:t>   Cited: §2.4.2 (p.11), §2.4.5 (p.12), §2.5.4 (p.12), Annex IV (pp.26, 28, 29).</a:t>
            </a:r>
          </a:p>
          <a:p>
            <a:pPr algn="l">
              <a:spcAft>
                <a:spcPts val="800"/>
              </a:spcAft>
              <a:defRPr sz="600" b="0" i="0">
                <a:solidFill>
                  <a:srgbClr val="333333"/>
                </a:solidFill>
                <a:latin typeface="Calibri"/>
              </a:defRPr>
            </a:pPr>
            <a:endParaRPr/>
          </a:p>
          <a:p>
            <a:pPr algn="l">
              <a:spcAft>
                <a:spcPts val="800"/>
              </a:spcAft>
              <a:defRPr sz="1300" b="1" i="0">
                <a:solidFill>
                  <a:srgbClr val="333333"/>
                </a:solidFill>
                <a:latin typeface="Calibri"/>
              </a:defRPr>
            </a:pPr>
            <a:r>
              <a:t>RSB Standard for ICAO CORSIA, RSB-STD-12-001, Version 1.7, published April 2026.</a:t>
            </a:r>
          </a:p>
          <a:p>
            <a:pPr algn="l">
              <a:spcAft>
                <a:spcPts val="800"/>
              </a:spcAft>
              <a:defRPr sz="1200" b="0" i="0">
                <a:solidFill>
                  <a:srgbClr val="5A5A5A"/>
                </a:solidFill>
                <a:latin typeface="Calibri"/>
              </a:defRPr>
            </a:pPr>
            <a:r>
              <a:t>   Cited: §3.4.7.1 (p.23).</a:t>
            </a:r>
          </a:p>
          <a:p>
            <a:pPr algn="l">
              <a:spcAft>
                <a:spcPts val="800"/>
              </a:spcAft>
              <a:defRPr sz="600" b="0" i="0">
                <a:solidFill>
                  <a:srgbClr val="333333"/>
                </a:solidFill>
                <a:latin typeface="Calibri"/>
              </a:defRPr>
            </a:pPr>
            <a:endParaRPr/>
          </a:p>
          <a:p>
            <a:pPr algn="l">
              <a:spcAft>
                <a:spcPts val="800"/>
              </a:spcAft>
              <a:defRPr sz="1300" b="1" i="0">
                <a:solidFill>
                  <a:srgbClr val="333333"/>
                </a:solidFill>
                <a:latin typeface="Calibri"/>
              </a:defRPr>
            </a:pPr>
            <a:r>
              <a:t>ISCC PLUS 203-2, Chain of Custody, Version 1.1, valid from 13 November 2025.</a:t>
            </a:r>
          </a:p>
          <a:p>
            <a:pPr algn="l">
              <a:spcAft>
                <a:spcPts val="800"/>
              </a:spcAft>
              <a:defRPr sz="1200" b="0" i="0">
                <a:solidFill>
                  <a:srgbClr val="5A5A5A"/>
                </a:solidFill>
                <a:latin typeface="Calibri"/>
              </a:defRPr>
            </a:pPr>
            <a:r>
              <a:t>   Cited: §6.2 (p.18), §6.3 (p.21), §6.4.2 (pp.26–27).</a:t>
            </a:r>
          </a:p>
          <a:p>
            <a:pPr algn="l">
              <a:spcAft>
                <a:spcPts val="800"/>
              </a:spcAft>
              <a:defRPr sz="600" b="0" i="0">
                <a:solidFill>
                  <a:srgbClr val="333333"/>
                </a:solidFill>
                <a:latin typeface="Calibri"/>
              </a:defRPr>
            </a:pPr>
            <a:endParaRPr/>
          </a:p>
          <a:p>
            <a:pPr algn="l">
              <a:spcAft>
                <a:spcPts val="800"/>
              </a:spcAft>
              <a:defRPr sz="1300" b="1" i="0">
                <a:solidFill>
                  <a:srgbClr val="333333"/>
                </a:solidFill>
                <a:latin typeface="Calibri"/>
              </a:defRPr>
            </a:pPr>
            <a:r>
              <a:t>ISCC CORSIA 203, Traceability and Chain of Custody, Version 2.0.</a:t>
            </a:r>
          </a:p>
          <a:p>
            <a:pPr algn="l">
              <a:spcAft>
                <a:spcPts val="800"/>
              </a:spcAft>
              <a:defRPr sz="1200" b="0" i="0">
                <a:solidFill>
                  <a:srgbClr val="5A5A5A"/>
                </a:solidFill>
                <a:latin typeface="Calibri"/>
              </a:defRPr>
            </a:pPr>
            <a:r>
              <a:t>   Cited: §4.4.4 Co-Processing (p.42).</a:t>
            </a:r>
          </a:p>
          <a:p>
            <a:pPr algn="l">
              <a:spcAft>
                <a:spcPts val="800"/>
              </a:spcAft>
              <a:defRPr sz="1000" b="0" i="0">
                <a:solidFill>
                  <a:srgbClr val="333333"/>
                </a:solidFill>
                <a:latin typeface="Calibri"/>
              </a:defRPr>
            </a:pPr>
            <a:endParaRPr/>
          </a:p>
          <a:p>
            <a:pPr algn="l">
              <a:spcAft>
                <a:spcPts val="800"/>
              </a:spcAft>
              <a:defRPr sz="1200" b="0" i="1">
                <a:solidFill>
                  <a:srgbClr val="5A5A5A"/>
                </a:solidFill>
                <a:latin typeface="Calibri"/>
              </a:defRPr>
            </a:pPr>
            <a:r>
              <a:t>Not checked in this review: EU RED, LCFS, ISCC EU (the DR 2023/1640-scoped track, distinct from ISCC PLUS).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926080"/>
            <a:ext cx="10698480" cy="914400"/>
          </a:xfrm>
          <a:prstGeom prst="rect">
            <a:avLst/>
          </a:prstGeom>
          <a:noFill/>
        </p:spPr>
        <p:txBody>
          <a:bodyPr wrap="none">
            <a:spAutoFit/>
          </a:bodyPr>
          <a:lstStyle/>
          <a:p>
            <a:pPr>
              <a:defRPr sz="3600" b="1">
                <a:solidFill>
                  <a:srgbClr val="FFFFFF"/>
                </a:solidFill>
              </a:defRPr>
            </a:pPr>
            <a:r>
              <a:t>Backup</a:t>
            </a:r>
          </a:p>
        </p:txBody>
      </p:sp>
      <p:sp>
        <p:nvSpPr>
          <p:cNvPr id="3" name="TextBox 2"/>
          <p:cNvSpPr txBox="1"/>
          <p:nvPr/>
        </p:nvSpPr>
        <p:spPr>
          <a:xfrm>
            <a:off x="731520" y="3657600"/>
            <a:ext cx="10698480" cy="548640"/>
          </a:xfrm>
          <a:prstGeom prst="rect">
            <a:avLst/>
          </a:prstGeom>
          <a:noFill/>
        </p:spPr>
        <p:txBody>
          <a:bodyPr wrap="none">
            <a:spAutoFit/>
          </a:bodyPr>
          <a:lstStyle/>
          <a:p>
            <a:pPr>
              <a:defRPr sz="1600" i="1">
                <a:solidFill>
                  <a:srgbClr val="D6E4F0"/>
                </a:solidFill>
              </a:defRPr>
            </a:pPr>
            <a:r>
              <a:t>Numeric detail held in reserve for follow-up questions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IV — the physical cap, in numbers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500" b="1" i="0">
                <a:solidFill>
                  <a:srgbClr val="333333"/>
                </a:solidFill>
                <a:latin typeface="Calibri"/>
              </a:defRPr>
            </a:pPr>
            <a:r>
              <a:t>From the standard's own Figure 1 (Annex IV, p.29):</a:t>
            </a:r>
          </a:p>
          <a:p>
            <a:pPr algn="l">
              <a:spcAft>
                <a:spcPts val="800"/>
              </a:spcAft>
              <a:defRPr sz="1400" b="0" i="0">
                <a:solidFill>
                  <a:srgbClr val="333333"/>
                </a:solidFill>
                <a:latin typeface="Calibri"/>
              </a:defRPr>
            </a:pPr>
            <a:r>
              <a:t>   •  Inputs: 21t biomass feedstock (10t biogenic carbon) + 98t fossil feedstock (68.6t fossil carbon)</a:t>
            </a:r>
          </a:p>
          <a:p>
            <a:pPr algn="l">
              <a:spcAft>
                <a:spcPts val="800"/>
              </a:spcAft>
              <a:defRPr sz="1400" b="0" i="0">
                <a:solidFill>
                  <a:srgbClr val="333333"/>
                </a:solidFill>
                <a:latin typeface="Calibri"/>
              </a:defRPr>
            </a:pPr>
            <a:r>
              <a:t>   •  Process conversion efficiency: 90%</a:t>
            </a:r>
          </a:p>
          <a:p>
            <a:pPr algn="l">
              <a:spcAft>
                <a:spcPts val="800"/>
              </a:spcAft>
              <a:defRPr sz="1400" b="0" i="0">
                <a:solidFill>
                  <a:srgbClr val="333333"/>
                </a:solidFill>
                <a:latin typeface="Calibri"/>
              </a:defRPr>
            </a:pPr>
            <a:r>
              <a:t>   •  Outputs: 1.1t SAF (carrying 0.9t of the attributed biogenic carbon), 2.4t fossil-based jet fuel (2.1t fossil carbon attributed), plus other fossil-based products (59.7t fossil carbon attributed)</a:t>
            </a:r>
          </a:p>
          <a:p>
            <a:pPr algn="l">
              <a:spcAft>
                <a:spcPts val="800"/>
              </a:spcAft>
              <a:defRPr sz="1400" b="0" i="0">
                <a:solidFill>
                  <a:srgbClr val="333333"/>
                </a:solidFill>
                <a:latin typeface="Calibri"/>
              </a:defRPr>
            </a:pPr>
            <a:r>
              <a:t>   •  Resulting carbon footprint: 0.98 tCO2eq/t SAF vs. 1.69 tCO2eq/t fossil jet fuel</a:t>
            </a:r>
          </a:p>
          <a:p>
            <a:pPr algn="l">
              <a:spcAft>
                <a:spcPts val="800"/>
              </a:spcAft>
              <a:defRPr sz="800" b="0" i="0">
                <a:solidFill>
                  <a:srgbClr val="333333"/>
                </a:solidFill>
                <a:latin typeface="Calibri"/>
              </a:defRPr>
            </a:pPr>
            <a:endParaRPr/>
          </a:p>
          <a:p>
            <a:pPr algn="l">
              <a:spcAft>
                <a:spcPts val="800"/>
              </a:spcAft>
              <a:defRPr sz="1300" b="0" i="1">
                <a:solidFill>
                  <a:srgbClr val="5A5A5A"/>
                </a:solidFill>
                <a:latin typeface="Calibri"/>
              </a:defRPr>
            </a:pPr>
            <a:r>
              <a:t>Note in the figure: “the input of biogenic carbon is 1t. The output of biogenic carbon attributed to the final product is 0.9t since a conversion efficiency of 90% was considered.”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Figure 1 and accompanying text, p.26 and p.29.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V — flexible attribution of process inputs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Annex V (added in v2.8, p.30) extends flexible attribution beyond the biogenic feedstock itself to process inputs and utilities (electricity, steam, oxygen) in a co-processing SAF example.</a:t>
            </a:r>
          </a:p>
          <a:p>
            <a:pPr algn="l">
              <a:spcAft>
                <a:spcPts val="800"/>
              </a:spcAft>
              <a:defRPr sz="800" b="0" i="0">
                <a:solidFill>
                  <a:srgbClr val="333333"/>
                </a:solidFill>
                <a:latin typeface="Calibri"/>
              </a:defRPr>
            </a:pPr>
            <a:endParaRPr/>
          </a:p>
          <a:p>
            <a:pPr algn="l">
              <a:spcAft>
                <a:spcPts val="800"/>
              </a:spcAft>
              <a:defRPr sz="1400" b="1" i="0">
                <a:solidFill>
                  <a:srgbClr val="333333"/>
                </a:solidFill>
                <a:latin typeface="Calibri"/>
              </a:defRPr>
            </a:pPr>
            <a:r>
              <a:t>Worked comparison (p.32):</a:t>
            </a:r>
          </a:p>
          <a:p>
            <a:pPr algn="l">
              <a:spcAft>
                <a:spcPts val="800"/>
              </a:spcAft>
              <a:defRPr sz="1400" b="0" i="0">
                <a:solidFill>
                  <a:srgbClr val="333333"/>
                </a:solidFill>
                <a:latin typeface="Calibri"/>
              </a:defRPr>
            </a:pPr>
            <a:r>
              <a:t>   •  Without flexible attribution of inputs: SAF GHG intensity = 68 g CO2e/MJ</a:t>
            </a:r>
          </a:p>
          <a:p>
            <a:pPr algn="l">
              <a:spcAft>
                <a:spcPts val="800"/>
              </a:spcAft>
              <a:defRPr sz="1400" b="0" i="0">
                <a:solidFill>
                  <a:srgbClr val="333333"/>
                </a:solidFill>
                <a:latin typeface="Calibri"/>
              </a:defRPr>
            </a:pPr>
            <a:r>
              <a:t>   •  With flexible attribution of inputs: SAF GHG intensity = 30.25 g CO2e/MJ</a:t>
            </a:r>
          </a:p>
          <a:p>
            <a:pPr algn="l">
              <a:spcAft>
                <a:spcPts val="800"/>
              </a:spcAft>
              <a:defRPr sz="800" b="0" i="0">
                <a:solidFill>
                  <a:srgbClr val="333333"/>
                </a:solidFill>
                <a:latin typeface="Calibri"/>
              </a:defRPr>
            </a:pPr>
            <a:endParaRPr/>
          </a:p>
          <a:p>
            <a:pPr algn="l">
              <a:spcAft>
                <a:spcPts val="800"/>
              </a:spcAft>
              <a:defRPr sz="1400" b="0" i="0">
                <a:solidFill>
                  <a:srgbClr val="333333"/>
                </a:solidFill>
                <a:latin typeface="Calibri"/>
              </a:defRPr>
            </a:pPr>
            <a:r>
              <a:t>Guardrail (Step 3, p.32): “You may not attribute more of an input than the amount... used in the co-process.” Low-carbon inputs are attributed first, up to their actual available quantity.</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V, pp.30–32.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PLUS — the mass-balance foundation under Free Attribution</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Chemical connectivity (§6.1, pp.17–18) — the precondition for any attribution, Free Attribution included: “Chemical link: the theoretical possibility of chemically converting the certified input(s) to the output(s)” plus “Process feasibility: availability of technical infrastructure.” Where both hold, “process outputs (products) can contain molecules or atoms of the certified input.”</a:t>
            </a:r>
          </a:p>
          <a:p>
            <a:pPr algn="l">
              <a:spcAft>
                <a:spcPts val="800"/>
              </a:spcAft>
              <a:defRPr sz="800" b="0" i="0">
                <a:solidFill>
                  <a:srgbClr val="333333"/>
                </a:solidFill>
                <a:latin typeface="Calibri"/>
              </a:defRPr>
            </a:pPr>
            <a:endParaRPr/>
          </a:p>
          <a:p>
            <a:pPr algn="l">
              <a:spcAft>
                <a:spcPts val="800"/>
              </a:spcAft>
              <a:defRPr sz="1400" b="0" i="1">
                <a:solidFill>
                  <a:srgbClr val="333333"/>
                </a:solidFill>
                <a:latin typeface="Calibri"/>
              </a:defRPr>
            </a:pPr>
            <a:r>
              <a:t>General mass-balance rule (§6.2, p.18): “Under mass balance, the physical mixing of material with different sustainability characteristics and the mixing of certified and non-certified material is allowed, while ensuring that the sustainability characteristics remain assigned to physical batches of material on a bookkeeping basis.”</a:t>
            </a:r>
          </a:p>
          <a:p>
            <a:pPr algn="l">
              <a:spcAft>
                <a:spcPts val="800"/>
              </a:spcAft>
              <a:defRPr sz="800" b="0" i="0">
                <a:solidFill>
                  <a:srgbClr val="333333"/>
                </a:solidFill>
                <a:latin typeface="Calibri"/>
              </a:defRPr>
            </a:pPr>
            <a:endParaRPr/>
          </a:p>
          <a:p>
            <a:pPr algn="l">
              <a:spcAft>
                <a:spcPts val="800"/>
              </a:spcAft>
              <a:defRPr sz="1400" b="0" i="0">
                <a:solidFill>
                  <a:srgbClr val="333333"/>
                </a:solidFill>
                <a:latin typeface="Calibri"/>
              </a:defRPr>
            </a:pPr>
            <a:r>
              <a:t>Four options under the Credit Method (Figure 6, p.26): Free Attribution, Fuel-Use Excluded Attribution, Proportional Attribution, Trace-the-Atom — each usable within the same §6.3 guardrails.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§6.1–6.2, pp.17–18,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2123</Words>
  <Application>Microsoft Macintosh PowerPoint</Application>
  <PresentationFormat>Widescreen</PresentationFormat>
  <Paragraphs>136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3</cp:revision>
  <dcterms:created xsi:type="dcterms:W3CDTF">2013-01-27T09:14:16Z</dcterms:created>
  <dcterms:modified xsi:type="dcterms:W3CDTF">2026-09-14T17:47:01Z</dcterms:modified>
  <cp:category/>
</cp:coreProperties>
</file>