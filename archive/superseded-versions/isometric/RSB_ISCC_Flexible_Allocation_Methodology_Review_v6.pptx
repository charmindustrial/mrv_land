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TextBox 1"/>
          <p:cNvSpPr txBox="1"/>
          <p:nvPr/>
        </p:nvSpPr>
        <p:spPr>
          <a:xfrm>
            <a:off x="731520" y="2377440"/>
            <a:ext cx="10698480" cy="1371600"/>
          </a:xfrm>
          <a:prstGeom prst="rect">
            <a:avLst/>
          </a:prstGeom>
          <a:noFill/>
        </p:spPr>
        <p:txBody>
          <a:bodyPr wrap="square">
            <a:spAutoFit/>
          </a:bodyPr>
          <a:lstStyle/>
          <a:p>
            <a:pPr>
              <a:defRPr sz="3800" b="1">
                <a:solidFill>
                  <a:srgbClr val="FFFFFF"/>
                </a:solidFill>
                <a:latin typeface="Calibri"/>
              </a:defRPr>
            </a:pPr>
            <a:r>
              <a:t>Free Allocation of Sustainability Attributes</a:t>
            </a:r>
          </a:p>
          <a:p>
            <a:pPr>
              <a:defRPr sz="2200">
                <a:solidFill>
                  <a:srgbClr val="D6E4F0"/>
                </a:solidFill>
                <a:latin typeface="Calibri"/>
              </a:defRPr>
            </a:pPr>
            <a:r>
              <a:t>How RSB and ISCC Treat It, and Why</a:t>
            </a:r>
          </a:p>
        </p:txBody>
      </p:sp>
      <p:sp>
        <p:nvSpPr>
          <p:cNvPr id="3" name="Rectangle 2"/>
          <p:cNvSpPr/>
          <p:nvPr/>
        </p:nvSpPr>
        <p:spPr>
          <a:xfrm>
            <a:off x="731520" y="3886200"/>
            <a:ext cx="2011680" cy="3810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1</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Two premier certification systems, one shared design choice</a:t>
            </a:r>
          </a:p>
        </p:txBody>
      </p:sp>
      <p:sp>
        <p:nvSpPr>
          <p:cNvPr id="5" name="TextBox 4"/>
          <p:cNvSpPr txBox="1"/>
          <p:nvPr/>
        </p:nvSpPr>
        <p:spPr>
          <a:xfrm>
            <a:off x="548640" y="1188720"/>
            <a:ext cx="11064240" cy="4937760"/>
          </a:xfrm>
          <a:prstGeom prst="rect">
            <a:avLst/>
          </a:prstGeom>
          <a:noFill/>
        </p:spPr>
        <p:txBody>
          <a:bodyPr wrap="square">
            <a:spAutoFit/>
          </a:bodyPr>
          <a:lstStyle/>
          <a:p>
            <a:pPr algn="l">
              <a:spcAft>
                <a:spcPts val="800"/>
              </a:spcAft>
              <a:defRPr sz="1800" b="1" i="0">
                <a:solidFill>
                  <a:srgbClr val="1B2A41"/>
                </a:solidFill>
                <a:latin typeface="Calibri"/>
              </a:defRPr>
            </a:pPr>
            <a:r>
              <a:t>RSB (Roundtable on Sustainable Biomaterials) and ISCC (International Sustainability &amp; Carbon Certification) are the two leading global certification systems governing sustainability attributes for renewable fuels — the ones that determine whether a biogenic claim on a barrel of fuel is credible.</a:t>
            </a:r>
          </a:p>
          <a:p>
            <a:pPr algn="l">
              <a:spcAft>
                <a:spcPts val="800"/>
              </a:spcAft>
              <a:defRPr sz="1000" b="0" i="0">
                <a:solidFill>
                  <a:srgbClr val="333333"/>
                </a:solidFill>
                <a:latin typeface="Calibri"/>
              </a:defRPr>
            </a:pPr>
          </a:p>
          <a:p>
            <a:pPr algn="l">
              <a:spcAft>
                <a:spcPts val="800"/>
              </a:spcAft>
              <a:defRPr sz="1600" b="0" i="0">
                <a:solidFill>
                  <a:srgbClr val="333333"/>
                </a:solidFill>
                <a:latin typeface="Calibri"/>
              </a:defRPr>
            </a:pPr>
            <a:r>
              <a:t>Both organizations run more than one certification track. This matters because the tracks disagree with each other on a specific question:</a:t>
            </a:r>
          </a:p>
          <a:p>
            <a:pPr algn="l">
              <a:spcAft>
                <a:spcPts val="800"/>
              </a:spcAft>
              <a:defRPr sz="400" b="0" i="0">
                <a:solidFill>
                  <a:srgbClr val="333333"/>
                </a:solidFill>
                <a:latin typeface="Calibri"/>
              </a:defRPr>
            </a:pPr>
          </a:p>
          <a:p>
            <a:pPr algn="l">
              <a:spcAft>
                <a:spcPts val="800"/>
              </a:spcAft>
              <a:defRPr sz="1800" b="1" i="0">
                <a:solidFill>
                  <a:srgbClr val="2E5C6E"/>
                </a:solidFill>
                <a:latin typeface="Calibri"/>
              </a:defRPr>
            </a:pPr>
            <a:r>
              <a:t>Can the biogenic share of a co-processed or blended fuel be assigned freely to one output stream — rather than spread proportionally across every output — as long as the total assigned never exceeds the physical amount actually present?</a:t>
            </a:r>
          </a:p>
          <a:p>
            <a:pPr algn="l">
              <a:spcAft>
                <a:spcPts val="800"/>
              </a:spcAft>
              <a:defRPr sz="1000" b="0" i="0">
                <a:solidFill>
                  <a:srgbClr val="333333"/>
                </a:solidFill>
                <a:latin typeface="Calibri"/>
              </a:defRPr>
            </a:pPr>
          </a:p>
          <a:p>
            <a:pPr algn="l">
              <a:spcAft>
                <a:spcPts val="800"/>
              </a:spcAft>
              <a:defRPr sz="1600" b="0" i="0">
                <a:solidFill>
                  <a:srgbClr val="333333"/>
                </a:solidFill>
                <a:latin typeface="Calibri"/>
              </a:defRPr>
            </a:pPr>
            <a:r>
              <a:t>The answer depends entirely on which track within each body is in play.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2</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The CORSIA track: no free allocation, in either system</a:t>
            </a:r>
          </a:p>
        </p:txBody>
      </p:sp>
      <p:sp>
        <p:nvSpPr>
          <p:cNvPr id="5" name="TextBox 4"/>
          <p:cNvSpPr txBox="1"/>
          <p:nvPr/>
        </p:nvSpPr>
        <p:spPr>
          <a:xfrm>
            <a:off x="548640" y="1097280"/>
            <a:ext cx="11064240" cy="640080"/>
          </a:xfrm>
          <a:prstGeom prst="rect">
            <a:avLst/>
          </a:prstGeom>
          <a:noFill/>
        </p:spPr>
        <p:txBody>
          <a:bodyPr wrap="square">
            <a:spAutoFit/>
          </a:bodyPr>
          <a:lstStyle/>
          <a:p>
            <a:pPr algn="l">
              <a:spcAft>
                <a:spcPts val="800"/>
              </a:spcAft>
              <a:defRPr sz="1500" b="1" i="0">
                <a:solidFill>
                  <a:srgbClr val="1B2A41"/>
                </a:solidFill>
                <a:latin typeface="Calibri"/>
              </a:defRPr>
            </a:pPr>
            <a:r>
              <a:t>Both RSB and ISCC offer a certification option built specifically for ICAO's CORSIA aviation program. Neither allows free allocation there — because CORSIA's own accounting rules don't.</a:t>
            </a:r>
          </a:p>
        </p:txBody>
      </p:sp>
      <p:sp>
        <p:nvSpPr>
          <p:cNvPr id="6" name="Rounded Rectangle 5"/>
          <p:cNvSpPr/>
          <p:nvPr/>
        </p:nvSpPr>
        <p:spPr>
          <a:xfrm>
            <a:off x="548640" y="1920240"/>
            <a:ext cx="5394960" cy="3566160"/>
          </a:xfrm>
          <a:prstGeom prst="roundRect">
            <a:avLst/>
          </a:prstGeom>
          <a:solidFill>
            <a:srgbClr val="D6E4F0"/>
          </a:solidFill>
          <a:ln w="12700">
            <a:solidFill>
              <a:srgbClr val="2E5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263640" y="1920240"/>
            <a:ext cx="5394960" cy="3566160"/>
          </a:xfrm>
          <a:prstGeom prst="roundRect">
            <a:avLst/>
          </a:prstGeom>
          <a:solidFill>
            <a:srgbClr val="D6E4F0"/>
          </a:solidFill>
          <a:ln w="12700">
            <a:solidFill>
              <a:srgbClr val="2E5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03120"/>
            <a:ext cx="4937760" cy="3200400"/>
          </a:xfrm>
          <a:prstGeom prst="rect">
            <a:avLst/>
          </a:prstGeom>
          <a:noFill/>
        </p:spPr>
        <p:txBody>
          <a:bodyPr wrap="square">
            <a:spAutoFit/>
          </a:bodyPr>
          <a:lstStyle/>
          <a:p>
            <a:pPr algn="l">
              <a:spcAft>
                <a:spcPts val="800"/>
              </a:spcAft>
              <a:defRPr sz="1600" b="1" i="0">
                <a:solidFill>
                  <a:srgbClr val="1B2A41"/>
                </a:solidFill>
                <a:latin typeface="Calibri"/>
              </a:defRPr>
            </a:pPr>
            <a:r>
              <a:t>RSB Standard for ICAO CORSIA</a:t>
            </a:r>
          </a:p>
          <a:p>
            <a:pPr algn="l">
              <a:spcAft>
                <a:spcPts val="800"/>
              </a:spcAft>
              <a:defRPr sz="1100" b="0" i="1">
                <a:solidFill>
                  <a:srgbClr val="5A5A5A"/>
                </a:solidFill>
                <a:latin typeface="Calibri"/>
              </a:defRPr>
            </a:pPr>
            <a:r>
              <a:t>RSB-STD-12-001, v1.7, April 2026, §3.4.7.1, p.23</a:t>
            </a:r>
          </a:p>
          <a:p>
            <a:pPr algn="l">
              <a:spcAft>
                <a:spcPts val="800"/>
              </a:spcAft>
              <a:defRPr sz="600" b="0" i="0">
                <a:solidFill>
                  <a:srgbClr val="333333"/>
                </a:solidFill>
                <a:latin typeface="Calibri"/>
              </a:defRPr>
            </a:pPr>
          </a:p>
          <a:p>
            <a:pPr algn="l">
              <a:spcAft>
                <a:spcPts val="800"/>
              </a:spcAft>
              <a:defRPr sz="1300" b="0" i="1">
                <a:solidFill>
                  <a:srgbClr val="333333"/>
                </a:solidFill>
                <a:latin typeface="Calibri"/>
              </a:defRPr>
            </a:pPr>
            <a:r>
              <a:t>“...energy-based allocation shall be used to assign emission burdens to all co-products in proportion to their contribution to the total energy content... of products and co-products.”</a:t>
            </a:r>
          </a:p>
        </p:txBody>
      </p:sp>
      <p:sp>
        <p:nvSpPr>
          <p:cNvPr id="9" name="TextBox 8"/>
          <p:cNvSpPr txBox="1"/>
          <p:nvPr/>
        </p:nvSpPr>
        <p:spPr>
          <a:xfrm>
            <a:off x="6492240" y="2103120"/>
            <a:ext cx="4937760" cy="3200400"/>
          </a:xfrm>
          <a:prstGeom prst="rect">
            <a:avLst/>
          </a:prstGeom>
          <a:noFill/>
        </p:spPr>
        <p:txBody>
          <a:bodyPr wrap="square">
            <a:spAutoFit/>
          </a:bodyPr>
          <a:lstStyle/>
          <a:p>
            <a:pPr algn="l">
              <a:spcAft>
                <a:spcPts val="800"/>
              </a:spcAft>
              <a:defRPr sz="1600" b="1" i="0">
                <a:solidFill>
                  <a:srgbClr val="1B2A41"/>
                </a:solidFill>
                <a:latin typeface="Calibri"/>
              </a:defRPr>
            </a:pPr>
            <a:r>
              <a:t>ISCC CORSIA 203, Traceability and Chain of Custody</a:t>
            </a:r>
          </a:p>
          <a:p>
            <a:pPr algn="l">
              <a:spcAft>
                <a:spcPts val="800"/>
              </a:spcAft>
              <a:defRPr sz="1100" b="0" i="1">
                <a:solidFill>
                  <a:srgbClr val="5A5A5A"/>
                </a:solidFill>
                <a:latin typeface="Calibri"/>
              </a:defRPr>
            </a:pPr>
            <a:r>
              <a:t>Version 2.0, §4.4.4 Co-Processing, p.42</a:t>
            </a:r>
          </a:p>
          <a:p>
            <a:pPr algn="l">
              <a:spcAft>
                <a:spcPts val="800"/>
              </a:spcAft>
              <a:defRPr sz="600" b="0" i="0">
                <a:solidFill>
                  <a:srgbClr val="333333"/>
                </a:solidFill>
                <a:latin typeface="Calibri"/>
              </a:defRPr>
            </a:pPr>
          </a:p>
          <a:p>
            <a:pPr algn="l">
              <a:spcAft>
                <a:spcPts val="800"/>
              </a:spcAft>
              <a:defRPr sz="1300" b="0" i="1">
                <a:solidFill>
                  <a:srgbClr val="333333"/>
                </a:solidFill>
                <a:latin typeface="Calibri"/>
              </a:defRPr>
            </a:pPr>
            <a:r>
              <a:t>“For all three approaches [energetic determination, efficiency/loss determination, or ¹⁴C analysis], free attribution of the sustainable share to outgoing products is not allowed.”</a:t>
            </a:r>
          </a:p>
        </p:txBody>
      </p:sp>
      <p:sp>
        <p:nvSpPr>
          <p:cNvPr id="10" name="TextBox 9"/>
          <p:cNvSpPr txBox="1"/>
          <p:nvPr/>
        </p:nvSpPr>
        <p:spPr>
          <a:xfrm>
            <a:off x="548640" y="5669280"/>
            <a:ext cx="11064240" cy="548640"/>
          </a:xfrm>
          <a:prstGeom prst="rect">
            <a:avLst/>
          </a:prstGeom>
          <a:noFill/>
        </p:spPr>
        <p:txBody>
          <a:bodyPr wrap="square">
            <a:spAutoFit/>
          </a:bodyPr>
          <a:lstStyle/>
          <a:p>
            <a:pPr algn="l">
              <a:spcAft>
                <a:spcPts val="800"/>
              </a:spcAft>
              <a:defRPr sz="1500" b="1" i="0">
                <a:solidFill>
                  <a:srgbClr val="2E5C6E"/>
                </a:solidFill>
                <a:latin typeface="Calibri"/>
              </a:defRPr>
            </a:pPr>
            <a:r>
              <a:t>This is a boundary condition, not the main story. Both bodies also run a separate, voluntary track — and that's where free allocation lives.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E5C6E"/>
        </a:solidFill>
        <a:effectLst/>
      </p:bgPr>
    </p:bg>
    <p:spTree>
      <p:nvGrpSpPr>
        <p:cNvPr id="1" name=""/>
        <p:cNvGrpSpPr/>
        <p:nvPr/>
      </p:nvGrpSpPr>
      <p:grpSpPr/>
      <p:sp>
        <p:nvSpPr>
          <p:cNvPr id="2" name="TextBox 1"/>
          <p:cNvSpPr txBox="1"/>
          <p:nvPr/>
        </p:nvSpPr>
        <p:spPr>
          <a:xfrm>
            <a:off x="731520" y="2377440"/>
            <a:ext cx="10698480" cy="2011680"/>
          </a:xfrm>
          <a:prstGeom prst="rect">
            <a:avLst/>
          </a:prstGeom>
          <a:noFill/>
        </p:spPr>
        <p:txBody>
          <a:bodyPr wrap="square">
            <a:spAutoFit/>
          </a:bodyPr>
          <a:lstStyle/>
          <a:p>
            <a:pPr>
              <a:defRPr sz="3000" b="1">
                <a:solidFill>
                  <a:srgbClr val="D6E4F0"/>
                </a:solidFill>
              </a:defRPr>
            </a:pPr>
            <a:r>
              <a:t>However —</a:t>
            </a:r>
          </a:p>
          <a:p>
            <a:pPr>
              <a:spcBef>
                <a:spcPts val="1000"/>
              </a:spcBef>
              <a:defRPr sz="3000" b="1">
                <a:solidFill>
                  <a:srgbClr val="FFFFFF"/>
                </a:solidFill>
              </a:defRPr>
            </a:pPr>
            <a:r>
              <a:t>both RSB and ISCC also run voluntary certification pathways that explicitly allow free allocation.</a:t>
            </a:r>
          </a:p>
        </p:txBody>
      </p:sp>
      <p:sp>
        <p:nvSpPr>
          <p:cNvPr id="3" name="TextBox 2"/>
          <p:cNvSpPr txBox="1"/>
          <p:nvPr/>
        </p:nvSpPr>
        <p:spPr>
          <a:xfrm>
            <a:off x="731520" y="4663440"/>
            <a:ext cx="10698480" cy="731520"/>
          </a:xfrm>
          <a:prstGeom prst="rect">
            <a:avLst/>
          </a:prstGeom>
          <a:noFill/>
        </p:spPr>
        <p:txBody>
          <a:bodyPr wrap="none">
            <a:spAutoFit/>
          </a:bodyPr>
          <a:lstStyle/>
          <a:p>
            <a:pPr>
              <a:defRPr sz="1800" i="1">
                <a:solidFill>
                  <a:srgbClr val="C0C8D4"/>
                </a:solidFill>
              </a:defRPr>
            </a:pPr>
            <a:r>
              <a:t>RSB Standard for Advanced Fuels  |  ISCC PLUS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3</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How RSB's free allocation works</a:t>
            </a:r>
          </a:p>
        </p:txBody>
      </p:sp>
      <p:sp>
        <p:nvSpPr>
          <p:cNvPr id="5" name="TextBox 4"/>
          <p:cNvSpPr txBox="1"/>
          <p:nvPr/>
        </p:nvSpPr>
        <p:spPr>
          <a:xfrm>
            <a:off x="548640" y="1143000"/>
            <a:ext cx="11064240" cy="5120640"/>
          </a:xfrm>
          <a:prstGeom prst="rect">
            <a:avLst/>
          </a:prstGeom>
          <a:noFill/>
        </p:spPr>
        <p:txBody>
          <a:bodyPr wrap="square">
            <a:spAutoFit/>
          </a:bodyPr>
          <a:lstStyle/>
          <a:p>
            <a:pPr algn="l">
              <a:spcAft>
                <a:spcPts val="800"/>
              </a:spcAft>
              <a:defRPr sz="1300" b="0" i="0">
                <a:solidFill>
                  <a:srgbClr val="333333"/>
                </a:solidFill>
                <a:latin typeface="Calibri"/>
              </a:defRPr>
            </a:pPr>
            <a:r>
              <a:t>RSB Standard for Advanced Fuels (RSB-STD-01-010 v2.8, §2.4.2, p.11) offers flexible attribution as one of three ways to document a biogenic/fossil split — alongside mass balance and the radiocarbon method.</a:t>
            </a:r>
          </a:p>
          <a:p>
            <a:pPr algn="l">
              <a:spcAft>
                <a:spcPts val="800"/>
              </a:spcAft>
              <a:defRPr sz="1200" b="0" i="1">
                <a:solidFill>
                  <a:srgbClr val="333333"/>
                </a:solidFill>
                <a:latin typeface="Calibri"/>
              </a:defRPr>
            </a:pPr>
            <a:r>
              <a:t>Worked example (Annex IV, p.29): “1.1t of jet fuel will be sold with 100% bioattributed claim, while the remaining quantity of products will be sold with 0% bioattributed claim... limited by the amount of biogenic carbon content in the biobased feedstock considering the efficiency in converting the feedstock into output.” The cap (Annex IV, p.26): eligible carbon = feedstock mass × carbon content × conversion efficiency — 10t of biogenic carbon in, at 90% conversion, yields a 9t ceiling.</a:t>
            </a:r>
          </a:p>
          <a:p>
            <a:pPr algn="l">
              <a:spcAft>
                <a:spcPts val="800"/>
              </a:spcAft>
              <a:defRPr sz="500" b="0" i="0">
                <a:solidFill>
                  <a:srgbClr val="333333"/>
                </a:solidFill>
                <a:latin typeface="Calibri"/>
              </a:defRPr>
            </a:pPr>
          </a:p>
          <a:p>
            <a:pPr algn="l">
              <a:spcAft>
                <a:spcPts val="800"/>
              </a:spcAft>
              <a:defRPr sz="1300" b="1" i="0">
                <a:solidFill>
                  <a:srgbClr val="333333"/>
                </a:solidFill>
                <a:latin typeface="Calibri"/>
              </a:defRPr>
            </a:pPr>
            <a:r>
              <a:t>Guardrails (§2.4.5, p.12 — all four are numbered requirements in the standard itself):</a:t>
            </a:r>
          </a:p>
          <a:p>
            <a:pPr algn="l">
              <a:spcAft>
                <a:spcPts val="800"/>
              </a:spcAft>
              <a:defRPr sz="1200" b="0" i="0">
                <a:solidFill>
                  <a:srgbClr val="333333"/>
                </a:solidFill>
                <a:latin typeface="Calibri"/>
              </a:defRPr>
            </a:pPr>
            <a:r>
              <a:t>   •  Documentation: must record “the amount of bio-based or eligible non-biogenic feedstock... used as material,” “the carbon content (%, w/w)... entering the industrial process,” and “the quantification of losses, by mass... for each lost material.”</a:t>
            </a:r>
          </a:p>
          <a:p>
            <a:pPr algn="l">
              <a:spcAft>
                <a:spcPts val="800"/>
              </a:spcAft>
              <a:defRPr sz="1200" b="0" i="0">
                <a:solidFill>
                  <a:srgbClr val="333333"/>
                </a:solidFill>
                <a:latin typeface="Calibri"/>
              </a:defRPr>
            </a:pPr>
            <a:r>
              <a:t>   •  Book-keeping system: “a documented book-keeping system in place to monitor the balance of bio-based or eligible non-biogenic feedstock that have been added to the system and advanced fuel withdrawn from the system.”</a:t>
            </a:r>
          </a:p>
          <a:p>
            <a:pPr algn="l">
              <a:spcAft>
                <a:spcPts val="800"/>
              </a:spcAft>
              <a:defRPr sz="1200" b="0" i="0">
                <a:solidFill>
                  <a:srgbClr val="333333"/>
                </a:solidFill>
                <a:latin typeface="Calibri"/>
              </a:defRPr>
            </a:pPr>
            <a:r>
              <a:t>   •  Balance period: claims “balanced within a 3-month period” — a deficit may occur mid-period, but “a non-negative balance is achieved over the 3-months-period.”</a:t>
            </a:r>
          </a:p>
          <a:p>
            <a:pPr algn="l">
              <a:spcAft>
                <a:spcPts val="800"/>
              </a:spcAft>
              <a:defRPr sz="1200" b="0" i="0">
                <a:solidFill>
                  <a:srgbClr val="333333"/>
                </a:solidFill>
                <a:latin typeface="Calibri"/>
              </a:defRPr>
            </a:pPr>
            <a:r>
              <a:t>   •  Site boundary: one site, connected sites on the same pipeline/transport network, or separate sites only “if the operator can ensure and demonstrate... that double-booking does not occur.”</a:t>
            </a:r>
          </a:p>
          <a:p>
            <a:pPr algn="l">
              <a:spcAft>
                <a:spcPts val="800"/>
              </a:spcAft>
              <a:defRPr sz="1200" b="0" i="0">
                <a:solidFill>
                  <a:srgbClr val="333333"/>
                </a:solidFill>
                <a:latin typeface="Calibri"/>
              </a:defRPr>
            </a:pPr>
            <a:r>
              <a:t>   •  Emissions unaffected (Annex IV, Note 7, p.28): “Allocation of the GHG emissions among the outputs shall be performed on an energy basis” regardless of the claim.</a:t>
            </a:r>
          </a:p>
          <a:p>
            <a:pPr algn="l">
              <a:spcAft>
                <a:spcPts val="800"/>
              </a:spcAft>
              <a:defRPr sz="1200" b="0" i="0">
                <a:solidFill>
                  <a:srgbClr val="333333"/>
                </a:solidFill>
                <a:latin typeface="Calibri"/>
              </a:defRPr>
            </a:pPr>
            <a:r>
              <a:t>   •  Claim-label restriction (§2.5.4, p.12): output cannot claim “physical sustainable content” — an alternate label like “RSB-Compliant Advanced Fuel” is required instead.</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RSB-STD-01-010 v2.8, §2.4.2, §2.4.5, §2.5.4, Annex IV, pp.11, 12, 26, 28, 29.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4</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How ISCC's free allocation works</a:t>
            </a:r>
          </a:p>
        </p:txBody>
      </p:sp>
      <p:sp>
        <p:nvSpPr>
          <p:cNvPr id="5" name="TextBox 4"/>
          <p:cNvSpPr txBox="1"/>
          <p:nvPr/>
        </p:nvSpPr>
        <p:spPr>
          <a:xfrm>
            <a:off x="548640" y="1143000"/>
            <a:ext cx="11064240" cy="5120640"/>
          </a:xfrm>
          <a:prstGeom prst="rect">
            <a:avLst/>
          </a:prstGeom>
          <a:noFill/>
        </p:spPr>
        <p:txBody>
          <a:bodyPr wrap="square">
            <a:spAutoFit/>
          </a:bodyPr>
          <a:lstStyle/>
          <a:p>
            <a:pPr algn="l">
              <a:spcAft>
                <a:spcPts val="800"/>
              </a:spcAft>
              <a:defRPr sz="1400" b="0" i="0">
                <a:solidFill>
                  <a:srgbClr val="333333"/>
                </a:solidFill>
                <a:latin typeface="Calibri"/>
              </a:defRPr>
            </a:pPr>
            <a:r>
              <a:t>ISCC PLUS 203-2, Chain of Custody v1.1 (valid 13 Nov 2025), §6.4.2, p.26, lists four mass-balancing options under its Credit Method — Free Attribution, Fuel-Use Excluded, Proportional, and Trace-the-Atom — and defines the first:</a:t>
            </a:r>
          </a:p>
          <a:p>
            <a:pPr algn="l">
              <a:spcAft>
                <a:spcPts val="800"/>
              </a:spcAft>
              <a:defRPr sz="1300" b="0" i="1">
                <a:solidFill>
                  <a:srgbClr val="333333"/>
                </a:solidFill>
                <a:latin typeface="Calibri"/>
              </a:defRPr>
            </a:pPr>
            <a:r>
              <a:t>“Under Free Attribution Approach, the system user can attribute the sustainability characteristics from the certified input materials to the products... This attribution can be done irrelevant of the proportion of the certified input material to the other inputs... System users can freely attribute the sustainability characteristics from the certified input(s) to one (or multiple) products.”</a:t>
            </a:r>
          </a:p>
          <a:p>
            <a:pPr algn="l">
              <a:spcAft>
                <a:spcPts val="800"/>
              </a:spcAft>
              <a:defRPr sz="500" b="0" i="0">
                <a:solidFill>
                  <a:srgbClr val="333333"/>
                </a:solidFill>
                <a:latin typeface="Calibri"/>
              </a:defRPr>
            </a:pPr>
          </a:p>
          <a:p>
            <a:pPr algn="l">
              <a:spcAft>
                <a:spcPts val="800"/>
              </a:spcAft>
              <a:defRPr sz="1300" b="1" i="0">
                <a:solidFill>
                  <a:srgbClr val="333333"/>
                </a:solidFill>
                <a:latin typeface="Calibri"/>
              </a:defRPr>
            </a:pPr>
            <a:r>
              <a:t>Guardrails (§6.3, p.21 — apply to every mass-balancing option, Free Attribution included):</a:t>
            </a:r>
          </a:p>
          <a:p>
            <a:pPr algn="l">
              <a:spcAft>
                <a:spcPts val="800"/>
              </a:spcAft>
              <a:defRPr sz="1200" b="0" i="0">
                <a:solidFill>
                  <a:srgbClr val="333333"/>
                </a:solidFill>
                <a:latin typeface="Calibri"/>
              </a:defRPr>
            </a:pPr>
            <a:r>
              <a:t>   •  Physical output: “The amount of attributable credits cannot be higher than the physical output... It is not possible to attribute to a quantity of output which is not produced at the site.”</a:t>
            </a:r>
          </a:p>
          <a:p>
            <a:pPr algn="l">
              <a:spcAft>
                <a:spcPts val="800"/>
              </a:spcAft>
              <a:defRPr sz="1200" b="0" i="0">
                <a:solidFill>
                  <a:srgbClr val="333333"/>
                </a:solidFill>
                <a:latin typeface="Calibri"/>
              </a:defRPr>
            </a:pPr>
            <a:r>
              <a:t>   •  Chemical connectivity (§6.1, pp.17–18): the standard requires “the theoretical possibility of chemically converting the certified input(s) to the output(s)” plus real production infrastructure — so outputs must plausibly contain the certified input's molecules, not just carry a bookkeeping label.</a:t>
            </a:r>
          </a:p>
          <a:p>
            <a:pPr algn="l">
              <a:spcAft>
                <a:spcPts val="800"/>
              </a:spcAft>
              <a:defRPr sz="1200" b="0" i="0">
                <a:solidFill>
                  <a:srgbClr val="333333"/>
                </a:solidFill>
                <a:latin typeface="Calibri"/>
              </a:defRPr>
            </a:pPr>
            <a:r>
              <a:t>   •  Operational data: every input, output, loss, and conversion factor behind the claim “shall be collected and documented” and valid for the audit period — not asserted after the fact.</a:t>
            </a:r>
          </a:p>
          <a:p>
            <a:pPr algn="l">
              <a:spcAft>
                <a:spcPts val="800"/>
              </a:spcAft>
              <a:defRPr sz="1200" b="0" i="0">
                <a:solidFill>
                  <a:srgbClr val="333333"/>
                </a:solidFill>
                <a:latin typeface="Calibri"/>
              </a:defRPr>
            </a:pPr>
            <a:r>
              <a:t>   •  Site-specific: mass balance runs per physical site — “company level mass balance is not possible.”</a:t>
            </a:r>
          </a:p>
          <a:p>
            <a:pPr algn="l">
              <a:spcAft>
                <a:spcPts val="800"/>
              </a:spcAft>
              <a:defRPr sz="1200" b="0" i="0">
                <a:solidFill>
                  <a:srgbClr val="333333"/>
                </a:solidFill>
                <a:latin typeface="Calibri"/>
              </a:defRPr>
            </a:pPr>
            <a:r>
              <a:t>   •  Disclosure (§6.4.2, p.27): where an output's certified share is “compensated” beyond the proportion of certified input actually used, the outgoing Sustainability Declaration must say so.</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ISCC PLUS 203-2 Chain of Custody v1.1, §6.1, §6.3, §6.4.2, pp.17–18, 21, 26–27.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5</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Why two independent standard-setters built the same tool</a:t>
            </a:r>
          </a:p>
        </p:txBody>
      </p:sp>
      <p:sp>
        <p:nvSpPr>
          <p:cNvPr id="5" name="TextBox 4"/>
          <p:cNvSpPr txBox="1"/>
          <p:nvPr/>
        </p:nvSpPr>
        <p:spPr>
          <a:xfrm>
            <a:off x="548640" y="1234440"/>
            <a:ext cx="11064240" cy="5029200"/>
          </a:xfrm>
          <a:prstGeom prst="rect">
            <a:avLst/>
          </a:prstGeom>
          <a:noFill/>
        </p:spPr>
        <p:txBody>
          <a:bodyPr wrap="square">
            <a:spAutoFit/>
          </a:bodyPr>
          <a:lstStyle/>
          <a:p>
            <a:pPr algn="l">
              <a:spcAft>
                <a:spcPts val="800"/>
              </a:spcAft>
              <a:defRPr sz="1700" b="0" i="0">
                <a:solidFill>
                  <a:srgbClr val="333333"/>
                </a:solidFill>
                <a:latin typeface="Calibri"/>
              </a:defRPr>
            </a:pPr>
            <a:r>
              <a:t>•  ¹⁴C testing measures real biogenic content — but breaks down at typical co-processing blend rates (bio-oil ≤5%). ISCC's own fix treats results under 0.5 pMC as zero (p.14).</a:t>
            </a:r>
          </a:p>
          <a:p>
            <a:pPr algn="l">
              <a:spcAft>
                <a:spcPts val="800"/>
              </a:spcAft>
              <a:defRPr sz="800" b="0" i="0">
                <a:solidFill>
                  <a:srgbClr val="333333"/>
                </a:solidFill>
                <a:latin typeface="Calibri"/>
              </a:defRPr>
            </a:pPr>
          </a:p>
          <a:p>
            <a:pPr algn="l">
              <a:spcAft>
                <a:spcPts val="800"/>
              </a:spcAft>
              <a:defRPr sz="1700" b="0" i="0">
                <a:solidFill>
                  <a:srgbClr val="333333"/>
                </a:solidFill>
                <a:latin typeface="Calibri"/>
              </a:defRPr>
            </a:pPr>
            <a:r>
              <a:t>•  Markets price scarcity. Spreading a fixed biogenic quantity proportionally dilutes it below the threshold that matters anywhere — including the stream where decarbonization demand actually is (SAF).</a:t>
            </a:r>
          </a:p>
          <a:p>
            <a:pPr algn="l">
              <a:spcAft>
                <a:spcPts val="800"/>
              </a:spcAft>
              <a:defRPr sz="800" b="0" i="0">
                <a:solidFill>
                  <a:srgbClr val="333333"/>
                </a:solidFill>
                <a:latin typeface="Calibri"/>
              </a:defRPr>
            </a:pPr>
          </a:p>
          <a:p>
            <a:pPr algn="l">
              <a:spcAft>
                <a:spcPts val="800"/>
              </a:spcAft>
              <a:defRPr sz="1700" b="0" i="0">
                <a:solidFill>
                  <a:srgbClr val="333333"/>
                </a:solidFill>
                <a:latin typeface="Calibri"/>
              </a:defRPr>
            </a:pPr>
            <a:r>
              <a:t>•  Free allocation concentrates that same, capped quantity into the highest-value stream. Total fossil carbon displaced doesn't change.</a:t>
            </a:r>
          </a:p>
          <a:p>
            <a:pPr algn="l">
              <a:spcAft>
                <a:spcPts val="800"/>
              </a:spcAft>
              <a:defRPr sz="800" b="0" i="0">
                <a:solidFill>
                  <a:srgbClr val="333333"/>
                </a:solidFill>
                <a:latin typeface="Calibri"/>
              </a:defRPr>
            </a:pPr>
          </a:p>
          <a:p>
            <a:pPr algn="l">
              <a:spcAft>
                <a:spcPts val="800"/>
              </a:spcAft>
              <a:defRPr sz="1700" b="0" i="0">
                <a:solidFill>
                  <a:srgbClr val="333333"/>
                </a:solidFill>
                <a:latin typeface="Calibri"/>
              </a:defRPr>
            </a:pPr>
            <a:r>
              <a:t>•  This is book-and-claim — the same mechanism as RECs. Legitimacy comes from the guardrails (physical cap + disclosure), not molecule-level tracing.</a:t>
            </a:r>
          </a:p>
          <a:p>
            <a:pPr algn="l">
              <a:spcAft>
                <a:spcPts val="800"/>
              </a:spcAft>
              <a:defRPr sz="800" b="0" i="0">
                <a:solidFill>
                  <a:srgbClr val="333333"/>
                </a:solidFill>
                <a:latin typeface="Calibri"/>
              </a:defRPr>
            </a:pPr>
          </a:p>
          <a:p>
            <a:pPr algn="l">
              <a:spcAft>
                <a:spcPts val="800"/>
              </a:spcAft>
              <a:defRPr sz="1700" b="1" i="0">
                <a:solidFill>
                  <a:srgbClr val="1B2A41"/>
                </a:solidFill>
                <a:latin typeface="Calibri"/>
              </a:defRPr>
            </a:pPr>
            <a:r>
              <a:t>•  A market mechanism has to be responsive to a market, within conservative, verifiable limits. That's what free allocation is built to do.</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RSB-STD-01-010 v2.8 Annex IV; ISCC PLUS 203-2 v1.1 §6.3; ISCC Questions and Answers on Co-Processing v1.0, p.14.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6</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Guardrails, side by side</a:t>
            </a:r>
          </a:p>
        </p:txBody>
      </p:sp>
      <p:graphicFrame>
        <p:nvGraphicFramePr>
          <p:cNvPr id="5" name="Table 4"/>
          <p:cNvGraphicFramePr>
            <a:graphicFrameLocks noGrp="1"/>
          </p:cNvGraphicFramePr>
          <p:nvPr/>
        </p:nvGraphicFramePr>
        <p:xfrm>
          <a:off x="457200" y="1188720"/>
          <a:ext cx="11247120" cy="4892040"/>
        </p:xfrm>
        <a:graphic>
          <a:graphicData uri="http://schemas.openxmlformats.org/drawingml/2006/table">
            <a:tbl>
              <a:tblPr firstRow="1" bandRow="1">
                <a:tableStyleId>{5C22544A-7EE6-4342-B048-85BDC9FD1C3A}</a:tableStyleId>
              </a:tblPr>
              <a:tblGrid>
                <a:gridCol w="2286000"/>
                <a:gridCol w="4480560"/>
                <a:gridCol w="4480560"/>
              </a:tblGrid>
              <a:tr h="815340">
                <a:tc>
                  <a:txBody>
                    <a:bodyPr/>
                    <a:lstStyle/>
                    <a:p>
                      <a:pPr>
                        <a:defRPr sz="1300" b="1">
                          <a:solidFill>
                            <a:srgbClr val="FFFFFF"/>
                          </a:solidFill>
                          <a:latin typeface="Calibri"/>
                        </a:defRPr>
                      </a:pPr>
                      <a:r>
                        <a:t>Guardrail</a:t>
                      </a:r>
                    </a:p>
                  </a:txBody>
                  <a:tcPr anchor="t" marL="73152" marR="73152" marT="45720" marB="45720">
                    <a:solidFill>
                      <a:srgbClr val="1B2A41"/>
                    </a:solidFill>
                  </a:tcPr>
                </a:tc>
                <a:tc>
                  <a:txBody>
                    <a:bodyPr/>
                    <a:lstStyle/>
                    <a:p>
                      <a:pPr>
                        <a:defRPr sz="1300" b="1">
                          <a:solidFill>
                            <a:srgbClr val="FFFFFF"/>
                          </a:solidFill>
                          <a:latin typeface="Calibri"/>
                        </a:defRPr>
                      </a:pPr>
                      <a:r>
                        <a:t>RSB Advanced Fuels</a:t>
                      </a:r>
                    </a:p>
                  </a:txBody>
                  <a:tcPr anchor="t" marL="73152" marR="73152" marT="45720" marB="45720">
                    <a:solidFill>
                      <a:srgbClr val="1B2A41"/>
                    </a:solidFill>
                  </a:tcPr>
                </a:tc>
                <a:tc>
                  <a:txBody>
                    <a:bodyPr/>
                    <a:lstStyle/>
                    <a:p>
                      <a:pPr>
                        <a:defRPr sz="1300" b="1">
                          <a:solidFill>
                            <a:srgbClr val="FFFFFF"/>
                          </a:solidFill>
                          <a:latin typeface="Calibri"/>
                        </a:defRPr>
                      </a:pPr>
                      <a:r>
                        <a:t>ISCC PLUS</a:t>
                      </a:r>
                    </a:p>
                  </a:txBody>
                  <a:tcPr anchor="t" marL="73152" marR="73152" marT="45720" marB="45720">
                    <a:solidFill>
                      <a:srgbClr val="1B2A41"/>
                    </a:solidFill>
                  </a:tcPr>
                </a:tc>
              </a:tr>
              <a:tr h="815340">
                <a:tc>
                  <a:txBody>
                    <a:bodyPr/>
                    <a:lstStyle/>
                    <a:p>
                      <a:pPr>
                        <a:defRPr sz="1150" b="0">
                          <a:solidFill>
                            <a:srgbClr val="333333"/>
                          </a:solidFill>
                          <a:latin typeface="Calibri"/>
                        </a:defRPr>
                      </a:pPr>
                      <a:r>
                        <a:t>Physical cap on the claim</a:t>
                      </a:r>
                    </a:p>
                  </a:txBody>
                  <a:tcPr anchor="t" marL="73152" marR="73152" marT="45720" marB="45720">
                    <a:solidFill>
                      <a:srgbClr val="D6E4F0"/>
                    </a:solidFill>
                  </a:tcPr>
                </a:tc>
                <a:tc>
                  <a:txBody>
                    <a:bodyPr/>
                    <a:lstStyle/>
                    <a:p>
                      <a:pPr>
                        <a:defRPr sz="1150" b="0">
                          <a:solidFill>
                            <a:srgbClr val="333333"/>
                          </a:solidFill>
                          <a:latin typeface="Calibri"/>
                        </a:defRPr>
                      </a:pPr>
                      <a:r>
                        <a:t>Capped by feedstock carbon content × conversion efficiency (Annex IV, p.26)</a:t>
                      </a:r>
                    </a:p>
                  </a:txBody>
                  <a:tcPr anchor="t" marL="73152" marR="73152" marT="45720" marB="45720">
                    <a:solidFill>
                      <a:srgbClr val="D6E4F0"/>
                    </a:solidFill>
                  </a:tcPr>
                </a:tc>
                <a:tc>
                  <a:txBody>
                    <a:bodyPr/>
                    <a:lstStyle/>
                    <a:p>
                      <a:pPr>
                        <a:defRPr sz="1150" b="0">
                          <a:solidFill>
                            <a:srgbClr val="333333"/>
                          </a:solidFill>
                          <a:latin typeface="Calibri"/>
                        </a:defRPr>
                      </a:pPr>
                      <a:r>
                        <a:t>“Attributable credits cannot be higher than the physical output” (§6.3, p.21)</a:t>
                      </a:r>
                    </a:p>
                  </a:txBody>
                  <a:tcPr anchor="t" marL="73152" marR="73152" marT="45720" marB="45720">
                    <a:solidFill>
                      <a:srgbClr val="D6E4F0"/>
                    </a:solidFill>
                  </a:tcPr>
                </a:tc>
              </a:tr>
              <a:tr h="815340">
                <a:tc>
                  <a:txBody>
                    <a:bodyPr/>
                    <a:lstStyle/>
                    <a:p>
                      <a:pPr>
                        <a:defRPr sz="1150" b="0">
                          <a:solidFill>
                            <a:srgbClr val="333333"/>
                          </a:solidFill>
                          <a:latin typeface="Calibri"/>
                        </a:defRPr>
                      </a:pPr>
                      <a:r>
                        <a:t>Emissions accounting</a:t>
                      </a:r>
                    </a:p>
                  </a:txBody>
                  <a:tcPr anchor="t" marL="73152" marR="73152" marT="45720" marB="45720">
                    <a:solidFill>
                      <a:srgbClr val="FFFFFF"/>
                    </a:solidFill>
                  </a:tcPr>
                </a:tc>
                <a:tc>
                  <a:txBody>
                    <a:bodyPr/>
                    <a:lstStyle/>
                    <a:p>
                      <a:pPr>
                        <a:defRPr sz="1150" b="0">
                          <a:solidFill>
                            <a:srgbClr val="333333"/>
                          </a:solidFill>
                          <a:latin typeface="Calibri"/>
                        </a:defRPr>
                      </a:pPr>
                      <a:r>
                        <a:t>Unaffected by the claim — still allocated energy-basis (Annex IV, Note 7, p.28)</a:t>
                      </a:r>
                    </a:p>
                  </a:txBody>
                  <a:tcPr anchor="t" marL="73152" marR="73152" marT="45720" marB="45720">
                    <a:solidFill>
                      <a:srgbClr val="FFFFFF"/>
                    </a:solidFill>
                  </a:tcPr>
                </a:tc>
                <a:tc>
                  <a:txBody>
                    <a:bodyPr/>
                    <a:lstStyle/>
                    <a:p>
                      <a:pPr>
                        <a:defRPr sz="1150" b="0">
                          <a:solidFill>
                            <a:srgbClr val="333333"/>
                          </a:solidFill>
                          <a:latin typeface="Calibri"/>
                        </a:defRPr>
                      </a:pPr>
                      <a:r>
                        <a:t>Governed separately, as a voluntary add-on distinct from this Chain of Custody chapter (201 §2.4, p.24)</a:t>
                      </a:r>
                    </a:p>
                  </a:txBody>
                  <a:tcPr anchor="t" marL="73152" marR="73152" marT="45720" marB="45720">
                    <a:solidFill>
                      <a:srgbClr val="FFFFFF"/>
                    </a:solidFill>
                  </a:tcPr>
                </a:tc>
              </a:tr>
              <a:tr h="815340">
                <a:tc>
                  <a:txBody>
                    <a:bodyPr/>
                    <a:lstStyle/>
                    <a:p>
                      <a:pPr>
                        <a:defRPr sz="1150" b="0">
                          <a:solidFill>
                            <a:srgbClr val="333333"/>
                          </a:solidFill>
                          <a:latin typeface="Calibri"/>
                        </a:defRPr>
                      </a:pPr>
                      <a:r>
                        <a:t>Disclosure requirement</a:t>
                      </a:r>
                    </a:p>
                  </a:txBody>
                  <a:tcPr anchor="t" marL="73152" marR="73152" marT="45720" marB="45720">
                    <a:solidFill>
                      <a:srgbClr val="D6E4F0"/>
                    </a:solidFill>
                  </a:tcPr>
                </a:tc>
                <a:tc>
                  <a:txBody>
                    <a:bodyPr/>
                    <a:lstStyle/>
                    <a:p>
                      <a:pPr>
                        <a:defRPr sz="1150" b="0">
                          <a:solidFill>
                            <a:srgbClr val="333333"/>
                          </a:solidFill>
                          <a:latin typeface="Calibri"/>
                        </a:defRPr>
                      </a:pPr>
                      <a:r>
                        <a:t>Alternate claim label required — no “physical sustainable content” claim (§2.5.4, p.12)</a:t>
                      </a:r>
                    </a:p>
                  </a:txBody>
                  <a:tcPr anchor="t" marL="73152" marR="73152" marT="45720" marB="45720">
                    <a:solidFill>
                      <a:srgbClr val="D6E4F0"/>
                    </a:solidFill>
                  </a:tcPr>
                </a:tc>
                <a:tc>
                  <a:txBody>
                    <a:bodyPr/>
                    <a:lstStyle/>
                    <a:p>
                      <a:pPr>
                        <a:defRPr sz="1150" b="0">
                          <a:solidFill>
                            <a:srgbClr val="333333"/>
                          </a:solidFill>
                          <a:latin typeface="Calibri"/>
                        </a:defRPr>
                      </a:pPr>
                      <a:r>
                        <a:t>Outgoing Sustainability Declaration must flag compensation beyond proportion (§6.4.2, p.27)</a:t>
                      </a:r>
                    </a:p>
                  </a:txBody>
                  <a:tcPr anchor="t" marL="73152" marR="73152" marT="45720" marB="45720">
                    <a:solidFill>
                      <a:srgbClr val="D6E4F0"/>
                    </a:solidFill>
                  </a:tcPr>
                </a:tc>
              </a:tr>
              <a:tr h="815340">
                <a:tc>
                  <a:txBody>
                    <a:bodyPr/>
                    <a:lstStyle/>
                    <a:p>
                      <a:pPr>
                        <a:defRPr sz="1150" b="0">
                          <a:solidFill>
                            <a:srgbClr val="333333"/>
                          </a:solidFill>
                          <a:latin typeface="Calibri"/>
                        </a:defRPr>
                      </a:pPr>
                      <a:r>
                        <a:t>Balance / bookkeeping</a:t>
                      </a:r>
                    </a:p>
                  </a:txBody>
                  <a:tcPr anchor="t" marL="73152" marR="73152" marT="45720" marB="45720">
                    <a:solidFill>
                      <a:srgbClr val="FFFFFF"/>
                    </a:solidFill>
                  </a:tcPr>
                </a:tc>
                <a:tc>
                  <a:txBody>
                    <a:bodyPr/>
                    <a:lstStyle/>
                    <a:p>
                      <a:pPr>
                        <a:defRPr sz="1150" b="0">
                          <a:solidFill>
                            <a:srgbClr val="333333"/>
                          </a:solidFill>
                          <a:latin typeface="Calibri"/>
                        </a:defRPr>
                      </a:pPr>
                      <a:r>
                        <a:t>Non-negative balance every 3 months, documented (§2.4.5, p.12)</a:t>
                      </a:r>
                    </a:p>
                  </a:txBody>
                  <a:tcPr anchor="t" marL="73152" marR="73152" marT="45720" marB="45720">
                    <a:solidFill>
                      <a:srgbClr val="FFFFFF"/>
                    </a:solidFill>
                  </a:tcPr>
                </a:tc>
                <a:tc>
                  <a:txBody>
                    <a:bodyPr/>
                    <a:lstStyle/>
                    <a:p>
                      <a:pPr>
                        <a:defRPr sz="1150" b="0">
                          <a:solidFill>
                            <a:srgbClr val="333333"/>
                          </a:solidFill>
                          <a:latin typeface="Calibri"/>
                        </a:defRPr>
                      </a:pPr>
                      <a:r>
                        <a:t>Site-specific mass balance, documented operational data (§6.3, p.21)</a:t>
                      </a:r>
                    </a:p>
                  </a:txBody>
                  <a:tcPr anchor="t" marL="73152" marR="73152" marT="45720" marB="45720">
                    <a:solidFill>
                      <a:srgbClr val="FFFFFF"/>
                    </a:solidFill>
                  </a:tcPr>
                </a:tc>
              </a:tr>
              <a:tr h="815340">
                <a:tc>
                  <a:txBody>
                    <a:bodyPr/>
                    <a:lstStyle/>
                    <a:p>
                      <a:pPr>
                        <a:defRPr sz="1150" b="0">
                          <a:solidFill>
                            <a:srgbClr val="333333"/>
                          </a:solidFill>
                          <a:latin typeface="Calibri"/>
                        </a:defRPr>
                      </a:pPr>
                      <a:r>
                        <a:t>Status</a:t>
                      </a:r>
                    </a:p>
                  </a:txBody>
                  <a:tcPr anchor="t" marL="73152" marR="73152" marT="45720" marB="45720">
                    <a:solidFill>
                      <a:srgbClr val="D6E4F0"/>
                    </a:solidFill>
                  </a:tcPr>
                </a:tc>
                <a:tc>
                  <a:txBody>
                    <a:bodyPr/>
                    <a:lstStyle/>
                    <a:p>
                      <a:pPr>
                        <a:defRPr sz="1150" b="0">
                          <a:solidFill>
                            <a:srgbClr val="333333"/>
                          </a:solidFill>
                          <a:latin typeface="Calibri"/>
                        </a:defRPr>
                      </a:pPr>
                      <a:r>
                        <a:t>Published, in-force methodology with a numeric worked example (Annex IV)</a:t>
                      </a:r>
                    </a:p>
                  </a:txBody>
                  <a:tcPr anchor="t" marL="73152" marR="73152" marT="45720" marB="45720">
                    <a:solidFill>
                      <a:srgbClr val="D6E4F0"/>
                    </a:solidFill>
                  </a:tcPr>
                </a:tc>
                <a:tc>
                  <a:txBody>
                    <a:bodyPr/>
                    <a:lstStyle/>
                    <a:p>
                      <a:pPr>
                        <a:defRPr sz="1150" b="0">
                          <a:solidFill>
                            <a:srgbClr val="333333"/>
                          </a:solidFill>
                          <a:latin typeface="Calibri"/>
                        </a:defRPr>
                      </a:pPr>
                      <a:r>
                        <a:t>Published, in-force methodology (203-2 v1.1, valid 13 Nov 2025)</a:t>
                      </a:r>
                    </a:p>
                  </a:txBody>
                  <a:tcPr anchor="t" marL="73152" marR="73152" marT="45720" marB="45720">
                    <a:solidFill>
                      <a:srgbClr val="D6E4F0"/>
                    </a:solidFill>
                  </a:tcPr>
                </a:tc>
              </a:tr>
            </a:tbl>
          </a:graphicData>
        </a:graphic>
      </p:graphicFrame>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See slides 5–6 for full quotes and the citation appendix for the complete source list.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7</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The answer, in one table</a:t>
            </a:r>
          </a:p>
        </p:txBody>
      </p:sp>
      <p:graphicFrame>
        <p:nvGraphicFramePr>
          <p:cNvPr id="5" name="Table 4"/>
          <p:cNvGraphicFramePr>
            <a:graphicFrameLocks noGrp="1"/>
          </p:cNvGraphicFramePr>
          <p:nvPr/>
        </p:nvGraphicFramePr>
        <p:xfrm>
          <a:off x="822960" y="1371600"/>
          <a:ext cx="10515600" cy="3657600"/>
        </p:xfrm>
        <a:graphic>
          <a:graphicData uri="http://schemas.openxmlformats.org/drawingml/2006/table">
            <a:tbl>
              <a:tblPr firstRow="1" bandRow="1">
                <a:tableStyleId>{5C22544A-7EE6-4342-B048-85BDC9FD1C3A}</a:tableStyleId>
              </a:tblPr>
              <a:tblGrid>
                <a:gridCol w="2103120"/>
                <a:gridCol w="4206240"/>
                <a:gridCol w="4206240"/>
              </a:tblGrid>
              <a:tr h="914400">
                <a:tc>
                  <a:txBody>
                    <a:bodyPr/>
                    <a:lstStyle/>
                    <a:p>
                      <a:pPr>
                        <a:defRPr sz="1350" b="1">
                          <a:solidFill>
                            <a:srgbClr val="FFFFFF"/>
                          </a:solidFill>
                          <a:latin typeface="Calibri"/>
                        </a:defRPr>
                      </a:pPr>
                    </a:p>
                  </a:txBody>
                  <a:tcPr marL="73152" marR="73152">
                    <a:solidFill>
                      <a:srgbClr val="1B2A41"/>
                    </a:solidFill>
                  </a:tcPr>
                </a:tc>
                <a:tc>
                  <a:txBody>
                    <a:bodyPr/>
                    <a:lstStyle/>
                    <a:p>
                      <a:pPr>
                        <a:defRPr sz="1350" b="1">
                          <a:solidFill>
                            <a:srgbClr val="FFFFFF"/>
                          </a:solidFill>
                          <a:latin typeface="Calibri"/>
                        </a:defRPr>
                      </a:pPr>
                      <a:r>
                        <a:t>RSB</a:t>
                      </a:r>
                    </a:p>
                  </a:txBody>
                  <a:tcPr marL="73152" marR="73152">
                    <a:solidFill>
                      <a:srgbClr val="1B2A41"/>
                    </a:solidFill>
                  </a:tcPr>
                </a:tc>
                <a:tc>
                  <a:txBody>
                    <a:bodyPr/>
                    <a:lstStyle/>
                    <a:p>
                      <a:pPr>
                        <a:defRPr sz="1350" b="1">
                          <a:solidFill>
                            <a:srgbClr val="FFFFFF"/>
                          </a:solidFill>
                          <a:latin typeface="Calibri"/>
                        </a:defRPr>
                      </a:pPr>
                      <a:r>
                        <a:t>ISCC</a:t>
                      </a:r>
                    </a:p>
                  </a:txBody>
                  <a:tcPr marL="73152" marR="73152">
                    <a:solidFill>
                      <a:srgbClr val="1B2A41"/>
                    </a:solidFill>
                  </a:tcPr>
                </a:tc>
              </a:tr>
              <a:tr h="914400">
                <a:tc>
                  <a:txBody>
                    <a:bodyPr/>
                    <a:lstStyle/>
                    <a:p>
                      <a:pPr>
                        <a:defRPr sz="1350" b="1">
                          <a:solidFill>
                            <a:srgbClr val="333333"/>
                          </a:solidFill>
                          <a:latin typeface="Calibri"/>
                        </a:defRPr>
                      </a:pPr>
                      <a:r>
                        <a:t>CORSIA track</a:t>
                      </a:r>
                    </a:p>
                  </a:txBody>
                  <a:tcPr marL="73152" marR="73152">
                    <a:solidFill>
                      <a:srgbClr val="D6E4F0"/>
                    </a:solidFill>
                  </a:tcPr>
                </a:tc>
                <a:tc>
                  <a:txBody>
                    <a:bodyPr/>
                    <a:lstStyle/>
                    <a:p>
                      <a:pPr>
                        <a:defRPr sz="1350" b="0">
                          <a:solidFill>
                            <a:srgbClr val="333333"/>
                          </a:solidFill>
                          <a:latin typeface="Calibri"/>
                        </a:defRPr>
                      </a:pPr>
                      <a:r>
                        <a:t>No free allocation (RSB-STD-12-001 v1.7, §3.4.7.1, p.23)</a:t>
                      </a:r>
                    </a:p>
                  </a:txBody>
                  <a:tcPr marL="73152" marR="73152">
                    <a:solidFill>
                      <a:srgbClr val="D6E4F0"/>
                    </a:solidFill>
                  </a:tcPr>
                </a:tc>
                <a:tc>
                  <a:txBody>
                    <a:bodyPr/>
                    <a:lstStyle/>
                    <a:p>
                      <a:pPr>
                        <a:defRPr sz="1350" b="0">
                          <a:solidFill>
                            <a:srgbClr val="333333"/>
                          </a:solidFill>
                          <a:latin typeface="Calibri"/>
                        </a:defRPr>
                      </a:pPr>
                      <a:r>
                        <a:t>No free allocation (ISCC CORSIA 203 v2.0, §4.4.4, p.42)</a:t>
                      </a:r>
                    </a:p>
                  </a:txBody>
                  <a:tcPr marL="73152" marR="73152">
                    <a:solidFill>
                      <a:srgbClr val="D6E4F0"/>
                    </a:solidFill>
                  </a:tcPr>
                </a:tc>
              </a:tr>
              <a:tr h="914400">
                <a:tc>
                  <a:txBody>
                    <a:bodyPr/>
                    <a:lstStyle/>
                    <a:p>
                      <a:pPr>
                        <a:defRPr sz="1350" b="1">
                          <a:solidFill>
                            <a:srgbClr val="333333"/>
                          </a:solidFill>
                          <a:latin typeface="Calibri"/>
                        </a:defRPr>
                      </a:pPr>
                      <a:r>
                        <a:t>Voluntary track</a:t>
                      </a:r>
                    </a:p>
                  </a:txBody>
                  <a:tcPr marL="73152" marR="73152">
                    <a:solidFill>
                      <a:srgbClr val="FFFFFF"/>
                    </a:solidFill>
                  </a:tcPr>
                </a:tc>
                <a:tc>
                  <a:txBody>
                    <a:bodyPr/>
                    <a:lstStyle/>
                    <a:p>
                      <a:pPr>
                        <a:defRPr sz="1350" b="0">
                          <a:solidFill>
                            <a:srgbClr val="333333"/>
                          </a:solidFill>
                          <a:latin typeface="Calibri"/>
                        </a:defRPr>
                      </a:pPr>
                      <a:r>
                        <a:t>Free allocation allowed (RSB-STD-01-010 v2.8, Annex IV)</a:t>
                      </a:r>
                    </a:p>
                  </a:txBody>
                  <a:tcPr marL="73152" marR="73152">
                    <a:solidFill>
                      <a:srgbClr val="FFFFFF"/>
                    </a:solidFill>
                  </a:tcPr>
                </a:tc>
                <a:tc>
                  <a:txBody>
                    <a:bodyPr/>
                    <a:lstStyle/>
                    <a:p>
                      <a:pPr>
                        <a:defRPr sz="1350" b="0">
                          <a:solidFill>
                            <a:srgbClr val="333333"/>
                          </a:solidFill>
                          <a:latin typeface="Calibri"/>
                        </a:defRPr>
                      </a:pPr>
                      <a:r>
                        <a:t>Free allocation allowed (ISCC PLUS 203-2 v1.1, §6.4.2)</a:t>
                      </a:r>
                    </a:p>
                  </a:txBody>
                  <a:tcPr marL="73152" marR="73152">
                    <a:solidFill>
                      <a:srgbClr val="FFFFFF"/>
                    </a:solidFill>
                  </a:tcPr>
                </a:tc>
              </a:tr>
              <a:tr h="914400">
                <a:tc>
                  <a:txBody>
                    <a:bodyPr/>
                    <a:lstStyle/>
                    <a:p>
                      <a:pPr>
                        <a:defRPr sz="1350" b="1">
                          <a:solidFill>
                            <a:srgbClr val="333333"/>
                          </a:solidFill>
                          <a:latin typeface="Calibri"/>
                        </a:defRPr>
                      </a:pPr>
                      <a:r>
                        <a:t>Common guardrail</a:t>
                      </a:r>
                    </a:p>
                  </a:txBody>
                  <a:tcPr marL="73152" marR="73152">
                    <a:solidFill>
                      <a:srgbClr val="D6E4F0"/>
                    </a:solidFill>
                  </a:tcPr>
                </a:tc>
                <a:tc>
                  <a:txBody>
                    <a:bodyPr/>
                    <a:lstStyle/>
                    <a:p>
                      <a:pPr>
                        <a:defRPr sz="1350" b="0">
                          <a:solidFill>
                            <a:srgbClr val="333333"/>
                          </a:solidFill>
                          <a:latin typeface="Calibri"/>
                        </a:defRPr>
                      </a:pPr>
                      <a:r>
                        <a:t>Capped at physically-present biogenic carbon; emissions stay energy-allocated</a:t>
                      </a:r>
                    </a:p>
                  </a:txBody>
                  <a:tcPr marL="73152" marR="73152">
                    <a:solidFill>
                      <a:srgbClr val="D6E4F0"/>
                    </a:solidFill>
                  </a:tcPr>
                </a:tc>
                <a:tc>
                  <a:txBody>
                    <a:bodyPr/>
                    <a:lstStyle/>
                    <a:p>
                      <a:pPr>
                        <a:defRPr sz="1350" b="0">
                          <a:solidFill>
                            <a:srgbClr val="333333"/>
                          </a:solidFill>
                          <a:latin typeface="Calibri"/>
                        </a:defRPr>
                      </a:pPr>
                      <a:r>
                        <a:t>Capped at physical output; compensation beyond proportion must be disclosed</a:t>
                      </a:r>
                    </a:p>
                  </a:txBody>
                  <a:tcPr marL="73152" marR="73152">
                    <a:solidFill>
                      <a:srgbClr val="D6E4F0"/>
                    </a:solidFill>
                  </a:tcPr>
                </a:tc>
              </a:tr>
            </a:tbl>
          </a:graphicData>
        </a:graphic>
      </p:graphicFrame>
      <p:sp>
        <p:nvSpPr>
          <p:cNvPr id="6" name="TextBox 5"/>
          <p:cNvSpPr txBox="1"/>
          <p:nvPr/>
        </p:nvSpPr>
        <p:spPr>
          <a:xfrm>
            <a:off x="822960" y="5349240"/>
            <a:ext cx="10515600" cy="914400"/>
          </a:xfrm>
          <a:prstGeom prst="rect">
            <a:avLst/>
          </a:prstGeom>
          <a:noFill/>
        </p:spPr>
        <p:txBody>
          <a:bodyPr wrap="square">
            <a:spAutoFit/>
          </a:bodyPr>
          <a:lstStyle/>
          <a:p>
            <a:pPr algn="l">
              <a:spcAft>
                <a:spcPts val="800"/>
              </a:spcAft>
              <a:defRPr sz="1500" b="1" i="0">
                <a:solidFill>
                  <a:srgbClr val="1B2A41"/>
                </a:solidFill>
                <a:latin typeface="Calibri"/>
              </a:defRPr>
            </a:pPr>
            <a:r>
              <a:t>Two independent, premier certification bodies drew the identical line: proportional-only where a binding regulatory scheme (CORSIA) requires it, free allocation where the market is voluntary — bounded by the same style of physical cap in both cases.</a:t>
            </a:r>
          </a:p>
        </p:txBody>
      </p:sp>
      <p:sp>
        <p:nvSpPr>
          <p:cNvPr id="7" name="TextBox 6"/>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Full citations in the appendix.</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Appendix A</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Sources</a:t>
            </a:r>
          </a:p>
        </p:txBody>
      </p:sp>
      <p:sp>
        <p:nvSpPr>
          <p:cNvPr id="5" name="TextBox 4"/>
          <p:cNvSpPr txBox="1"/>
          <p:nvPr/>
        </p:nvSpPr>
        <p:spPr>
          <a:xfrm>
            <a:off x="548640" y="1097280"/>
            <a:ext cx="11064240" cy="5212080"/>
          </a:xfrm>
          <a:prstGeom prst="rect">
            <a:avLst/>
          </a:prstGeom>
          <a:noFill/>
        </p:spPr>
        <p:txBody>
          <a:bodyPr wrap="square">
            <a:spAutoFit/>
          </a:bodyPr>
          <a:lstStyle/>
          <a:p>
            <a:pPr algn="l">
              <a:spcAft>
                <a:spcPts val="800"/>
              </a:spcAft>
              <a:defRPr sz="1250" b="1" i="0">
                <a:solidFill>
                  <a:srgbClr val="333333"/>
                </a:solidFill>
                <a:latin typeface="Calibri"/>
              </a:defRPr>
            </a:pPr>
            <a:r>
              <a:t>RSB Standard for Advanced Fuels, RSB-STD-01-010, Version 2.8, published April 2026.</a:t>
            </a:r>
          </a:p>
          <a:p>
            <a:pPr algn="l">
              <a:spcAft>
                <a:spcPts val="800"/>
              </a:spcAft>
              <a:defRPr sz="1150" b="0" i="0">
                <a:solidFill>
                  <a:srgbClr val="5A5A5A"/>
                </a:solidFill>
                <a:latin typeface="Calibri"/>
              </a:defRPr>
            </a:pPr>
            <a:r>
              <a:t>   Cited: §2.4.2 (p.11), §2.4.5 (p.12), §2.5.4 (p.12), Annex IV (pp.26, 28, 29).</a:t>
            </a:r>
          </a:p>
          <a:p>
            <a:pPr algn="l">
              <a:spcAft>
                <a:spcPts val="800"/>
              </a:spcAft>
              <a:defRPr sz="500" b="0" i="0">
                <a:solidFill>
                  <a:srgbClr val="333333"/>
                </a:solidFill>
                <a:latin typeface="Calibri"/>
              </a:defRPr>
            </a:pPr>
          </a:p>
          <a:p>
            <a:pPr algn="l">
              <a:spcAft>
                <a:spcPts val="800"/>
              </a:spcAft>
              <a:defRPr sz="1250" b="1" i="0">
                <a:solidFill>
                  <a:srgbClr val="333333"/>
                </a:solidFill>
                <a:latin typeface="Calibri"/>
              </a:defRPr>
            </a:pPr>
            <a:r>
              <a:t>RSB Standard for ICAO CORSIA, RSB-STD-12-001, Version 1.7, published April 2026.</a:t>
            </a:r>
          </a:p>
          <a:p>
            <a:pPr algn="l">
              <a:spcAft>
                <a:spcPts val="800"/>
              </a:spcAft>
              <a:defRPr sz="1150" b="0" i="0">
                <a:solidFill>
                  <a:srgbClr val="5A5A5A"/>
                </a:solidFill>
                <a:latin typeface="Calibri"/>
              </a:defRPr>
            </a:pPr>
            <a:r>
              <a:t>   Cited: §3.4.7.1 (p.23).</a:t>
            </a:r>
          </a:p>
          <a:p>
            <a:pPr algn="l">
              <a:spcAft>
                <a:spcPts val="800"/>
              </a:spcAft>
              <a:defRPr sz="500" b="0" i="0">
                <a:solidFill>
                  <a:srgbClr val="333333"/>
                </a:solidFill>
                <a:latin typeface="Calibri"/>
              </a:defRPr>
            </a:pPr>
          </a:p>
          <a:p>
            <a:pPr algn="l">
              <a:spcAft>
                <a:spcPts val="800"/>
              </a:spcAft>
              <a:defRPr sz="1250" b="1" i="0">
                <a:solidFill>
                  <a:srgbClr val="333333"/>
                </a:solidFill>
                <a:latin typeface="Calibri"/>
              </a:defRPr>
            </a:pPr>
            <a:r>
              <a:t>ISCC PLUS 203-2, Chain of Custody, Version 1.1, valid from 13 November 2025.</a:t>
            </a:r>
          </a:p>
          <a:p>
            <a:pPr algn="l">
              <a:spcAft>
                <a:spcPts val="800"/>
              </a:spcAft>
              <a:defRPr sz="1150" b="0" i="0">
                <a:solidFill>
                  <a:srgbClr val="5A5A5A"/>
                </a:solidFill>
                <a:latin typeface="Calibri"/>
              </a:defRPr>
            </a:pPr>
            <a:r>
              <a:t>   Cited: §6.1 (pp.17–18), §6.2 (p.18), §6.3 (p.21), §6.4.2 (pp.26–27).</a:t>
            </a:r>
          </a:p>
          <a:p>
            <a:pPr algn="l">
              <a:spcAft>
                <a:spcPts val="800"/>
              </a:spcAft>
              <a:defRPr sz="500" b="0" i="0">
                <a:solidFill>
                  <a:srgbClr val="333333"/>
                </a:solidFill>
                <a:latin typeface="Calibri"/>
              </a:defRPr>
            </a:pPr>
          </a:p>
          <a:p>
            <a:pPr algn="l">
              <a:spcAft>
                <a:spcPts val="800"/>
              </a:spcAft>
              <a:defRPr sz="1250" b="1" i="0">
                <a:solidFill>
                  <a:srgbClr val="333333"/>
                </a:solidFill>
                <a:latin typeface="Calibri"/>
              </a:defRPr>
            </a:pPr>
            <a:r>
              <a:t>ISCC PLUS 201, System Basics, Version 1.1, valid from 13 November 2025.</a:t>
            </a:r>
          </a:p>
          <a:p>
            <a:pPr algn="l">
              <a:spcAft>
                <a:spcPts val="800"/>
              </a:spcAft>
              <a:defRPr sz="1150" b="0" i="0">
                <a:solidFill>
                  <a:srgbClr val="5A5A5A"/>
                </a:solidFill>
                <a:latin typeface="Calibri"/>
              </a:defRPr>
            </a:pPr>
            <a:r>
              <a:t>   Cited: §2.4 Voluntary Add-Ons under ISCC PLUS (p.24) — establishes that GHG/CI reporting sits outside the Chain of Custody chapter cited above, as a separate voluntary add-on.</a:t>
            </a:r>
          </a:p>
          <a:p>
            <a:pPr algn="l">
              <a:spcAft>
                <a:spcPts val="800"/>
              </a:spcAft>
              <a:defRPr sz="500" b="0" i="0">
                <a:solidFill>
                  <a:srgbClr val="333333"/>
                </a:solidFill>
                <a:latin typeface="Calibri"/>
              </a:defRPr>
            </a:pPr>
          </a:p>
          <a:p>
            <a:pPr algn="l">
              <a:spcAft>
                <a:spcPts val="800"/>
              </a:spcAft>
              <a:defRPr sz="1250" b="1" i="0">
                <a:solidFill>
                  <a:srgbClr val="333333"/>
                </a:solidFill>
                <a:latin typeface="Calibri"/>
              </a:defRPr>
            </a:pPr>
            <a:r>
              <a:t>ISCC Questions and Answers on the Certification of Co-Processing, Version 1.0, valid from 22 September 2025.</a:t>
            </a:r>
          </a:p>
          <a:p>
            <a:pPr algn="l">
              <a:spcAft>
                <a:spcPts val="800"/>
              </a:spcAft>
              <a:defRPr sz="1150" b="0" i="0">
                <a:solidFill>
                  <a:srgbClr val="5A5A5A"/>
                </a:solidFill>
                <a:latin typeface="Calibri"/>
              </a:defRPr>
            </a:pPr>
            <a:r>
              <a:t>   Cited: “Detection of low bio-content” (p.14).</a:t>
            </a:r>
          </a:p>
          <a:p>
            <a:pPr algn="l">
              <a:spcAft>
                <a:spcPts val="800"/>
              </a:spcAft>
              <a:defRPr sz="500" b="0" i="0">
                <a:solidFill>
                  <a:srgbClr val="333333"/>
                </a:solidFill>
                <a:latin typeface="Calibri"/>
              </a:defRPr>
            </a:pPr>
          </a:p>
          <a:p>
            <a:pPr algn="l">
              <a:spcAft>
                <a:spcPts val="800"/>
              </a:spcAft>
              <a:defRPr sz="1250" b="1" i="0">
                <a:solidFill>
                  <a:srgbClr val="333333"/>
                </a:solidFill>
                <a:latin typeface="Calibri"/>
              </a:defRPr>
            </a:pPr>
            <a:r>
              <a:t>ISCC CORSIA 203, Traceability and Chain of Custody, Version 2.0.</a:t>
            </a:r>
          </a:p>
          <a:p>
            <a:pPr algn="l">
              <a:spcAft>
                <a:spcPts val="800"/>
              </a:spcAft>
              <a:defRPr sz="1150" b="0" i="0">
                <a:solidFill>
                  <a:srgbClr val="5A5A5A"/>
                </a:solidFill>
                <a:latin typeface="Calibri"/>
              </a:defRPr>
            </a:pPr>
            <a:r>
              <a:t>   Cited: §4.4.4 Co-Processing (p.42).</a:t>
            </a:r>
          </a:p>
          <a:p>
            <a:pPr algn="l">
              <a:spcAft>
                <a:spcPts val="800"/>
              </a:spcAft>
              <a:defRPr sz="800" b="0" i="0">
                <a:solidFill>
                  <a:srgbClr val="333333"/>
                </a:solidFill>
                <a:latin typeface="Calibri"/>
              </a:defRPr>
            </a:pPr>
          </a:p>
          <a:p>
            <a:pPr algn="l">
              <a:spcAft>
                <a:spcPts val="800"/>
              </a:spcAft>
              <a:defRPr sz="1150" b="0" i="1">
                <a:solidFill>
                  <a:srgbClr val="5A5A5A"/>
                </a:solidFill>
                <a:latin typeface="Calibri"/>
              </a:defRPr>
            </a:pPr>
            <a:r>
              <a:t>Scope: RSB Advanced Fuels, RSB CORSIA, ISCC PLUS, and ISCC CORSIA. Excludes EU RED, LCFS, and ISCC EU (the DR 2023/1640-scoped track, distinct from ISCC PLUS). The interaction between ISCC PLUS's mass-balancing options and its voluntary GHG add-on is outside this scope.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E5C6E"/>
        </a:solidFill>
        <a:effectLst/>
      </p:bgPr>
    </p:bg>
    <p:spTree>
      <p:nvGrpSpPr>
        <p:cNvPr id="1" name=""/>
        <p:cNvGrpSpPr/>
        <p:nvPr/>
      </p:nvGrpSpPr>
      <p:grpSpPr/>
      <p:sp>
        <p:nvSpPr>
          <p:cNvPr id="2" name="TextBox 1"/>
          <p:cNvSpPr txBox="1"/>
          <p:nvPr/>
        </p:nvSpPr>
        <p:spPr>
          <a:xfrm>
            <a:off x="731520" y="2926080"/>
            <a:ext cx="10698480" cy="914400"/>
          </a:xfrm>
          <a:prstGeom prst="rect">
            <a:avLst/>
          </a:prstGeom>
          <a:noFill/>
        </p:spPr>
        <p:txBody>
          <a:bodyPr wrap="none">
            <a:spAutoFit/>
          </a:bodyPr>
          <a:lstStyle/>
          <a:p>
            <a:pPr>
              <a:defRPr sz="3600" b="1">
                <a:solidFill>
                  <a:srgbClr val="FFFFFF"/>
                </a:solidFill>
              </a:defRPr>
            </a:pPr>
            <a:r>
              <a:t>Backup</a:t>
            </a:r>
          </a:p>
        </p:txBody>
      </p:sp>
      <p:sp>
        <p:nvSpPr>
          <p:cNvPr id="3" name="TextBox 2"/>
          <p:cNvSpPr txBox="1"/>
          <p:nvPr/>
        </p:nvSpPr>
        <p:spPr>
          <a:xfrm>
            <a:off x="731520" y="3657600"/>
            <a:ext cx="10698480" cy="548640"/>
          </a:xfrm>
          <a:prstGeom prst="rect">
            <a:avLst/>
          </a:prstGeom>
          <a:noFill/>
        </p:spPr>
        <p:txBody>
          <a:bodyPr wrap="none">
            <a:spAutoFit/>
          </a:bodyPr>
          <a:lstStyle/>
          <a:p>
            <a:pPr>
              <a:defRPr sz="1600" i="1">
                <a:solidFill>
                  <a:srgbClr val="D6E4F0"/>
                </a:solidFill>
              </a:defRPr>
            </a:pPr>
            <a:r>
              <a:t>Numeric detail held in reserve for follow-up questions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Backup 1</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RSB Annex IV — the physical cap, in numbers</a:t>
            </a:r>
          </a:p>
        </p:txBody>
      </p:sp>
      <p:sp>
        <p:nvSpPr>
          <p:cNvPr id="5" name="TextBox 4"/>
          <p:cNvSpPr txBox="1"/>
          <p:nvPr/>
        </p:nvSpPr>
        <p:spPr>
          <a:xfrm>
            <a:off x="548640" y="1188720"/>
            <a:ext cx="11064240" cy="4937760"/>
          </a:xfrm>
          <a:prstGeom prst="rect">
            <a:avLst/>
          </a:prstGeom>
          <a:noFill/>
        </p:spPr>
        <p:txBody>
          <a:bodyPr wrap="square">
            <a:spAutoFit/>
          </a:bodyPr>
          <a:lstStyle/>
          <a:p>
            <a:pPr algn="l">
              <a:spcAft>
                <a:spcPts val="800"/>
              </a:spcAft>
              <a:defRPr sz="1500" b="1" i="0">
                <a:solidFill>
                  <a:srgbClr val="333333"/>
                </a:solidFill>
                <a:latin typeface="Calibri"/>
              </a:defRPr>
            </a:pPr>
            <a:r>
              <a:t>From the standard's own Figure 1 (Annex IV, p.29):</a:t>
            </a:r>
          </a:p>
          <a:p>
            <a:pPr algn="l">
              <a:spcAft>
                <a:spcPts val="800"/>
              </a:spcAft>
              <a:defRPr sz="1400" b="0" i="0">
                <a:solidFill>
                  <a:srgbClr val="333333"/>
                </a:solidFill>
                <a:latin typeface="Calibri"/>
              </a:defRPr>
            </a:pPr>
            <a:r>
              <a:t>   •  Inputs: 21t biobased feedstock (1t biogenic carbon) + 98t fossil feedstock (68.6t fossil carbon)</a:t>
            </a:r>
          </a:p>
          <a:p>
            <a:pPr algn="l">
              <a:spcAft>
                <a:spcPts val="800"/>
              </a:spcAft>
              <a:defRPr sz="1400" b="0" i="0">
                <a:solidFill>
                  <a:srgbClr val="333333"/>
                </a:solidFill>
                <a:latin typeface="Calibri"/>
              </a:defRPr>
            </a:pPr>
            <a:r>
              <a:t>   •  Process conversion efficiency: 90%</a:t>
            </a:r>
          </a:p>
          <a:p>
            <a:pPr algn="l">
              <a:spcAft>
                <a:spcPts val="800"/>
              </a:spcAft>
              <a:defRPr sz="1400" b="0" i="0">
                <a:solidFill>
                  <a:srgbClr val="333333"/>
                </a:solidFill>
                <a:latin typeface="Calibri"/>
              </a:defRPr>
            </a:pPr>
            <a:r>
              <a:t>   •  Outputs: 1.1t SAF (0.9t of biogenic carbon attributed), 2.41t fossil-based jet fuel (2.1t fossil carbon attributed), 69.5t other fossil-based products/chemicals (59.7t fossil carbon attributed)</a:t>
            </a:r>
          </a:p>
          <a:p>
            <a:pPr algn="l">
              <a:spcAft>
                <a:spcPts val="800"/>
              </a:spcAft>
              <a:defRPr sz="1400" b="0" i="0">
                <a:solidFill>
                  <a:srgbClr val="333333"/>
                </a:solidFill>
                <a:latin typeface="Calibri"/>
              </a:defRPr>
            </a:pPr>
            <a:r>
              <a:t>   •  Resulting carbon footprint: 0.98 tCO2eq/t SAF vs. 1.69 tCO2eq/t fossil jet fuel</a:t>
            </a:r>
          </a:p>
          <a:p>
            <a:pPr algn="l">
              <a:spcAft>
                <a:spcPts val="800"/>
              </a:spcAft>
              <a:defRPr sz="800" b="0" i="0">
                <a:solidFill>
                  <a:srgbClr val="333333"/>
                </a:solidFill>
                <a:latin typeface="Calibri"/>
              </a:defRPr>
            </a:pPr>
          </a:p>
          <a:p>
            <a:pPr algn="l">
              <a:spcAft>
                <a:spcPts val="800"/>
              </a:spcAft>
              <a:defRPr sz="1300" b="0" i="1">
                <a:solidFill>
                  <a:srgbClr val="5A5A5A"/>
                </a:solidFill>
                <a:latin typeface="Calibri"/>
              </a:defRPr>
            </a:pPr>
            <a:r>
              <a:t>Note in the figure: “the input of biogenic carbon is 1t. The output of biogenic carbon attributed to the final product is 0.9t since a conversion efficiency of 90% was considered.”</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RSB-STD-01-010 v2.8, Annex IV, Figure 1 and accompanying text, p.29.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Backup 2</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RSB Annex V — flexible attribution of process inputs</a:t>
            </a:r>
          </a:p>
        </p:txBody>
      </p:sp>
      <p:sp>
        <p:nvSpPr>
          <p:cNvPr id="5" name="TextBox 4"/>
          <p:cNvSpPr txBox="1"/>
          <p:nvPr/>
        </p:nvSpPr>
        <p:spPr>
          <a:xfrm>
            <a:off x="548640" y="1188720"/>
            <a:ext cx="11064240" cy="4937760"/>
          </a:xfrm>
          <a:prstGeom prst="rect">
            <a:avLst/>
          </a:prstGeom>
          <a:noFill/>
        </p:spPr>
        <p:txBody>
          <a:bodyPr wrap="square">
            <a:spAutoFit/>
          </a:bodyPr>
          <a:lstStyle/>
          <a:p>
            <a:pPr algn="l">
              <a:spcAft>
                <a:spcPts val="800"/>
              </a:spcAft>
              <a:defRPr sz="1400" b="0" i="0">
                <a:solidFill>
                  <a:srgbClr val="333333"/>
                </a:solidFill>
                <a:latin typeface="Calibri"/>
              </a:defRPr>
            </a:pPr>
            <a:r>
              <a:t>Annex V (added in v2.8, p.30) extends flexible attribution beyond the biogenic feedstock itself to process inputs and utilities (electricity, steam, oxygen) in a co-processing SAF example.</a:t>
            </a:r>
          </a:p>
          <a:p>
            <a:pPr algn="l">
              <a:spcAft>
                <a:spcPts val="800"/>
              </a:spcAft>
              <a:defRPr sz="800" b="0" i="0">
                <a:solidFill>
                  <a:srgbClr val="333333"/>
                </a:solidFill>
                <a:latin typeface="Calibri"/>
              </a:defRPr>
            </a:pPr>
          </a:p>
          <a:p>
            <a:pPr algn="l">
              <a:spcAft>
                <a:spcPts val="800"/>
              </a:spcAft>
              <a:defRPr sz="1400" b="1" i="0">
                <a:solidFill>
                  <a:srgbClr val="333333"/>
                </a:solidFill>
                <a:latin typeface="Calibri"/>
              </a:defRPr>
            </a:pPr>
            <a:r>
              <a:t>Worked comparison (p.32):</a:t>
            </a:r>
          </a:p>
          <a:p>
            <a:pPr algn="l">
              <a:spcAft>
                <a:spcPts val="800"/>
              </a:spcAft>
              <a:defRPr sz="1400" b="0" i="0">
                <a:solidFill>
                  <a:srgbClr val="333333"/>
                </a:solidFill>
                <a:latin typeface="Calibri"/>
              </a:defRPr>
            </a:pPr>
            <a:r>
              <a:t>   •  Without flexible attribution of inputs: SAF GHG intensity = 68 g CO2e/MJ</a:t>
            </a:r>
          </a:p>
          <a:p>
            <a:pPr algn="l">
              <a:spcAft>
                <a:spcPts val="800"/>
              </a:spcAft>
              <a:defRPr sz="1400" b="0" i="0">
                <a:solidFill>
                  <a:srgbClr val="333333"/>
                </a:solidFill>
                <a:latin typeface="Calibri"/>
              </a:defRPr>
            </a:pPr>
            <a:r>
              <a:t>   •  With flexible attribution of inputs: SAF GHG intensity = 30.25 g CO2e/MJ</a:t>
            </a:r>
          </a:p>
          <a:p>
            <a:pPr algn="l">
              <a:spcAft>
                <a:spcPts val="800"/>
              </a:spcAft>
              <a:defRPr sz="800" b="0" i="0">
                <a:solidFill>
                  <a:srgbClr val="333333"/>
                </a:solidFill>
                <a:latin typeface="Calibri"/>
              </a:defRPr>
            </a:pPr>
          </a:p>
          <a:p>
            <a:pPr algn="l">
              <a:spcAft>
                <a:spcPts val="800"/>
              </a:spcAft>
              <a:defRPr sz="1400" b="0" i="0">
                <a:solidFill>
                  <a:srgbClr val="333333"/>
                </a:solidFill>
                <a:latin typeface="Calibri"/>
              </a:defRPr>
            </a:pPr>
            <a:r>
              <a:t>Guardrail (Step 3, p.32): “You may not attribute more of an input than the amount... used in the co-process.” Low-carbon inputs are attributed first, up to their actual available quantity.</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RSB-STD-01-010 v2.8, Annex V, pp.30–32.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Backup 3</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ISCC PLUS — the mass-balance foundation under Free Attribution</a:t>
            </a:r>
          </a:p>
        </p:txBody>
      </p:sp>
      <p:sp>
        <p:nvSpPr>
          <p:cNvPr id="5" name="TextBox 4"/>
          <p:cNvSpPr txBox="1"/>
          <p:nvPr/>
        </p:nvSpPr>
        <p:spPr>
          <a:xfrm>
            <a:off x="548640" y="1188720"/>
            <a:ext cx="11064240" cy="4937760"/>
          </a:xfrm>
          <a:prstGeom prst="rect">
            <a:avLst/>
          </a:prstGeom>
          <a:noFill/>
        </p:spPr>
        <p:txBody>
          <a:bodyPr wrap="square">
            <a:spAutoFit/>
          </a:bodyPr>
          <a:lstStyle/>
          <a:p>
            <a:pPr algn="l">
              <a:spcAft>
                <a:spcPts val="800"/>
              </a:spcAft>
              <a:defRPr sz="1400" b="0" i="0">
                <a:solidFill>
                  <a:srgbClr val="333333"/>
                </a:solidFill>
                <a:latin typeface="Calibri"/>
              </a:defRPr>
            </a:pPr>
            <a:r>
              <a:t>Chemical connectivity (§6.1, pp.17–18) — the precondition for any attribution, Free Attribution included: “Chemical link: the theoretical possibility of chemically converting the certified input(s) to the output(s)” plus “Process feasibility: availability of technical infrastructure.” Where both hold, “process outputs (products) can contain molecules or atoms of the certified input.”</a:t>
            </a:r>
          </a:p>
          <a:p>
            <a:pPr algn="l">
              <a:spcAft>
                <a:spcPts val="800"/>
              </a:spcAft>
              <a:defRPr sz="800" b="0" i="0">
                <a:solidFill>
                  <a:srgbClr val="333333"/>
                </a:solidFill>
                <a:latin typeface="Calibri"/>
              </a:defRPr>
            </a:pPr>
          </a:p>
          <a:p>
            <a:pPr algn="l">
              <a:spcAft>
                <a:spcPts val="800"/>
              </a:spcAft>
              <a:defRPr sz="1400" b="0" i="1">
                <a:solidFill>
                  <a:srgbClr val="333333"/>
                </a:solidFill>
                <a:latin typeface="Calibri"/>
              </a:defRPr>
            </a:pPr>
            <a:r>
              <a:t>General mass-balance rule (§6.2, p.18): “Under mass balance, the physical mixing of material with different sustainability characteristics and the mixing of certified and non-certified material is allowed, while ensuring that the sustainability characteristics remain assigned to physical batches of material on a bookkeeping basis.”</a:t>
            </a:r>
          </a:p>
          <a:p>
            <a:pPr algn="l">
              <a:spcAft>
                <a:spcPts val="800"/>
              </a:spcAft>
              <a:defRPr sz="800" b="0" i="0">
                <a:solidFill>
                  <a:srgbClr val="333333"/>
                </a:solidFill>
                <a:latin typeface="Calibri"/>
              </a:defRPr>
            </a:pPr>
          </a:p>
          <a:p>
            <a:pPr algn="l">
              <a:spcAft>
                <a:spcPts val="800"/>
              </a:spcAft>
              <a:defRPr sz="1400" b="0" i="0">
                <a:solidFill>
                  <a:srgbClr val="333333"/>
                </a:solidFill>
                <a:latin typeface="Calibri"/>
              </a:defRPr>
            </a:pPr>
            <a:r>
              <a:t>Four options under the Credit Method (Figure 6, p.26): Free Attribution, Fuel-Use Excluded Attribution, Proportional Attribution, Trace-the-Atom — each usable within the same §6.3 guardrails.</a:t>
            </a:r>
          </a:p>
          <a:p>
            <a:pPr algn="l">
              <a:spcAft>
                <a:spcPts val="800"/>
              </a:spcAft>
              <a:defRPr sz="800" b="0" i="0">
                <a:solidFill>
                  <a:srgbClr val="333333"/>
                </a:solidFill>
                <a:latin typeface="Calibri"/>
              </a:defRPr>
            </a:pPr>
          </a:p>
          <a:p>
            <a:pPr algn="l">
              <a:spcAft>
                <a:spcPts val="800"/>
              </a:spcAft>
              <a:defRPr sz="1300" b="0" i="0">
                <a:solidFill>
                  <a:srgbClr val="5A5A5A"/>
                </a:solidFill>
                <a:latin typeface="Calibri"/>
              </a:defRPr>
            </a:pPr>
            <a:r>
              <a:t>GHG/CI reporting sits outside this chapter entirely: ISCC PLUS 201 §2.4 (p.24) frames it as a “voluntary add-on” — “ISCC provides the option to adapt ISCC PLUS certificates to specific market requirements through voluntary add-ons.”</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ISCC PLUS 203-2 Chain of Custody v1.1, §6.1–6.2, pp.17–18, 26; ISCC PLUS 201 System Basics v1.1, §2.4, p.24.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