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234440"/>
            <a:ext cx="11064240" cy="5029200"/>
          </a:xfrm>
          <a:prstGeom prst="rect">
            <a:avLst/>
          </a:prstGeom>
          <a:noFill/>
        </p:spPr>
        <p:txBody>
          <a:bodyPr wrap="square">
            <a:spAutoFit/>
          </a:bodyPr>
          <a:lstStyle/>
          <a:p>
            <a:pPr algn="l">
              <a:spcAft>
                <a:spcPts val="800"/>
              </a:spcAft>
              <a:defRPr sz="1700" b="0" i="0">
                <a:solidFill>
                  <a:srgbClr val="333333"/>
                </a:solidFill>
                <a:latin typeface="Calibri"/>
              </a:defRPr>
            </a:pPr>
            <a:r>
              <a:t>•  ¹⁴C testing measures real biogenic content — but breaks down at typical co-processing blend rates (bio-oil ≤5%). ISCC's own fix treats results under 0.5 pMC as zero (p.14).</a:t>
            </a:r>
          </a:p>
          <a:p>
            <a:pPr algn="l">
              <a:spcAft>
                <a:spcPts val="800"/>
              </a:spcAft>
              <a:defRPr sz="800" b="0" i="0">
                <a:solidFill>
                  <a:srgbClr val="333333"/>
                </a:solidFill>
                <a:latin typeface="Calibri"/>
              </a:defRPr>
            </a:pPr>
          </a:p>
          <a:p>
            <a:pPr algn="l">
              <a:spcAft>
                <a:spcPts val="800"/>
              </a:spcAft>
              <a:defRPr sz="1700" b="0" i="0">
                <a:solidFill>
                  <a:srgbClr val="333333"/>
                </a:solidFill>
                <a:latin typeface="Calibri"/>
              </a:defRPr>
            </a:pPr>
            <a:r>
              <a:t>•  Markets price scarcity. Spreading a fixed biogenic quantity proportionally dilutes it below the threshold that matters anywhere — including the stream where decarbonization demand actually is (SAF).</a:t>
            </a:r>
          </a:p>
          <a:p>
            <a:pPr algn="l">
              <a:spcAft>
                <a:spcPts val="800"/>
              </a:spcAft>
              <a:defRPr sz="800" b="0" i="0">
                <a:solidFill>
                  <a:srgbClr val="333333"/>
                </a:solidFill>
                <a:latin typeface="Calibri"/>
              </a:defRPr>
            </a:pPr>
          </a:p>
          <a:p>
            <a:pPr algn="l">
              <a:spcAft>
                <a:spcPts val="800"/>
              </a:spcAft>
              <a:defRPr sz="1700" b="0" i="0">
                <a:solidFill>
                  <a:srgbClr val="333333"/>
                </a:solidFill>
                <a:latin typeface="Calibri"/>
              </a:defRPr>
            </a:pPr>
            <a:r>
              <a:t>•  Free allocation concentrates that same, capped quantity into the highest-value stream. Total fossil carbon displaced doesn't change.</a:t>
            </a:r>
          </a:p>
          <a:p>
            <a:pPr algn="l">
              <a:spcAft>
                <a:spcPts val="800"/>
              </a:spcAft>
              <a:defRPr sz="800" b="0" i="0">
                <a:solidFill>
                  <a:srgbClr val="333333"/>
                </a:solidFill>
                <a:latin typeface="Calibri"/>
              </a:defRPr>
            </a:pPr>
          </a:p>
          <a:p>
            <a:pPr algn="l">
              <a:spcAft>
                <a:spcPts val="800"/>
              </a:spcAft>
              <a:defRPr sz="1700" b="0" i="0">
                <a:solidFill>
                  <a:srgbClr val="333333"/>
                </a:solidFill>
                <a:latin typeface="Calibri"/>
              </a:defRPr>
            </a:pPr>
            <a:r>
              <a:t>•  This is book-and-claim — the same mechanism as RECs. Legitimacy comes from the guardrails (physical cap + disclosure), not molecule-level tracing.</a:t>
            </a:r>
          </a:p>
          <a:p>
            <a:pPr algn="l">
              <a:spcAft>
                <a:spcPts val="800"/>
              </a:spcAft>
              <a:defRPr sz="800" b="0" i="0">
                <a:solidFill>
                  <a:srgbClr val="333333"/>
                </a:solidFill>
                <a:latin typeface="Calibri"/>
              </a:defRPr>
            </a:pPr>
          </a:p>
          <a:p>
            <a:pPr algn="l">
              <a:spcAft>
                <a:spcPts val="800"/>
              </a:spcAft>
              <a:defRPr sz="1700" b="1" i="0">
                <a:solidFill>
                  <a:srgbClr val="1B2A41"/>
                </a:solidFill>
                <a:latin typeface="Calibri"/>
              </a:defRPr>
            </a:pPr>
            <a:r>
              <a:t>•  A market mechanism has to be responsive to a market, within conservative, verifiable limits. That's what free allocation is built to do.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Free allocation in practice: circular plastics</a:t>
            </a:r>
          </a:p>
        </p:txBody>
      </p:sp>
      <p:sp>
        <p:nvSpPr>
          <p:cNvPr id="5" name="TextBox 4"/>
          <p:cNvSpPr txBox="1"/>
          <p:nvPr/>
        </p:nvSpPr>
        <p:spPr>
          <a:xfrm>
            <a:off x="548640" y="1115568"/>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This isn't a fuel-specific mechanism. ISCC PLUS's Free Attribution chapter (§6, already cited) governs every material in its scope — and ISCC's own material list confirms mixed plastic waste is eligible, carrying a “circular” designation on the certificate (ISCC PLUS material list, 9 June 2025, p.1, p.3).</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ISCC's current guidance walks through a live chemical-recycling case (“Certified Free Attribution for Scaling-up the Circular Economy,” ISCC System, 1 April 2026):</a:t>
            </a:r>
          </a:p>
          <a:p>
            <a:pPr algn="l">
              <a:spcAft>
                <a:spcPts val="800"/>
              </a:spcAft>
              <a:defRPr sz="1300" b="0" i="1">
                <a:solidFill>
                  <a:srgbClr val="333333"/>
                </a:solidFill>
                <a:latin typeface="Calibri"/>
              </a:defRPr>
            </a:pPr>
            <a:r>
              <a:t>“Imagine a cracking process, where both fossil feedstock and ISCC-certified circular feedstock derived from chemically recycled plastic waste are introduced. The plant produces several outputs” — 100t fuel, 100t product A, 100t product B, and 200t of a dual-use output. After losses, “100 tonnes of certified content remain attributable.”</a:t>
            </a:r>
          </a:p>
          <a:p>
            <a:pPr algn="l">
              <a:spcAft>
                <a:spcPts val="800"/>
              </a:spcAft>
              <a:defRPr sz="1300" b="0" i="1">
                <a:solidFill>
                  <a:srgbClr val="333333"/>
                </a:solidFill>
                <a:latin typeface="Calibri"/>
              </a:defRPr>
            </a:pPr>
            <a:r>
              <a:t>“In reality, the certified atoms are distributed across all output streams. Under free attribution, however, the operator can flexibly decide which output stream(s) receive the certified share... the 100 tonnes of certified input could be attributed entirely to product A, which can then be forwarded as ISCC-certified circular material.”</a:t>
            </a:r>
          </a:p>
          <a:p>
            <a:pPr algn="l">
              <a:spcAft>
                <a:spcPts val="800"/>
              </a:spcAft>
              <a:defRPr sz="500" b="0" i="0">
                <a:solidFill>
                  <a:srgbClr val="333333"/>
                </a:solidFill>
                <a:latin typeface="Calibri"/>
              </a:defRPr>
            </a:pPr>
          </a:p>
          <a:p>
            <a:pPr algn="l">
              <a:spcAft>
                <a:spcPts val="800"/>
              </a:spcAft>
              <a:defRPr sz="1300" b="0" i="0">
                <a:solidFill>
                  <a:srgbClr val="333333"/>
                </a:solidFill>
                <a:latin typeface="Calibri"/>
              </a:defRPr>
            </a:pPr>
            <a:r>
              <a:t>Same guardrail language as the biofuel case — “the total amount of certified output cannot exceed the certified input entering the system,” and chemical connectivity is what decides which outputs are even eligible to receive the claim.</a:t>
            </a:r>
          </a:p>
          <a:p>
            <a:pPr algn="l">
              <a:spcAft>
                <a:spcPts val="800"/>
              </a:spcAft>
              <a:defRPr sz="500" b="0" i="0">
                <a:solidFill>
                  <a:srgbClr val="333333"/>
                </a:solidFill>
                <a:latin typeface="Calibri"/>
              </a:defRPr>
            </a:pPr>
          </a:p>
          <a:p>
            <a:pPr algn="l">
              <a:spcAft>
                <a:spcPts val="800"/>
              </a:spcAft>
              <a:defRPr sz="1300" b="1" i="0">
                <a:solidFill>
                  <a:srgbClr val="1B2A41"/>
                </a:solidFill>
                <a:latin typeface="Calibri"/>
              </a:defRPr>
            </a:pPr>
            <a:r>
              <a:t>ISCC's own stated reason matches slide 7's argument, independently: “chemical recycling supply chains are still evolving... the free attribution approach... provides a practical starting point... supports the gradual scaling up of these materials within established value chains for the voluntary markets.”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material list (9 June 2025), pp.1, 3; ISCC System, “Certified Free Attribution for Scaling-up the Circular Economy,” 1 April 2026, iscc-system.org.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194560"/>
                <a:gridCol w="4297680"/>
                <a:gridCol w="4754880"/>
              </a:tblGrid>
              <a:tr h="815340">
                <a:tc>
                  <a:txBody>
                    <a:bodyPr/>
                    <a:lstStyle/>
                    <a:p>
                      <a:pPr>
                        <a:defRPr sz="1300" b="1">
                          <a:solidFill>
                            <a:srgbClr val="FFFFFF"/>
                          </a:solidFill>
                          <a:latin typeface="Calibri"/>
                        </a:defRPr>
                      </a:pPr>
                      <a:r>
                        <a:t>Guardrail</a:t>
                      </a:r>
                    </a:p>
                  </a:txBody>
                  <a:tcPr anchor="t" marL="73152" marR="73152" marT="45720" marB="45720">
                    <a:solidFill>
                      <a:srgbClr val="1B2A41"/>
                    </a:solidFill>
                  </a:tcPr>
                </a:tc>
                <a:tc>
                  <a:txBody>
                    <a:bodyPr/>
                    <a:lstStyle/>
                    <a:p>
                      <a:pPr>
                        <a:defRPr sz="1300" b="1">
                          <a:solidFill>
                            <a:srgbClr val="FFFFFF"/>
                          </a:solidFill>
                          <a:latin typeface="Calibri"/>
                        </a:defRPr>
                      </a:pPr>
                      <a:r>
                        <a:t>RSB Advanced Fuels</a:t>
                      </a:r>
                    </a:p>
                  </a:txBody>
                  <a:tcPr anchor="t" marL="73152" marR="73152" marT="45720" marB="45720">
                    <a:solidFill>
                      <a:srgbClr val="1B2A41"/>
                    </a:solidFill>
                  </a:tcPr>
                </a:tc>
                <a:tc>
                  <a:txBody>
                    <a:bodyPr/>
                    <a:lstStyle/>
                    <a:p>
                      <a:pPr>
                        <a:defRPr sz="1300" b="1">
                          <a:solidFill>
                            <a:srgbClr val="FFFFFF"/>
                          </a:solidFill>
                          <a:latin typeface="Calibri"/>
                        </a:defRPr>
                      </a:pPr>
                      <a:r>
                        <a:t>ISCC PLUS</a:t>
                      </a:r>
                    </a:p>
                  </a:txBody>
                  <a:tcPr anchor="t" marL="73152" marR="73152" marT="45720" marB="45720">
                    <a:solidFill>
                      <a:srgbClr val="1B2A41"/>
                    </a:solidFill>
                  </a:tcPr>
                </a:tc>
              </a:tr>
              <a:tr h="815340">
                <a:tc>
                  <a:txBody>
                    <a:bodyPr/>
                    <a:lstStyle/>
                    <a:p>
                      <a:pPr>
                        <a:defRPr sz="1100" b="0">
                          <a:solidFill>
                            <a:srgbClr val="333333"/>
                          </a:solidFill>
                          <a:latin typeface="Calibri"/>
                        </a:defRPr>
                      </a:pPr>
                      <a:r>
                        <a:t>Physical cap on the claim</a:t>
                      </a:r>
                    </a:p>
                  </a:txBody>
                  <a:tcPr anchor="t" marL="73152" marR="73152" marT="45720" marB="45720">
                    <a:solidFill>
                      <a:srgbClr val="D6E4F0"/>
                    </a:solidFill>
                  </a:tcPr>
                </a:tc>
                <a:tc>
                  <a:txBody>
                    <a:bodyPr/>
                    <a:lstStyle/>
                    <a:p>
                      <a:pPr>
                        <a:defRPr sz="1100" b="0">
                          <a:solidFill>
                            <a:srgbClr val="333333"/>
                          </a:solidFill>
                          <a:latin typeface="Calibri"/>
                        </a:defRPr>
                      </a:pPr>
                      <a:r>
                        <a:t>Capped by feedstock carbon content × conversion efficiency (Annex IV, p.26)</a:t>
                      </a:r>
                    </a:p>
                  </a:txBody>
                  <a:tcPr anchor="t" marL="73152" marR="73152" marT="45720" marB="45720">
                    <a:solidFill>
                      <a:srgbClr val="D6E4F0"/>
                    </a:solidFill>
                  </a:tcPr>
                </a:tc>
                <a:tc>
                  <a:txBody>
                    <a:bodyPr/>
                    <a:lstStyle/>
                    <a:p>
                      <a:pPr>
                        <a:defRPr sz="1100" b="0">
                          <a:solidFill>
                            <a:srgbClr val="333333"/>
                          </a:solidFill>
                          <a:latin typeface="Calibri"/>
                        </a:defRPr>
                      </a:pPr>
                      <a:r>
                        <a:t>“Attributable credits cannot be higher than the physical output” (§6.3, p.21)</a:t>
                      </a:r>
                    </a:p>
                  </a:txBody>
                  <a:tcPr anchor="t" marL="73152" marR="73152" marT="45720" marB="45720">
                    <a:solidFill>
                      <a:srgbClr val="D6E4F0"/>
                    </a:solidFill>
                  </a:tcPr>
                </a:tc>
              </a:tr>
              <a:tr h="815340">
                <a:tc>
                  <a:txBody>
                    <a:bodyPr/>
                    <a:lstStyle/>
                    <a:p>
                      <a:pPr>
                        <a:defRPr sz="1100" b="0">
                          <a:solidFill>
                            <a:srgbClr val="333333"/>
                          </a:solidFill>
                          <a:latin typeface="Calibri"/>
                        </a:defRPr>
                      </a:pPr>
                      <a:r>
                        <a:t>Emissions accounting</a:t>
                      </a:r>
                    </a:p>
                  </a:txBody>
                  <a:tcPr anchor="t" marL="73152" marR="73152" marT="45720" marB="45720">
                    <a:solidFill>
                      <a:srgbClr val="FFFFFF"/>
                    </a:solidFill>
                  </a:tcPr>
                </a:tc>
                <a:tc>
                  <a:txBody>
                    <a:bodyPr/>
                    <a:lstStyle/>
                    <a:p>
                      <a:pPr>
                        <a:defRPr sz="1100" b="0">
                          <a:solidFill>
                            <a:srgbClr val="333333"/>
                          </a:solidFill>
                          <a:latin typeface="Calibri"/>
                        </a:defRPr>
                      </a:pPr>
                      <a:r>
                        <a:t>Unaffected by the claim — still allocated energy-basis (Annex IV, Note 7, p.28)</a:t>
                      </a:r>
                    </a:p>
                  </a:txBody>
                  <a:tcPr anchor="t" marL="73152" marR="73152" marT="45720" marB="45720">
                    <a:solidFill>
                      <a:srgbClr val="FFFFFF"/>
                    </a:solidFill>
                  </a:tcPr>
                </a:tc>
                <a:tc>
                  <a:txBody>
                    <a:bodyPr/>
                    <a:lstStyle/>
                    <a:p>
                      <a:pPr>
                        <a:defRPr sz="1100" b="0">
                          <a:solidFill>
                            <a:srgbClr val="333333"/>
                          </a:solidFill>
                          <a:latin typeface="Calibri"/>
                        </a:defRPr>
                      </a:pPr>
                      <a:r>
                        <a:t>Allocated separately, on an energy basis: “the relation of the total energy content of the intermediate main product to the total energy content of all products” (ISCC EU 205 v4.1, §4.3.8, p.55, incorporated into ISCC PLUS)</a:t>
                      </a:r>
                    </a:p>
                  </a:txBody>
                  <a:tcPr anchor="t" marL="73152" marR="73152" marT="45720" marB="45720">
                    <a:solidFill>
                      <a:srgbClr val="FFFFFF"/>
                    </a:solidFill>
                  </a:tcPr>
                </a:tc>
              </a:tr>
              <a:tr h="815340">
                <a:tc>
                  <a:txBody>
                    <a:bodyPr/>
                    <a:lstStyle/>
                    <a:p>
                      <a:pPr>
                        <a:defRPr sz="1100" b="0">
                          <a:solidFill>
                            <a:srgbClr val="333333"/>
                          </a:solidFill>
                          <a:latin typeface="Calibri"/>
                        </a:defRPr>
                      </a:pPr>
                      <a:r>
                        <a:t>Disclosure requirement</a:t>
                      </a:r>
                    </a:p>
                  </a:txBody>
                  <a:tcPr anchor="t" marL="73152" marR="73152" marT="45720" marB="45720">
                    <a:solidFill>
                      <a:srgbClr val="D6E4F0"/>
                    </a:solidFill>
                  </a:tcPr>
                </a:tc>
                <a:tc>
                  <a:txBody>
                    <a:bodyPr/>
                    <a:lstStyle/>
                    <a:p>
                      <a:pPr>
                        <a:defRPr sz="1100" b="0">
                          <a:solidFill>
                            <a:srgbClr val="333333"/>
                          </a:solidFill>
                          <a:latin typeface="Calibri"/>
                        </a:defRPr>
                      </a:pPr>
                      <a:r>
                        <a:t>Alternate claim label required — no “physical sustainable content” claim (§2.5.4, p.12)</a:t>
                      </a:r>
                    </a:p>
                  </a:txBody>
                  <a:tcPr anchor="t" marL="73152" marR="73152" marT="45720" marB="45720">
                    <a:solidFill>
                      <a:srgbClr val="D6E4F0"/>
                    </a:solidFill>
                  </a:tcPr>
                </a:tc>
                <a:tc>
                  <a:txBody>
                    <a:bodyPr/>
                    <a:lstStyle/>
                    <a:p>
                      <a:pPr>
                        <a:defRPr sz="1100" b="0">
                          <a:solidFill>
                            <a:srgbClr val="333333"/>
                          </a:solidFill>
                          <a:latin typeface="Calibri"/>
                        </a:defRPr>
                      </a:pPr>
                      <a:r>
                        <a:t>Outgoing Sustainability Declaration must flag compensation beyond proportion (§6.4.2, p.27)</a:t>
                      </a:r>
                    </a:p>
                  </a:txBody>
                  <a:tcPr anchor="t" marL="73152" marR="73152" marT="45720" marB="45720">
                    <a:solidFill>
                      <a:srgbClr val="D6E4F0"/>
                    </a:solidFill>
                  </a:tcPr>
                </a:tc>
              </a:tr>
              <a:tr h="815340">
                <a:tc>
                  <a:txBody>
                    <a:bodyPr/>
                    <a:lstStyle/>
                    <a:p>
                      <a:pPr>
                        <a:defRPr sz="1100" b="0">
                          <a:solidFill>
                            <a:srgbClr val="333333"/>
                          </a:solidFill>
                          <a:latin typeface="Calibri"/>
                        </a:defRPr>
                      </a:pPr>
                      <a:r>
                        <a:t>Balance / bookkeeping</a:t>
                      </a:r>
                    </a:p>
                  </a:txBody>
                  <a:tcPr anchor="t" marL="73152" marR="73152" marT="45720" marB="45720">
                    <a:solidFill>
                      <a:srgbClr val="FFFFFF"/>
                    </a:solidFill>
                  </a:tcPr>
                </a:tc>
                <a:tc>
                  <a:txBody>
                    <a:bodyPr/>
                    <a:lstStyle/>
                    <a:p>
                      <a:pPr>
                        <a:defRPr sz="1100" b="0">
                          <a:solidFill>
                            <a:srgbClr val="333333"/>
                          </a:solidFill>
                          <a:latin typeface="Calibri"/>
                        </a:defRPr>
                      </a:pPr>
                      <a:r>
                        <a:t>Non-negative balance every 3 months, documented (§2.4.5, p.12)</a:t>
                      </a:r>
                    </a:p>
                  </a:txBody>
                  <a:tcPr anchor="t" marL="73152" marR="73152" marT="45720" marB="45720">
                    <a:solidFill>
                      <a:srgbClr val="FFFFFF"/>
                    </a:solidFill>
                  </a:tcPr>
                </a:tc>
                <a:tc>
                  <a:txBody>
                    <a:bodyPr/>
                    <a:lstStyle/>
                    <a:p>
                      <a:pPr>
                        <a:defRPr sz="1100" b="0">
                          <a:solidFill>
                            <a:srgbClr val="333333"/>
                          </a:solidFill>
                          <a:latin typeface="Calibri"/>
                        </a:defRPr>
                      </a:pPr>
                      <a:r>
                        <a:t>Site-specific mass balance, documented operational data (§6.3, p.21)</a:t>
                      </a:r>
                    </a:p>
                  </a:txBody>
                  <a:tcPr anchor="t" marL="73152" marR="73152" marT="45720" marB="45720">
                    <a:solidFill>
                      <a:srgbClr val="FFFFFF"/>
                    </a:solidFill>
                  </a:tcPr>
                </a:tc>
              </a:tr>
              <a:tr h="815340">
                <a:tc>
                  <a:txBody>
                    <a:bodyPr/>
                    <a:lstStyle/>
                    <a:p>
                      <a:pPr>
                        <a:defRPr sz="1100" b="0">
                          <a:solidFill>
                            <a:srgbClr val="333333"/>
                          </a:solidFill>
                          <a:latin typeface="Calibri"/>
                        </a:defRPr>
                      </a:pPr>
                      <a:r>
                        <a:t>Status</a:t>
                      </a:r>
                    </a:p>
                  </a:txBody>
                  <a:tcPr anchor="t" marL="73152" marR="73152" marT="45720" marB="45720">
                    <a:solidFill>
                      <a:srgbClr val="D6E4F0"/>
                    </a:solidFill>
                  </a:tcPr>
                </a:tc>
                <a:tc>
                  <a:txBody>
                    <a:bodyPr/>
                    <a:lstStyle/>
                    <a:p>
                      <a:pPr>
                        <a:defRPr sz="1100" b="0">
                          <a:solidFill>
                            <a:srgbClr val="333333"/>
                          </a:solidFill>
                          <a:latin typeface="Calibri"/>
                        </a:defRPr>
                      </a:pPr>
                      <a:r>
                        <a:t>Published, in-force methodology with a numeric worked example (Annex IV)</a:t>
                      </a:r>
                    </a:p>
                  </a:txBody>
                  <a:tcPr anchor="t" marL="73152" marR="73152" marT="45720" marB="45720">
                    <a:solidFill>
                      <a:srgbClr val="D6E4F0"/>
                    </a:solidFill>
                  </a:tcPr>
                </a:tc>
                <a:tc>
                  <a:txBody>
                    <a:bodyPr/>
                    <a:lstStyle/>
                    <a:p>
                      <a:pPr>
                        <a:defRPr sz="1100" b="0">
                          <a:solidFill>
                            <a:srgbClr val="333333"/>
                          </a:solidFill>
                          <a:latin typeface="Calibri"/>
                        </a:defRPr>
                      </a:pPr>
                      <a:r>
                        <a:t>Published, in-force methodology (203-2 v1.1, valid 13 Nov 2025)</a:t>
                      </a:r>
                    </a:p>
                  </a:txBody>
                  <a:tcPr anchor="t" marL="73152" marR="73152" marT="45720" marB="45720">
                    <a:solidFill>
                      <a:srgbClr val="D6E4F0"/>
                    </a:solidFill>
                  </a:tcPr>
                </a:tc>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005840"/>
            <a:ext cx="11064240" cy="5349240"/>
          </a:xfrm>
          <a:prstGeom prst="rect">
            <a:avLst/>
          </a:prstGeom>
          <a:noFill/>
        </p:spPr>
        <p:txBody>
          <a:bodyPr wrap="square">
            <a:spAutoFit/>
          </a:bodyPr>
          <a:lstStyle/>
          <a:p>
            <a:pPr algn="l">
              <a:spcAft>
                <a:spcPts val="800"/>
              </a:spcAft>
              <a:defRPr sz="1150" b="1" i="0">
                <a:solidFill>
                  <a:srgbClr val="333333"/>
                </a:solidFill>
                <a:latin typeface="Calibri"/>
              </a:defRPr>
            </a:pPr>
            <a:r>
              <a:t>RSB Standard for Advanced Fuels, RSB-STD-01-010, Version 2.8, published April 2026.</a:t>
            </a:r>
          </a:p>
          <a:p>
            <a:pPr algn="l">
              <a:spcAft>
                <a:spcPts val="800"/>
              </a:spcAft>
              <a:defRPr sz="1050" b="0" i="0">
                <a:solidFill>
                  <a:srgbClr val="5A5A5A"/>
                </a:solidFill>
                <a:latin typeface="Calibri"/>
              </a:defRPr>
            </a:pPr>
            <a:r>
              <a:t>   Cited: §2.4.2 (p.11), §2.4.5 (p.12), §2.5.4 (p.12), Annex IV (pp.26, 28, 29).</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RSB Standard for ICAO CORSIA, RSB-STD-12-001, Version 1.7, published April 2026.</a:t>
            </a:r>
          </a:p>
          <a:p>
            <a:pPr algn="l">
              <a:spcAft>
                <a:spcPts val="800"/>
              </a:spcAft>
              <a:defRPr sz="1050" b="0" i="0">
                <a:solidFill>
                  <a:srgbClr val="5A5A5A"/>
                </a:solidFill>
                <a:latin typeface="Calibri"/>
              </a:defRPr>
            </a:pPr>
            <a:r>
              <a:t>   Cited: §3.4.7.1 (p.23).</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PLUS 203-2, Chain of Custody, Version 1.1, valid from 13 November 2025.</a:t>
            </a:r>
          </a:p>
          <a:p>
            <a:pPr algn="l">
              <a:spcAft>
                <a:spcPts val="800"/>
              </a:spcAft>
              <a:defRPr sz="1050" b="0" i="0">
                <a:solidFill>
                  <a:srgbClr val="5A5A5A"/>
                </a:solidFill>
                <a:latin typeface="Calibri"/>
              </a:defRPr>
            </a:pPr>
            <a:r>
              <a:t>   Cited: §6.1 (pp.17–18), §6.2 (p.18), §6.3 (p.21), §6.4.2 (pp.26–27).</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EU 205, Greenhouse Gas Emissions, Version 4.1, valid from 1 January 2024.</a:t>
            </a:r>
          </a:p>
          <a:p>
            <a:pPr algn="l">
              <a:spcAft>
                <a:spcPts val="800"/>
              </a:spcAft>
              <a:defRPr sz="1050" b="0" i="0">
                <a:solidFill>
                  <a:srgbClr val="5A5A5A"/>
                </a:solidFill>
                <a:latin typeface="Calibri"/>
              </a:defRPr>
            </a:pPr>
            <a:r>
              <a:t>   Cited: §4.3.8 Allocation of emissions to main- and co-products (p.55).</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PLUS System Structure and Overview of ISCC PLUS Documents, Version 1.2, valid from 13 November 2025.</a:t>
            </a:r>
          </a:p>
          <a:p>
            <a:pPr algn="l">
              <a:spcAft>
                <a:spcPts val="800"/>
              </a:spcAft>
              <a:defRPr sz="1050" b="0" i="0">
                <a:solidFill>
                  <a:srgbClr val="5A5A5A"/>
                </a:solidFill>
                <a:latin typeface="Calibri"/>
              </a:defRPr>
            </a:pPr>
            <a:r>
              <a:t>   Cited: Table 1 (p.6) — confirms ISCC EU 205 is a normative ISCC PLUS System Document.</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Questions and Answers on the Certification of Co-Processing, Version 1.0, valid from 22 September 2025.</a:t>
            </a:r>
          </a:p>
          <a:p>
            <a:pPr algn="l">
              <a:spcAft>
                <a:spcPts val="800"/>
              </a:spcAft>
              <a:defRPr sz="1050" b="0" i="0">
                <a:solidFill>
                  <a:srgbClr val="5A5A5A"/>
                </a:solidFill>
                <a:latin typeface="Calibri"/>
              </a:defRPr>
            </a:pPr>
            <a:r>
              <a:t>   Cited: “Detection of low bio-content” (p.14).</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CORSIA 203, Traceability and Chain of Custody, Version 2.0.</a:t>
            </a:r>
          </a:p>
          <a:p>
            <a:pPr algn="l">
              <a:spcAft>
                <a:spcPts val="800"/>
              </a:spcAft>
              <a:defRPr sz="1050" b="0" i="0">
                <a:solidFill>
                  <a:srgbClr val="5A5A5A"/>
                </a:solidFill>
                <a:latin typeface="Calibri"/>
              </a:defRPr>
            </a:pPr>
            <a:r>
              <a:t>   Cited: §4.4.4 Co-Processing (p.42).</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PLUS material list, “List of material eligible for ISCC PLUS certification,” 9 June 2025.</a:t>
            </a:r>
          </a:p>
          <a:p>
            <a:pPr algn="l">
              <a:spcAft>
                <a:spcPts val="800"/>
              </a:spcAft>
              <a:defRPr sz="1050" b="0" i="0">
                <a:solidFill>
                  <a:srgbClr val="5A5A5A"/>
                </a:solidFill>
                <a:latin typeface="Calibri"/>
              </a:defRPr>
            </a:pPr>
            <a:r>
              <a:t>   Cited: p.1 (“circular” designation), p.3 (mixed plastic waste eligibility).</a:t>
            </a:r>
          </a:p>
          <a:p>
            <a:pPr algn="l">
              <a:spcAft>
                <a:spcPts val="800"/>
              </a:spcAft>
              <a:defRPr sz="400" b="0" i="0">
                <a:solidFill>
                  <a:srgbClr val="333333"/>
                </a:solidFill>
                <a:latin typeface="Calibri"/>
              </a:defRPr>
            </a:pPr>
          </a:p>
          <a:p>
            <a:pPr algn="l">
              <a:spcAft>
                <a:spcPts val="800"/>
              </a:spcAft>
              <a:defRPr sz="1150" b="1" i="0">
                <a:solidFill>
                  <a:srgbClr val="333333"/>
                </a:solidFill>
                <a:latin typeface="Calibri"/>
              </a:defRPr>
            </a:pPr>
            <a:r>
              <a:t>ISCC System, “Certified Free Attribution for Scaling-up the Circular Economy,” published 1 April 2026, iscc-system.org.</a:t>
            </a:r>
          </a:p>
          <a:p>
            <a:pPr algn="l">
              <a:spcAft>
                <a:spcPts val="800"/>
              </a:spcAft>
              <a:defRPr sz="1050" b="0" i="0">
                <a:solidFill>
                  <a:srgbClr val="5A5A5A"/>
                </a:solidFill>
                <a:latin typeface="Calibri"/>
              </a:defRPr>
            </a:pPr>
            <a:r>
              <a:t>   Cited in full for the chemical-recycling worked example and guardrails.</a:t>
            </a:r>
          </a:p>
          <a:p>
            <a:pPr algn="l">
              <a:spcAft>
                <a:spcPts val="800"/>
              </a:spcAft>
              <a:defRPr sz="600" b="0" i="0">
                <a:solidFill>
                  <a:srgbClr val="333333"/>
                </a:solidFill>
                <a:latin typeface="Calibri"/>
              </a:defRPr>
            </a:pPr>
          </a:p>
          <a:p>
            <a:pPr algn="l">
              <a:spcAft>
                <a:spcPts val="800"/>
              </a:spcAft>
              <a:defRPr sz="1050" b="0" i="1">
                <a:solidFill>
                  <a:srgbClr val="5A5A5A"/>
                </a:solidFill>
                <a:latin typeface="Calibri"/>
              </a:defRPr>
            </a:pPr>
            <a:r>
              <a:t>Scope: RSB Advanced Fuels, RSB CORSIA, ISCC PLUS, and ISCC CORSIA. Excludes EU RED, LCFS, and ISCC EU as a standalone track (distinct from the ISCC EU documents incorporated into ISCC PLUS, which are in scope).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