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4"/>
  </p:normalViewPr>
  <p:slideViewPr>
    <p:cSldViewPr snapToGrid="0" snapToObjects="1">
      <p:cViewPr varScale="1">
        <p:scale>
          <a:sx n="112" d="100"/>
          <a:sy n="112" d="100"/>
        </p:scale>
        <p:origin x="6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1"/>
        </a:solidFill>
        <a:effectLst/>
      </p:bgPr>
    </p:bg>
    <p:spTree>
      <p:nvGrpSpPr>
        <p:cNvPr id="1" name=""/>
        <p:cNvGrpSpPr/>
        <p:nvPr/>
      </p:nvGrpSpPr>
      <p:grpSpPr>
        <a:xfrm>
          <a:off x="0" y="0"/>
          <a:ext cx="0" cy="0"/>
          <a:chOff x="0" y="0"/>
          <a:chExt cx="0" cy="0"/>
        </a:xfrm>
      </p:grpSpPr>
      <p:sp>
        <p:nvSpPr>
          <p:cNvPr id="2" name="TextBox 1"/>
          <p:cNvSpPr txBox="1"/>
          <p:nvPr/>
        </p:nvSpPr>
        <p:spPr>
          <a:xfrm>
            <a:off x="731520" y="2377440"/>
            <a:ext cx="10698480" cy="1371600"/>
          </a:xfrm>
          <a:prstGeom prst="rect">
            <a:avLst/>
          </a:prstGeom>
          <a:noFill/>
        </p:spPr>
        <p:txBody>
          <a:bodyPr wrap="square">
            <a:spAutoFit/>
          </a:bodyPr>
          <a:lstStyle/>
          <a:p>
            <a:pPr>
              <a:defRPr sz="3800" b="1">
                <a:solidFill>
                  <a:srgbClr val="FFFFFF"/>
                </a:solidFill>
                <a:latin typeface="Calibri"/>
              </a:defRPr>
            </a:pPr>
            <a:r>
              <a:t>Free Allocation of Sustainability Attributes</a:t>
            </a:r>
          </a:p>
          <a:p>
            <a:pPr>
              <a:defRPr sz="2200">
                <a:solidFill>
                  <a:srgbClr val="D6E4F0"/>
                </a:solidFill>
                <a:latin typeface="Calibri"/>
              </a:defRPr>
            </a:pPr>
            <a:r>
              <a:t>How RSB and ISCC Treat It, and Why</a:t>
            </a:r>
          </a:p>
        </p:txBody>
      </p:sp>
      <p:sp>
        <p:nvSpPr>
          <p:cNvPr id="3" name="Rectangle 2"/>
          <p:cNvSpPr/>
          <p:nvPr/>
        </p:nvSpPr>
        <p:spPr>
          <a:xfrm>
            <a:off x="731520" y="3886200"/>
            <a:ext cx="2011680" cy="381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1</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Two premier certification systems, one shared design choice</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800" b="1" i="0">
                <a:solidFill>
                  <a:srgbClr val="1B2A41"/>
                </a:solidFill>
                <a:latin typeface="Calibri"/>
              </a:defRPr>
            </a:pPr>
            <a:r>
              <a:t>RSB (Roundtable on Sustainable Biomaterials) and ISCC (International Sustainability &amp; Carbon Certification) are the two leading global certification systems governing sustainability attributes for renewable fuels — the ones that determine whether a biogenic claim on a barrel of fuel is credible.</a:t>
            </a:r>
          </a:p>
          <a:p>
            <a:pPr algn="l">
              <a:spcAft>
                <a:spcPts val="800"/>
              </a:spcAft>
              <a:defRPr sz="1000" b="0" i="0">
                <a:solidFill>
                  <a:srgbClr val="333333"/>
                </a:solidFill>
                <a:latin typeface="Calibri"/>
              </a:defRPr>
            </a:pPr>
            <a:endParaRPr/>
          </a:p>
          <a:p>
            <a:pPr algn="l">
              <a:spcAft>
                <a:spcPts val="800"/>
              </a:spcAft>
              <a:defRPr sz="1600" b="0" i="0">
                <a:solidFill>
                  <a:srgbClr val="333333"/>
                </a:solidFill>
                <a:latin typeface="Calibri"/>
              </a:defRPr>
            </a:pPr>
            <a:r>
              <a:t>Both organizations run more than one certification track. This matters because the tracks disagree with each other on a specific question:</a:t>
            </a:r>
          </a:p>
          <a:p>
            <a:pPr algn="l">
              <a:spcAft>
                <a:spcPts val="800"/>
              </a:spcAft>
              <a:defRPr sz="400" b="0" i="0">
                <a:solidFill>
                  <a:srgbClr val="333333"/>
                </a:solidFill>
                <a:latin typeface="Calibri"/>
              </a:defRPr>
            </a:pPr>
            <a:endParaRPr/>
          </a:p>
          <a:p>
            <a:pPr algn="l">
              <a:spcAft>
                <a:spcPts val="800"/>
              </a:spcAft>
              <a:defRPr sz="1800" b="1" i="0">
                <a:solidFill>
                  <a:srgbClr val="2E5C6E"/>
                </a:solidFill>
                <a:latin typeface="Calibri"/>
              </a:defRPr>
            </a:pPr>
            <a:r>
              <a:t>Can the biogenic share of a co-processed or blended fuel be assigned freely to one output stream — rather than spread proportionally across every output — as long as the total assigned never exceeds the physical amount actually present?</a:t>
            </a:r>
          </a:p>
          <a:p>
            <a:pPr algn="l">
              <a:spcAft>
                <a:spcPts val="800"/>
              </a:spcAft>
              <a:defRPr sz="1000" b="0" i="0">
                <a:solidFill>
                  <a:srgbClr val="333333"/>
                </a:solidFill>
                <a:latin typeface="Calibri"/>
              </a:defRPr>
            </a:pPr>
            <a:endParaRPr/>
          </a:p>
          <a:p>
            <a:pPr algn="l">
              <a:spcAft>
                <a:spcPts val="800"/>
              </a:spcAft>
              <a:defRPr sz="1600" b="0" i="0">
                <a:solidFill>
                  <a:srgbClr val="333333"/>
                </a:solidFill>
                <a:latin typeface="Calibri"/>
              </a:defRPr>
            </a:pPr>
            <a:r>
              <a:t>The answer depends entirely on which track within each body is in play.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2</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The CORSIA track: no free allocation, in either system</a:t>
            </a:r>
          </a:p>
        </p:txBody>
      </p:sp>
      <p:sp>
        <p:nvSpPr>
          <p:cNvPr id="5" name="TextBox 4"/>
          <p:cNvSpPr txBox="1"/>
          <p:nvPr/>
        </p:nvSpPr>
        <p:spPr>
          <a:xfrm>
            <a:off x="548640" y="1097280"/>
            <a:ext cx="11064240" cy="640080"/>
          </a:xfrm>
          <a:prstGeom prst="rect">
            <a:avLst/>
          </a:prstGeom>
          <a:noFill/>
        </p:spPr>
        <p:txBody>
          <a:bodyPr wrap="square">
            <a:spAutoFit/>
          </a:bodyPr>
          <a:lstStyle/>
          <a:p>
            <a:pPr algn="l">
              <a:spcAft>
                <a:spcPts val="800"/>
              </a:spcAft>
              <a:defRPr sz="1500" b="1" i="0">
                <a:solidFill>
                  <a:srgbClr val="1B2A41"/>
                </a:solidFill>
                <a:latin typeface="Calibri"/>
              </a:defRPr>
            </a:pPr>
            <a:r>
              <a:t>Both RSB and ISCC offer a certification option built specifically for ICAO's CORSIA aviation program. Neither allows free allocation there — because CORSIA's own accounting rules don't.</a:t>
            </a:r>
          </a:p>
        </p:txBody>
      </p:sp>
      <p:sp>
        <p:nvSpPr>
          <p:cNvPr id="6" name="Rounded Rectangle 5"/>
          <p:cNvSpPr/>
          <p:nvPr/>
        </p:nvSpPr>
        <p:spPr>
          <a:xfrm>
            <a:off x="548640" y="1920240"/>
            <a:ext cx="5394960" cy="3566160"/>
          </a:xfrm>
          <a:prstGeom prst="roundRect">
            <a:avLst/>
          </a:prstGeom>
          <a:solidFill>
            <a:srgbClr val="D6E4F0"/>
          </a:solidFill>
          <a:ln w="12700">
            <a:solidFill>
              <a:srgbClr val="2E5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63640" y="1920240"/>
            <a:ext cx="5394960" cy="3566160"/>
          </a:xfrm>
          <a:prstGeom prst="roundRect">
            <a:avLst/>
          </a:prstGeom>
          <a:solidFill>
            <a:srgbClr val="D6E4F0"/>
          </a:solidFill>
          <a:ln w="12700">
            <a:solidFill>
              <a:srgbClr val="2E5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103120"/>
            <a:ext cx="4937760" cy="3200400"/>
          </a:xfrm>
          <a:prstGeom prst="rect">
            <a:avLst/>
          </a:prstGeom>
          <a:noFill/>
        </p:spPr>
        <p:txBody>
          <a:bodyPr wrap="square">
            <a:spAutoFit/>
          </a:bodyPr>
          <a:lstStyle/>
          <a:p>
            <a:pPr algn="l">
              <a:spcAft>
                <a:spcPts val="800"/>
              </a:spcAft>
              <a:defRPr sz="1600" b="1" i="0">
                <a:solidFill>
                  <a:srgbClr val="1B2A41"/>
                </a:solidFill>
                <a:latin typeface="Calibri"/>
              </a:defRPr>
            </a:pPr>
            <a:r>
              <a:t>RSB Standard for ICAO CORSIA</a:t>
            </a:r>
          </a:p>
          <a:p>
            <a:pPr algn="l">
              <a:spcAft>
                <a:spcPts val="800"/>
              </a:spcAft>
              <a:defRPr sz="1100" b="0" i="1">
                <a:solidFill>
                  <a:srgbClr val="5A5A5A"/>
                </a:solidFill>
                <a:latin typeface="Calibri"/>
              </a:defRPr>
            </a:pPr>
            <a:r>
              <a:t>RSB-STD-12-001, v1.7, April 2026, §3.4.7.1, p.23</a:t>
            </a:r>
          </a:p>
          <a:p>
            <a:pPr algn="l">
              <a:spcAft>
                <a:spcPts val="800"/>
              </a:spcAft>
              <a:defRPr sz="600" b="0" i="0">
                <a:solidFill>
                  <a:srgbClr val="333333"/>
                </a:solidFill>
                <a:latin typeface="Calibri"/>
              </a:defRPr>
            </a:pPr>
            <a:endParaRPr/>
          </a:p>
          <a:p>
            <a:pPr algn="l">
              <a:spcAft>
                <a:spcPts val="800"/>
              </a:spcAft>
              <a:defRPr sz="1300" b="0" i="1">
                <a:solidFill>
                  <a:srgbClr val="333333"/>
                </a:solidFill>
                <a:latin typeface="Calibri"/>
              </a:defRPr>
            </a:pPr>
            <a:r>
              <a:t>“...energy-based allocation shall be used to assign emission burdens to all co-products in proportion to their contribution to the total energy content... of products and co-products.”</a:t>
            </a:r>
          </a:p>
        </p:txBody>
      </p:sp>
      <p:sp>
        <p:nvSpPr>
          <p:cNvPr id="9" name="TextBox 8"/>
          <p:cNvSpPr txBox="1"/>
          <p:nvPr/>
        </p:nvSpPr>
        <p:spPr>
          <a:xfrm>
            <a:off x="6492240" y="2103120"/>
            <a:ext cx="4937760" cy="3200400"/>
          </a:xfrm>
          <a:prstGeom prst="rect">
            <a:avLst/>
          </a:prstGeom>
          <a:noFill/>
        </p:spPr>
        <p:txBody>
          <a:bodyPr wrap="square">
            <a:spAutoFit/>
          </a:bodyPr>
          <a:lstStyle/>
          <a:p>
            <a:pPr algn="l">
              <a:spcAft>
                <a:spcPts val="800"/>
              </a:spcAft>
              <a:defRPr sz="1600" b="1" i="0">
                <a:solidFill>
                  <a:srgbClr val="1B2A41"/>
                </a:solidFill>
                <a:latin typeface="Calibri"/>
              </a:defRPr>
            </a:pPr>
            <a:r>
              <a:t>ISCC CORSIA 203, Traceability and Chain of Custody</a:t>
            </a:r>
          </a:p>
          <a:p>
            <a:pPr algn="l">
              <a:spcAft>
                <a:spcPts val="800"/>
              </a:spcAft>
              <a:defRPr sz="1100" b="0" i="1">
                <a:solidFill>
                  <a:srgbClr val="5A5A5A"/>
                </a:solidFill>
                <a:latin typeface="Calibri"/>
              </a:defRPr>
            </a:pPr>
            <a:r>
              <a:t>Version 2.0, §4.4.4 Co-Processing, p.42</a:t>
            </a:r>
          </a:p>
          <a:p>
            <a:pPr algn="l">
              <a:spcAft>
                <a:spcPts val="800"/>
              </a:spcAft>
              <a:defRPr sz="600" b="0" i="0">
                <a:solidFill>
                  <a:srgbClr val="333333"/>
                </a:solidFill>
                <a:latin typeface="Calibri"/>
              </a:defRPr>
            </a:pPr>
            <a:endParaRPr/>
          </a:p>
          <a:p>
            <a:pPr algn="l">
              <a:spcAft>
                <a:spcPts val="800"/>
              </a:spcAft>
              <a:defRPr sz="1300" b="0" i="1">
                <a:solidFill>
                  <a:srgbClr val="333333"/>
                </a:solidFill>
                <a:latin typeface="Calibri"/>
              </a:defRPr>
            </a:pPr>
            <a:r>
              <a:t>“For all three approaches [energetic determination, efficiency/loss determination, or ¹⁴C analysis], free attribution of the sustainable share to outgoing products is not allowed.”</a:t>
            </a:r>
          </a:p>
        </p:txBody>
      </p:sp>
      <p:sp>
        <p:nvSpPr>
          <p:cNvPr id="10" name="TextBox 9"/>
          <p:cNvSpPr txBox="1"/>
          <p:nvPr/>
        </p:nvSpPr>
        <p:spPr>
          <a:xfrm>
            <a:off x="548640" y="5669280"/>
            <a:ext cx="11064240" cy="548640"/>
          </a:xfrm>
          <a:prstGeom prst="rect">
            <a:avLst/>
          </a:prstGeom>
          <a:noFill/>
        </p:spPr>
        <p:txBody>
          <a:bodyPr wrap="square">
            <a:spAutoFit/>
          </a:bodyPr>
          <a:lstStyle/>
          <a:p>
            <a:pPr algn="l">
              <a:spcAft>
                <a:spcPts val="800"/>
              </a:spcAft>
              <a:defRPr sz="1500" b="1" i="0">
                <a:solidFill>
                  <a:srgbClr val="2E5C6E"/>
                </a:solidFill>
                <a:latin typeface="Calibri"/>
              </a:defRPr>
            </a:pPr>
            <a:r>
              <a:t>This is a boundary condition, not the main story. Both bodies also run a separate, voluntary track — and that's where free allocation lives.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E5C6E"/>
        </a:solidFill>
        <a:effectLst/>
      </p:bgPr>
    </p:bg>
    <p:spTree>
      <p:nvGrpSpPr>
        <p:cNvPr id="1" name=""/>
        <p:cNvGrpSpPr/>
        <p:nvPr/>
      </p:nvGrpSpPr>
      <p:grpSpPr>
        <a:xfrm>
          <a:off x="0" y="0"/>
          <a:ext cx="0" cy="0"/>
          <a:chOff x="0" y="0"/>
          <a:chExt cx="0" cy="0"/>
        </a:xfrm>
      </p:grpSpPr>
      <p:sp>
        <p:nvSpPr>
          <p:cNvPr id="2" name="TextBox 1"/>
          <p:cNvSpPr txBox="1"/>
          <p:nvPr/>
        </p:nvSpPr>
        <p:spPr>
          <a:xfrm>
            <a:off x="731520" y="2377440"/>
            <a:ext cx="10698480" cy="2011680"/>
          </a:xfrm>
          <a:prstGeom prst="rect">
            <a:avLst/>
          </a:prstGeom>
          <a:noFill/>
        </p:spPr>
        <p:txBody>
          <a:bodyPr wrap="square">
            <a:spAutoFit/>
          </a:bodyPr>
          <a:lstStyle/>
          <a:p>
            <a:pPr>
              <a:defRPr sz="3000" b="1">
                <a:solidFill>
                  <a:srgbClr val="D6E4F0"/>
                </a:solidFill>
              </a:defRPr>
            </a:pPr>
            <a:r>
              <a:t>However —</a:t>
            </a:r>
          </a:p>
          <a:p>
            <a:pPr>
              <a:spcBef>
                <a:spcPts val="1000"/>
              </a:spcBef>
              <a:defRPr sz="3000" b="1">
                <a:solidFill>
                  <a:srgbClr val="FFFFFF"/>
                </a:solidFill>
              </a:defRPr>
            </a:pPr>
            <a:r>
              <a:t>both RSB and ISCC also run voluntary certification pathways that explicitly allow free allocation.</a:t>
            </a:r>
          </a:p>
        </p:txBody>
      </p:sp>
      <p:sp>
        <p:nvSpPr>
          <p:cNvPr id="3" name="TextBox 2"/>
          <p:cNvSpPr txBox="1"/>
          <p:nvPr/>
        </p:nvSpPr>
        <p:spPr>
          <a:xfrm>
            <a:off x="731520" y="4663440"/>
            <a:ext cx="10698480" cy="731520"/>
          </a:xfrm>
          <a:prstGeom prst="rect">
            <a:avLst/>
          </a:prstGeom>
          <a:noFill/>
        </p:spPr>
        <p:txBody>
          <a:bodyPr wrap="none">
            <a:spAutoFit/>
          </a:bodyPr>
          <a:lstStyle/>
          <a:p>
            <a:pPr>
              <a:defRPr sz="1800" i="1">
                <a:solidFill>
                  <a:srgbClr val="C0C8D4"/>
                </a:solidFill>
              </a:defRPr>
            </a:pPr>
            <a:r>
              <a:t>RSB Standard for Advanced Fuels  |  ISCC PLUS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3</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How RSB's free allocation works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300" b="0" i="0">
                <a:solidFill>
                  <a:srgbClr val="333333"/>
                </a:solidFill>
                <a:latin typeface="Calibri"/>
              </a:defRPr>
            </a:pPr>
            <a:r>
              <a:t>RSB Standard for Advanced Fuels (RSB-STD-01-010 v2.8, §2.4.2, p.11) offers flexible attribution as one of three ways to document a biogenic/fossil split — alongside mass balance and the radiocarbon method.</a:t>
            </a:r>
          </a:p>
          <a:p>
            <a:pPr algn="l">
              <a:spcAft>
                <a:spcPts val="800"/>
              </a:spcAft>
              <a:defRPr sz="1200" b="0" i="1">
                <a:solidFill>
                  <a:srgbClr val="333333"/>
                </a:solidFill>
                <a:latin typeface="Calibri"/>
              </a:defRPr>
            </a:pPr>
            <a:r>
              <a:t>Worked example (Annex IV, p.29): “1.1t of jet fuel will be sold with 100% bioattributed claim, while the remaining quantity of products will be sold with 0% bioattributed claim... limited by the amount of biogenic carbon content in the biobased feedstock considering the efficiency in converting the feedstock into output.” The cap (Annex IV, p.26): eligible carbon = feedstock mass × carbon content × conversion efficiency — 10t of biogenic carbon in, at 90% conversion, yields a 9t ceiling.</a:t>
            </a:r>
          </a:p>
          <a:p>
            <a:pPr algn="l">
              <a:spcAft>
                <a:spcPts val="800"/>
              </a:spcAft>
              <a:defRPr sz="500" b="0" i="0">
                <a:solidFill>
                  <a:srgbClr val="333333"/>
                </a:solidFill>
                <a:latin typeface="Calibri"/>
              </a:defRPr>
            </a:pPr>
            <a:endParaRPr/>
          </a:p>
          <a:p>
            <a:pPr algn="l">
              <a:spcAft>
                <a:spcPts val="800"/>
              </a:spcAft>
              <a:defRPr sz="1300" b="1" i="0">
                <a:solidFill>
                  <a:srgbClr val="333333"/>
                </a:solidFill>
                <a:latin typeface="Calibri"/>
              </a:defRPr>
            </a:pPr>
            <a:r>
              <a:t>Guardrails (§2.4.5, p.12 — all four are numbered requirements in the standard itself):</a:t>
            </a:r>
          </a:p>
          <a:p>
            <a:pPr algn="l">
              <a:spcAft>
                <a:spcPts val="800"/>
              </a:spcAft>
              <a:defRPr sz="1200" b="0" i="0">
                <a:solidFill>
                  <a:srgbClr val="333333"/>
                </a:solidFill>
                <a:latin typeface="Calibri"/>
              </a:defRPr>
            </a:pPr>
            <a:r>
              <a:t>   •  Documentation: must record “the amount of bio-based or eligible non-biogenic feedstock... used as material,” “the carbon content (%, w/w)... entering the industrial process,” and “the quantification of losses, by mass... for each lost material.”</a:t>
            </a:r>
          </a:p>
          <a:p>
            <a:pPr algn="l">
              <a:spcAft>
                <a:spcPts val="800"/>
              </a:spcAft>
              <a:defRPr sz="1200" b="0" i="0">
                <a:solidFill>
                  <a:srgbClr val="333333"/>
                </a:solidFill>
                <a:latin typeface="Calibri"/>
              </a:defRPr>
            </a:pPr>
            <a:r>
              <a:t>   •  Book-keeping system: “a documented book-keeping system in place to monitor the balance of bio-based or eligible non-biogenic feedstock that have been added to the system and advanced fuel withdrawn from the system.”</a:t>
            </a:r>
          </a:p>
          <a:p>
            <a:pPr algn="l">
              <a:spcAft>
                <a:spcPts val="800"/>
              </a:spcAft>
              <a:defRPr sz="1200" b="0" i="0">
                <a:solidFill>
                  <a:srgbClr val="333333"/>
                </a:solidFill>
                <a:latin typeface="Calibri"/>
              </a:defRPr>
            </a:pPr>
            <a:r>
              <a:t>   •  Balance period: claims “balanced within a 3-month period” — a deficit may occur mid-period, but “a non-negative balance is achieved over the 3-months-period.”</a:t>
            </a:r>
          </a:p>
          <a:p>
            <a:pPr algn="l">
              <a:spcAft>
                <a:spcPts val="800"/>
              </a:spcAft>
              <a:defRPr sz="1200" b="0" i="0">
                <a:solidFill>
                  <a:srgbClr val="333333"/>
                </a:solidFill>
                <a:latin typeface="Calibri"/>
              </a:defRPr>
            </a:pPr>
            <a:r>
              <a:t>   •  Site boundary: one site, connected sites on the same pipeline/transport network, or separate sites only “if the operator can ensure and demonstrate... that double-booking does not occur.”</a:t>
            </a:r>
          </a:p>
          <a:p>
            <a:pPr algn="l">
              <a:spcAft>
                <a:spcPts val="800"/>
              </a:spcAft>
              <a:defRPr sz="1200" b="0" i="0">
                <a:solidFill>
                  <a:srgbClr val="333333"/>
                </a:solidFill>
                <a:latin typeface="Calibri"/>
              </a:defRPr>
            </a:pPr>
            <a:r>
              <a:t>   •  Emissions unaffected (Annex IV, Note 7, p.28): “Allocation of the GHG emissions among the outputs shall be performed on an energy basis” regardless of the claim.</a:t>
            </a:r>
          </a:p>
          <a:p>
            <a:pPr algn="l">
              <a:spcAft>
                <a:spcPts val="800"/>
              </a:spcAft>
              <a:defRPr sz="1200" b="0" i="0">
                <a:solidFill>
                  <a:srgbClr val="333333"/>
                </a:solidFill>
                <a:latin typeface="Calibri"/>
              </a:defRPr>
            </a:pPr>
            <a:r>
              <a:t>   •  Claim-label restriction (§2.5.4, p.12): output cannot claim “physical sustainable content” — an alternate label like “RSB-Compliant Advanced Fuel” is required instead.</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§2.4.2, §2.4.5, §2.5.4, Annex IV, pp.11, 12, 26, 28, 29.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4</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How ISCC's free allocation works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400" b="0" i="0">
                <a:solidFill>
                  <a:srgbClr val="333333"/>
                </a:solidFill>
                <a:latin typeface="Calibri"/>
              </a:defRPr>
            </a:pPr>
            <a:r>
              <a:t>ISCC PLUS 203-2, Chain of Custody v1.1 (valid 13 Nov 2025), §6.4.2, p.26, lists four mass-balancing options under its Credit Method — Free Attribution, Fuel-Use Excluded, Proportional, and Trace-the-Atom — and defines the first:</a:t>
            </a:r>
          </a:p>
          <a:p>
            <a:pPr algn="l">
              <a:spcAft>
                <a:spcPts val="800"/>
              </a:spcAft>
              <a:defRPr sz="1300" b="0" i="1">
                <a:solidFill>
                  <a:srgbClr val="333333"/>
                </a:solidFill>
                <a:latin typeface="Calibri"/>
              </a:defRPr>
            </a:pPr>
            <a:r>
              <a:t>“Under Free Attribution Approach, the system user can attribute the sustainability characteristics from the certified input materials to the products... This attribution can be done irrelevant of the proportion of the certified input material to the other inputs... System users can freely attribute the sustainability characteristics from the certified input(s) to one (or multiple) products.”</a:t>
            </a:r>
          </a:p>
          <a:p>
            <a:pPr algn="l">
              <a:spcAft>
                <a:spcPts val="800"/>
              </a:spcAft>
              <a:defRPr sz="500" b="0" i="0">
                <a:solidFill>
                  <a:srgbClr val="333333"/>
                </a:solidFill>
                <a:latin typeface="Calibri"/>
              </a:defRPr>
            </a:pPr>
            <a:endParaRPr/>
          </a:p>
          <a:p>
            <a:pPr algn="l">
              <a:spcAft>
                <a:spcPts val="800"/>
              </a:spcAft>
              <a:defRPr sz="1300" b="1" i="0">
                <a:solidFill>
                  <a:srgbClr val="333333"/>
                </a:solidFill>
                <a:latin typeface="Calibri"/>
              </a:defRPr>
            </a:pPr>
            <a:r>
              <a:t>Guardrails (§6.3, p.21 — apply to every mass-balancing option, Free Attribution included):</a:t>
            </a:r>
          </a:p>
          <a:p>
            <a:pPr algn="l">
              <a:spcAft>
                <a:spcPts val="800"/>
              </a:spcAft>
              <a:defRPr sz="1200" b="0" i="0">
                <a:solidFill>
                  <a:srgbClr val="333333"/>
                </a:solidFill>
                <a:latin typeface="Calibri"/>
              </a:defRPr>
            </a:pPr>
            <a:r>
              <a:t>   •  Physical output: “The amount of attributable credits cannot be higher than the physical output... It is not possible to attribute to a quantity of output which is not produced at the site.”</a:t>
            </a:r>
          </a:p>
          <a:p>
            <a:pPr algn="l">
              <a:spcAft>
                <a:spcPts val="800"/>
              </a:spcAft>
              <a:defRPr sz="1200" b="0" i="0">
                <a:solidFill>
                  <a:srgbClr val="333333"/>
                </a:solidFill>
                <a:latin typeface="Calibri"/>
              </a:defRPr>
            </a:pPr>
            <a:r>
              <a:t>   •  Chemical connectivity (§6.1, pp.17–18): the standard requires “the theoretical possibility of chemically converting the certified input(s) to the output(s)” plus real production infrastructure — so outputs must plausibly contain the certified input's molecules, not just carry a bookkeeping label.</a:t>
            </a:r>
          </a:p>
          <a:p>
            <a:pPr algn="l">
              <a:spcAft>
                <a:spcPts val="800"/>
              </a:spcAft>
              <a:defRPr sz="1200" b="0" i="0">
                <a:solidFill>
                  <a:srgbClr val="333333"/>
                </a:solidFill>
                <a:latin typeface="Calibri"/>
              </a:defRPr>
            </a:pPr>
            <a:r>
              <a:t>   •  Operational data: every input, output, loss, and conversion factor behind the claim “shall be collected and documented” and valid for the audit period — not asserted after the fact.</a:t>
            </a:r>
          </a:p>
          <a:p>
            <a:pPr algn="l">
              <a:spcAft>
                <a:spcPts val="800"/>
              </a:spcAft>
              <a:defRPr sz="1200" b="0" i="0">
                <a:solidFill>
                  <a:srgbClr val="333333"/>
                </a:solidFill>
                <a:latin typeface="Calibri"/>
              </a:defRPr>
            </a:pPr>
            <a:r>
              <a:t>   •  Site-specific: mass balance runs per physical site — “company level mass balance is not possible.”</a:t>
            </a:r>
          </a:p>
          <a:p>
            <a:pPr algn="l">
              <a:spcAft>
                <a:spcPts val="800"/>
              </a:spcAft>
              <a:defRPr sz="1200" b="0" i="0">
                <a:solidFill>
                  <a:srgbClr val="333333"/>
                </a:solidFill>
                <a:latin typeface="Calibri"/>
              </a:defRPr>
            </a:pPr>
            <a:r>
              <a:t>   •  Disclosure (§6.4.2, p.27): where an output's certified share is “compensated” beyond the proportion of certified input actually used, the outgoing Sustainability Declaration must say so.</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ISCC PLUS 203-2 Chain of Custody v1.1, §6.1, §6.3, §6.4.2, pp.17–18, 21, 26–27.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5</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Why two independent standard-setters built the same tool</a:t>
            </a:r>
          </a:p>
        </p:txBody>
      </p:sp>
      <p:sp>
        <p:nvSpPr>
          <p:cNvPr id="5" name="TextBox 4"/>
          <p:cNvSpPr txBox="1"/>
          <p:nvPr/>
        </p:nvSpPr>
        <p:spPr>
          <a:xfrm>
            <a:off x="548640" y="1234440"/>
            <a:ext cx="11064240" cy="5029200"/>
          </a:xfrm>
          <a:prstGeom prst="rect">
            <a:avLst/>
          </a:prstGeom>
          <a:noFill/>
        </p:spPr>
        <p:txBody>
          <a:bodyPr wrap="square">
            <a:spAutoFit/>
          </a:bodyPr>
          <a:lstStyle/>
          <a:p>
            <a:pPr algn="l">
              <a:spcAft>
                <a:spcPts val="800"/>
              </a:spcAft>
              <a:defRPr sz="1700" b="0" i="0">
                <a:solidFill>
                  <a:srgbClr val="333333"/>
                </a:solidFill>
                <a:latin typeface="Calibri"/>
              </a:defRPr>
            </a:pPr>
            <a:r>
              <a:t>•  ¹⁴C testing measures real biogenic content — but breaks down at typical co-processing blend rates (bio-oil ≤5%). ISCC's own fix treats results under 0.5 pMC as zero (p.14).</a:t>
            </a:r>
          </a:p>
          <a:p>
            <a:pPr algn="l">
              <a:spcAft>
                <a:spcPts val="800"/>
              </a:spcAft>
              <a:defRPr sz="800" b="0" i="0">
                <a:solidFill>
                  <a:srgbClr val="333333"/>
                </a:solidFill>
                <a:latin typeface="Calibri"/>
              </a:defRPr>
            </a:pPr>
            <a:endParaRPr/>
          </a:p>
          <a:p>
            <a:pPr algn="l">
              <a:spcAft>
                <a:spcPts val="800"/>
              </a:spcAft>
              <a:defRPr sz="1700" b="0" i="0">
                <a:solidFill>
                  <a:srgbClr val="333333"/>
                </a:solidFill>
                <a:latin typeface="Calibri"/>
              </a:defRPr>
            </a:pPr>
            <a:r>
              <a:t>•  Markets price scarcity. Spreading a fixed biogenic quantity proportionally dilutes it below the threshold that matters anywhere — including the stream where decarbonization demand actually is (SAF).</a:t>
            </a:r>
          </a:p>
          <a:p>
            <a:pPr algn="l">
              <a:spcAft>
                <a:spcPts val="800"/>
              </a:spcAft>
              <a:defRPr sz="800" b="0" i="0">
                <a:solidFill>
                  <a:srgbClr val="333333"/>
                </a:solidFill>
                <a:latin typeface="Calibri"/>
              </a:defRPr>
            </a:pPr>
            <a:endParaRPr/>
          </a:p>
          <a:p>
            <a:pPr algn="l">
              <a:spcAft>
                <a:spcPts val="800"/>
              </a:spcAft>
              <a:defRPr sz="1700" b="0" i="0">
                <a:solidFill>
                  <a:srgbClr val="333333"/>
                </a:solidFill>
                <a:latin typeface="Calibri"/>
              </a:defRPr>
            </a:pPr>
            <a:r>
              <a:t>•  Free allocation concentrates that same, capped quantity into the highest-value stream. Total fossil carbon displaced doesn't change.</a:t>
            </a:r>
          </a:p>
          <a:p>
            <a:pPr algn="l">
              <a:spcAft>
                <a:spcPts val="800"/>
              </a:spcAft>
              <a:defRPr sz="800" b="0" i="0">
                <a:solidFill>
                  <a:srgbClr val="333333"/>
                </a:solidFill>
                <a:latin typeface="Calibri"/>
              </a:defRPr>
            </a:pPr>
            <a:endParaRPr/>
          </a:p>
          <a:p>
            <a:pPr algn="l">
              <a:spcAft>
                <a:spcPts val="800"/>
              </a:spcAft>
              <a:defRPr sz="1700" b="0" i="0">
                <a:solidFill>
                  <a:srgbClr val="333333"/>
                </a:solidFill>
                <a:latin typeface="Calibri"/>
              </a:defRPr>
            </a:pPr>
            <a:r>
              <a:t>•  This is book-and-claim — the same mechanism as RECs. Legitimacy comes from the guardrails (physical cap + disclosure), not molecule-level tracing.</a:t>
            </a:r>
          </a:p>
          <a:p>
            <a:pPr algn="l">
              <a:spcAft>
                <a:spcPts val="800"/>
              </a:spcAft>
              <a:defRPr sz="800" b="0" i="0">
                <a:solidFill>
                  <a:srgbClr val="333333"/>
                </a:solidFill>
                <a:latin typeface="Calibri"/>
              </a:defRPr>
            </a:pPr>
            <a:endParaRPr/>
          </a:p>
          <a:p>
            <a:pPr algn="l">
              <a:spcAft>
                <a:spcPts val="800"/>
              </a:spcAft>
              <a:defRPr sz="1700" b="1" i="0">
                <a:solidFill>
                  <a:srgbClr val="1B2A41"/>
                </a:solidFill>
                <a:latin typeface="Calibri"/>
              </a:defRPr>
            </a:pPr>
            <a:r>
              <a:t>•  A market mechanism has to be responsive to a market, within conservative, verifiable limits. That's what free allocation is built to do.</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Annex IV; ISCC PLUS 203-2 v1.1 §6.3; ISCC Questions and Answers on Co-Processing v1.0, p.14.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6</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Free allocation in practice: circular plastics</a:t>
            </a:r>
          </a:p>
        </p:txBody>
      </p:sp>
      <p:sp>
        <p:nvSpPr>
          <p:cNvPr id="5" name="TextBox 4"/>
          <p:cNvSpPr txBox="1"/>
          <p:nvPr/>
        </p:nvSpPr>
        <p:spPr>
          <a:xfrm>
            <a:off x="548640" y="1115568"/>
            <a:ext cx="11064240" cy="4144724"/>
          </a:xfrm>
          <a:prstGeom prst="rect">
            <a:avLst/>
          </a:prstGeom>
          <a:noFill/>
        </p:spPr>
        <p:txBody>
          <a:bodyPr wrap="square">
            <a:spAutoFit/>
          </a:bodyPr>
          <a:lstStyle/>
          <a:p>
            <a:pPr algn="l">
              <a:spcAft>
                <a:spcPts val="800"/>
              </a:spcAft>
              <a:defRPr sz="1300" b="0" i="0">
                <a:solidFill>
                  <a:srgbClr val="333333"/>
                </a:solidFill>
                <a:latin typeface="Calibri"/>
              </a:defRPr>
            </a:pPr>
            <a:r>
              <a:t>This isn't a fuel-specific mechanism</a:t>
            </a:r>
            <a:r>
              <a:rPr lang="en-US"/>
              <a:t> and outside of SAF it’s use is not new</a:t>
            </a:r>
            <a:r>
              <a:t>. </a:t>
            </a:r>
            <a:r>
              <a:rPr dirty="0"/>
              <a:t>ISCC PLUS's Free Attribution chapter (§6, already cited) governs every material in its scope — and ISCC's own material list confirms mixed plastic waste is eligible, carrying a “circular” designation on the certificate (ISCC PLUS material list, 9 June 2025, p.1, p.3).</a:t>
            </a:r>
          </a:p>
          <a:p>
            <a:pPr algn="l">
              <a:spcAft>
                <a:spcPts val="800"/>
              </a:spcAft>
              <a:defRPr sz="500" b="0" i="0">
                <a:solidFill>
                  <a:srgbClr val="333333"/>
                </a:solidFill>
                <a:latin typeface="Calibri"/>
              </a:defRPr>
            </a:pPr>
            <a:endParaRPr dirty="0"/>
          </a:p>
          <a:p>
            <a:pPr algn="l">
              <a:spcAft>
                <a:spcPts val="800"/>
              </a:spcAft>
              <a:defRPr sz="1300" b="1" i="0">
                <a:solidFill>
                  <a:srgbClr val="333333"/>
                </a:solidFill>
                <a:latin typeface="Calibri"/>
              </a:defRPr>
            </a:pPr>
            <a:r>
              <a:rPr dirty="0"/>
              <a:t>ISCC's current guidance walks through a live chemical-recycling case (“Certified Free Attribution for Scaling-up the Circular Economy,” ISCC System, 1 April 2026):</a:t>
            </a:r>
          </a:p>
          <a:p>
            <a:pPr algn="l">
              <a:spcAft>
                <a:spcPts val="800"/>
              </a:spcAft>
              <a:defRPr sz="1300" b="0" i="1">
                <a:solidFill>
                  <a:srgbClr val="333333"/>
                </a:solidFill>
                <a:latin typeface="Calibri"/>
              </a:defRPr>
            </a:pPr>
            <a:r>
              <a:rPr dirty="0"/>
              <a:t>“Imagine a cracking process, where both fossil feedstock and ISCC-certified circular feedstock derived from chemically recycled plastic waste are introduced. The plant produces several outputs” — 100t fuel, 100t product A, 100t product B, and 200t of a dual-use output. After losses, “100 </a:t>
            </a:r>
            <a:r>
              <a:rPr dirty="0" err="1"/>
              <a:t>tonnes</a:t>
            </a:r>
            <a:r>
              <a:rPr dirty="0"/>
              <a:t> of certified content remain attributable.”</a:t>
            </a:r>
          </a:p>
          <a:p>
            <a:pPr algn="l">
              <a:spcAft>
                <a:spcPts val="800"/>
              </a:spcAft>
              <a:defRPr sz="1300" b="0" i="1">
                <a:solidFill>
                  <a:srgbClr val="333333"/>
                </a:solidFill>
                <a:latin typeface="Calibri"/>
              </a:defRPr>
            </a:pPr>
            <a:r>
              <a:rPr dirty="0"/>
              <a:t>“In reality, the certified atoms are distributed across all output streams. Under free attribution, however, the operator can flexibly decide which output stream(s) receive the certified share... the 100 </a:t>
            </a:r>
            <a:r>
              <a:rPr dirty="0" err="1"/>
              <a:t>tonnes</a:t>
            </a:r>
            <a:r>
              <a:rPr dirty="0"/>
              <a:t> of certified input could be attributed entirely to product A, which can then be forwarded as ISCC-certified circular material.”</a:t>
            </a:r>
          </a:p>
          <a:p>
            <a:pPr algn="l">
              <a:spcAft>
                <a:spcPts val="800"/>
              </a:spcAft>
              <a:defRPr sz="500" b="0" i="0">
                <a:solidFill>
                  <a:srgbClr val="333333"/>
                </a:solidFill>
                <a:latin typeface="Calibri"/>
              </a:defRPr>
            </a:pPr>
            <a:endParaRPr dirty="0"/>
          </a:p>
          <a:p>
            <a:pPr algn="l">
              <a:spcAft>
                <a:spcPts val="800"/>
              </a:spcAft>
              <a:defRPr sz="1300" b="0" i="0">
                <a:solidFill>
                  <a:srgbClr val="333333"/>
                </a:solidFill>
                <a:latin typeface="Calibri"/>
              </a:defRPr>
            </a:pPr>
            <a:r>
              <a:rPr dirty="0"/>
              <a:t>Same guardrail language as the biofuel case — “the total amount of certified output cannot exceed the certified input entering the system,” and chemical connectivity is what decides which outputs are even eligible to receive the claim.</a:t>
            </a:r>
          </a:p>
          <a:p>
            <a:pPr algn="l">
              <a:spcAft>
                <a:spcPts val="800"/>
              </a:spcAft>
              <a:defRPr sz="500" b="0" i="0">
                <a:solidFill>
                  <a:srgbClr val="333333"/>
                </a:solidFill>
                <a:latin typeface="Calibri"/>
              </a:defRPr>
            </a:pPr>
            <a:endParaRPr dirty="0"/>
          </a:p>
          <a:p>
            <a:pPr algn="l">
              <a:spcAft>
                <a:spcPts val="800"/>
              </a:spcAft>
              <a:defRPr sz="1300" b="1" i="0">
                <a:solidFill>
                  <a:srgbClr val="1B2A41"/>
                </a:solidFill>
                <a:latin typeface="Calibri"/>
              </a:defRPr>
            </a:pPr>
            <a:r>
              <a:rPr dirty="0"/>
              <a:t>ISCC's own stated reason matches slide 7's argument, independently: “chemical recycling supply chains are still evolving... the free attribution approach... provides a practical starting point... supports the gradual scaling up of these materials within established value chains for the voluntary markets.”</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ISCC PLUS material list (9 June 2025), pp.1, 3; ISCC System, “Certified Free Attribution for Scaling-up the Circular Economy,” 1 April 2026, iscc-system.org.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7</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Already in commercial use</a:t>
            </a:r>
          </a:p>
        </p:txBody>
      </p:sp>
      <p:sp>
        <p:nvSpPr>
          <p:cNvPr id="5" name="TextBox 4"/>
          <p:cNvSpPr txBox="1"/>
          <p:nvPr/>
        </p:nvSpPr>
        <p:spPr>
          <a:xfrm>
            <a:off x="548640" y="1115568"/>
            <a:ext cx="11064240" cy="5120640"/>
          </a:xfrm>
          <a:prstGeom prst="rect">
            <a:avLst/>
          </a:prstGeom>
          <a:noFill/>
        </p:spPr>
        <p:txBody>
          <a:bodyPr wrap="square">
            <a:spAutoFit/>
          </a:bodyPr>
          <a:lstStyle/>
          <a:p>
            <a:pPr algn="l">
              <a:spcAft>
                <a:spcPts val="800"/>
              </a:spcAft>
              <a:defRPr sz="1400" b="1" i="0">
                <a:solidFill>
                  <a:srgbClr val="333333"/>
                </a:solidFill>
                <a:latin typeface="Calibri"/>
              </a:defRPr>
            </a:pPr>
            <a:r>
              <a:t>ExxonMobil — Sustainability Report, published 5 May 2026:</a:t>
            </a:r>
          </a:p>
          <a:p>
            <a:pPr algn="l">
              <a:spcAft>
                <a:spcPts val="800"/>
              </a:spcAft>
              <a:defRPr sz="1300" b="0" i="0">
                <a:solidFill>
                  <a:srgbClr val="333333"/>
                </a:solidFill>
                <a:latin typeface="Calibri"/>
              </a:defRPr>
            </a:pPr>
            <a:r>
              <a:t>“ISCC PLUS mass balance approach using the ‘determined by mass’ option with ‘certified free attribution’ applied” — the exact mechanism on slide 6, in named commercial use at Baytown, Texas: “Our third advanced recycling unit at our complex in Baytown, Texas, is now operational”; capacity “~250 million pounds of plastic waste annually”; “As of January 2026, our Baytown site has processed more than 150 million pounds of end-of-life plastic.”</a:t>
            </a:r>
          </a:p>
          <a:p>
            <a:pPr algn="l">
              <a:spcAft>
                <a:spcPts val="800"/>
              </a:spcAft>
              <a:defRPr sz="1300" b="0" i="0">
                <a:solidFill>
                  <a:srgbClr val="333333"/>
                </a:solidFill>
                <a:latin typeface="Calibri"/>
              </a:defRPr>
            </a:pPr>
            <a:r>
              <a:t>Guardrail discipline carried straight through to the customer-facing claim: “Certified-circular plastics do not represent specific amounts of GHG emissions or recycled content.” Named customers buying the certified-circular output: “Berry Global (now part of Amcor plc), Peel Plastics, Thanh Phu and Scientex.”</a:t>
            </a:r>
          </a:p>
          <a:p>
            <a:pPr algn="l">
              <a:spcAft>
                <a:spcPts val="800"/>
              </a:spcAft>
              <a:defRPr sz="600" b="0" i="0">
                <a:solidFill>
                  <a:srgbClr val="333333"/>
                </a:solidFill>
                <a:latin typeface="Calibri"/>
              </a:defRPr>
            </a:pPr>
            <a:endParaRPr/>
          </a:p>
          <a:p>
            <a:pPr algn="l">
              <a:spcAft>
                <a:spcPts val="800"/>
              </a:spcAft>
              <a:defRPr sz="1400" b="1" i="0">
                <a:solidFill>
                  <a:srgbClr val="333333"/>
                </a:solidFill>
                <a:latin typeface="Calibri"/>
              </a:defRPr>
            </a:pPr>
            <a:r>
              <a:t>INEOS Olefins &amp; Polymers USA — press release, 21 April 2021:</a:t>
            </a:r>
          </a:p>
          <a:p>
            <a:pPr algn="l">
              <a:spcAft>
                <a:spcPts val="800"/>
              </a:spcAft>
              <a:defRPr sz="1300" b="0" i="0">
                <a:solidFill>
                  <a:srgbClr val="333333"/>
                </a:solidFill>
                <a:latin typeface="Calibri"/>
              </a:defRPr>
            </a:pPr>
            <a:r>
              <a:t>Three US sites — Chocolate Bayou and Battleground, Texas, and Carson, California — “awarded ISCC PLUS certification” for chemical (“Advanced”) recycling of mixed plastic waste into ethylene and propylene. INEOS is now selling the output directly: “We now have Advanced Recycled HDPE and PP available for sale.”</a:t>
            </a:r>
          </a:p>
          <a:p>
            <a:pPr algn="l">
              <a:spcAft>
                <a:spcPts val="800"/>
              </a:spcAft>
              <a:defRPr sz="600" b="0" i="0">
                <a:solidFill>
                  <a:srgbClr val="333333"/>
                </a:solidFill>
                <a:latin typeface="Calibri"/>
              </a:defRPr>
            </a:pPr>
            <a:endParaRPr/>
          </a:p>
          <a:p>
            <a:pPr algn="l">
              <a:spcAft>
                <a:spcPts val="800"/>
              </a:spcAft>
              <a:defRPr sz="1300" b="1" i="0">
                <a:solidFill>
                  <a:srgbClr val="1B2A41"/>
                </a:solidFill>
                <a:latin typeface="Calibri"/>
              </a:defRPr>
            </a:pPr>
            <a:r>
              <a:t>Two different operators, two different sites, the same certification system and the same mass-balance/free-attribution architecture already covered on slides 5–6 and 8 — not a hypothetical.</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ExxonMobil, “Expanding the plastics life cycle,” Sustainability Report, 5 May 2026, corporate.exxonmobil.com; INEOS Group, “Advanced Plastic Recycling from INEOS Olefins &amp; Polymers USA Receives ISCC PLUS Certification,” 21 April 2021, ineos.com.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8</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Guardrails, side by side</a:t>
            </a:r>
          </a:p>
        </p:txBody>
      </p:sp>
      <p:graphicFrame>
        <p:nvGraphicFramePr>
          <p:cNvPr id="5" name="Table 4"/>
          <p:cNvGraphicFramePr>
            <a:graphicFrameLocks noGrp="1"/>
          </p:cNvGraphicFramePr>
          <p:nvPr/>
        </p:nvGraphicFramePr>
        <p:xfrm>
          <a:off x="457200" y="1188720"/>
          <a:ext cx="11247120" cy="489204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815340">
                <a:tc>
                  <a:txBody>
                    <a:bodyPr/>
                    <a:lstStyle/>
                    <a:p>
                      <a:pPr>
                        <a:defRPr sz="1300" b="1">
                          <a:solidFill>
                            <a:srgbClr val="FFFFFF"/>
                          </a:solidFill>
                          <a:latin typeface="Calibri"/>
                        </a:defRPr>
                      </a:pPr>
                      <a:r>
                        <a:t>Guardrail</a:t>
                      </a:r>
                    </a:p>
                  </a:txBody>
                  <a:tcPr marL="73152" marR="73152">
                    <a:solidFill>
                      <a:srgbClr val="1B2A41"/>
                    </a:solidFill>
                  </a:tcPr>
                </a:tc>
                <a:tc>
                  <a:txBody>
                    <a:bodyPr/>
                    <a:lstStyle/>
                    <a:p>
                      <a:pPr>
                        <a:defRPr sz="1300" b="1">
                          <a:solidFill>
                            <a:srgbClr val="FFFFFF"/>
                          </a:solidFill>
                          <a:latin typeface="Calibri"/>
                        </a:defRPr>
                      </a:pPr>
                      <a:r>
                        <a:t>RSB Advanced Fuels</a:t>
                      </a:r>
                    </a:p>
                  </a:txBody>
                  <a:tcPr marL="73152" marR="73152">
                    <a:solidFill>
                      <a:srgbClr val="1B2A41"/>
                    </a:solidFill>
                  </a:tcPr>
                </a:tc>
                <a:tc>
                  <a:txBody>
                    <a:bodyPr/>
                    <a:lstStyle/>
                    <a:p>
                      <a:pPr>
                        <a:defRPr sz="1300" b="1">
                          <a:solidFill>
                            <a:srgbClr val="FFFFFF"/>
                          </a:solidFill>
                          <a:latin typeface="Calibri"/>
                        </a:defRPr>
                      </a:pPr>
                      <a:r>
                        <a:t>ISCC PLUS</a:t>
                      </a:r>
                    </a:p>
                  </a:txBody>
                  <a:tcPr marL="73152" marR="73152">
                    <a:solidFill>
                      <a:srgbClr val="1B2A41"/>
                    </a:solidFill>
                  </a:tcPr>
                </a:tc>
                <a:extLst>
                  <a:ext uri="{0D108BD9-81ED-4DB2-BD59-A6C34878D82A}">
                    <a16:rowId xmlns:a16="http://schemas.microsoft.com/office/drawing/2014/main" val="10000"/>
                  </a:ext>
                </a:extLst>
              </a:tr>
              <a:tr h="815340">
                <a:tc>
                  <a:txBody>
                    <a:bodyPr/>
                    <a:lstStyle/>
                    <a:p>
                      <a:pPr>
                        <a:defRPr sz="1100" b="0">
                          <a:solidFill>
                            <a:srgbClr val="333333"/>
                          </a:solidFill>
                          <a:latin typeface="Calibri"/>
                        </a:defRPr>
                      </a:pPr>
                      <a:r>
                        <a:t>Physical cap on the claim</a:t>
                      </a:r>
                    </a:p>
                  </a:txBody>
                  <a:tcPr marL="73152" marR="73152">
                    <a:solidFill>
                      <a:srgbClr val="D6E4F0"/>
                    </a:solidFill>
                  </a:tcPr>
                </a:tc>
                <a:tc>
                  <a:txBody>
                    <a:bodyPr/>
                    <a:lstStyle/>
                    <a:p>
                      <a:pPr>
                        <a:defRPr sz="1100" b="0">
                          <a:solidFill>
                            <a:srgbClr val="333333"/>
                          </a:solidFill>
                          <a:latin typeface="Calibri"/>
                        </a:defRPr>
                      </a:pPr>
                      <a:r>
                        <a:t>Capped by feedstock carbon content × conversion efficiency (Annex IV, p.26)</a:t>
                      </a:r>
                    </a:p>
                  </a:txBody>
                  <a:tcPr marL="73152" marR="73152">
                    <a:solidFill>
                      <a:srgbClr val="D6E4F0"/>
                    </a:solidFill>
                  </a:tcPr>
                </a:tc>
                <a:tc>
                  <a:txBody>
                    <a:bodyPr/>
                    <a:lstStyle/>
                    <a:p>
                      <a:pPr>
                        <a:defRPr sz="1100" b="0">
                          <a:solidFill>
                            <a:srgbClr val="333333"/>
                          </a:solidFill>
                          <a:latin typeface="Calibri"/>
                        </a:defRPr>
                      </a:pPr>
                      <a:r>
                        <a:t>“Attributable credits cannot be higher than the physical output” (§6.3, p.21)</a:t>
                      </a:r>
                    </a:p>
                  </a:txBody>
                  <a:tcPr marL="73152" marR="73152">
                    <a:solidFill>
                      <a:srgbClr val="D6E4F0"/>
                    </a:solidFill>
                  </a:tcPr>
                </a:tc>
                <a:extLst>
                  <a:ext uri="{0D108BD9-81ED-4DB2-BD59-A6C34878D82A}">
                    <a16:rowId xmlns:a16="http://schemas.microsoft.com/office/drawing/2014/main" val="10001"/>
                  </a:ext>
                </a:extLst>
              </a:tr>
              <a:tr h="815340">
                <a:tc>
                  <a:txBody>
                    <a:bodyPr/>
                    <a:lstStyle/>
                    <a:p>
                      <a:pPr>
                        <a:defRPr sz="1100" b="0">
                          <a:solidFill>
                            <a:srgbClr val="333333"/>
                          </a:solidFill>
                          <a:latin typeface="Calibri"/>
                        </a:defRPr>
                      </a:pPr>
                      <a:r>
                        <a:t>Emissions accounting</a:t>
                      </a:r>
                    </a:p>
                  </a:txBody>
                  <a:tcPr marL="73152" marR="73152">
                    <a:solidFill>
                      <a:srgbClr val="FFFFFF"/>
                    </a:solidFill>
                  </a:tcPr>
                </a:tc>
                <a:tc>
                  <a:txBody>
                    <a:bodyPr/>
                    <a:lstStyle/>
                    <a:p>
                      <a:pPr>
                        <a:defRPr sz="1100" b="0">
                          <a:solidFill>
                            <a:srgbClr val="333333"/>
                          </a:solidFill>
                          <a:latin typeface="Calibri"/>
                        </a:defRPr>
                      </a:pPr>
                      <a:r>
                        <a:t>Unaffected by the claim — still allocated energy-basis (Annex IV, Note 7, p.28)</a:t>
                      </a:r>
                    </a:p>
                  </a:txBody>
                  <a:tcPr marL="73152" marR="73152">
                    <a:solidFill>
                      <a:srgbClr val="FFFFFF"/>
                    </a:solidFill>
                  </a:tcPr>
                </a:tc>
                <a:tc>
                  <a:txBody>
                    <a:bodyPr/>
                    <a:lstStyle/>
                    <a:p>
                      <a:pPr>
                        <a:defRPr sz="1100" b="0">
                          <a:solidFill>
                            <a:srgbClr val="333333"/>
                          </a:solidFill>
                          <a:latin typeface="Calibri"/>
                        </a:defRPr>
                      </a:pPr>
                      <a:r>
                        <a:t>Allocated separately, on an energy basis: “the relation of the total energy content of the intermediate main product to the total energy content of all products” (ISCC EU 205 v4.1, §4.3.8, p.55, incorporated into ISCC PLUS)</a:t>
                      </a:r>
                    </a:p>
                  </a:txBody>
                  <a:tcPr marL="73152" marR="73152">
                    <a:solidFill>
                      <a:srgbClr val="FFFFFF"/>
                    </a:solidFill>
                  </a:tcPr>
                </a:tc>
                <a:extLst>
                  <a:ext uri="{0D108BD9-81ED-4DB2-BD59-A6C34878D82A}">
                    <a16:rowId xmlns:a16="http://schemas.microsoft.com/office/drawing/2014/main" val="10002"/>
                  </a:ext>
                </a:extLst>
              </a:tr>
              <a:tr h="815340">
                <a:tc>
                  <a:txBody>
                    <a:bodyPr/>
                    <a:lstStyle/>
                    <a:p>
                      <a:pPr>
                        <a:defRPr sz="1100" b="0">
                          <a:solidFill>
                            <a:srgbClr val="333333"/>
                          </a:solidFill>
                          <a:latin typeface="Calibri"/>
                        </a:defRPr>
                      </a:pPr>
                      <a:r>
                        <a:t>Disclosure requirement</a:t>
                      </a:r>
                    </a:p>
                  </a:txBody>
                  <a:tcPr marL="73152" marR="73152">
                    <a:solidFill>
                      <a:srgbClr val="D6E4F0"/>
                    </a:solidFill>
                  </a:tcPr>
                </a:tc>
                <a:tc>
                  <a:txBody>
                    <a:bodyPr/>
                    <a:lstStyle/>
                    <a:p>
                      <a:pPr>
                        <a:defRPr sz="1100" b="0">
                          <a:solidFill>
                            <a:srgbClr val="333333"/>
                          </a:solidFill>
                          <a:latin typeface="Calibri"/>
                        </a:defRPr>
                      </a:pPr>
                      <a:r>
                        <a:t>Alternate claim label required — no “physical sustainable content” claim (§2.5.4, p.12)</a:t>
                      </a:r>
                    </a:p>
                  </a:txBody>
                  <a:tcPr marL="73152" marR="73152">
                    <a:solidFill>
                      <a:srgbClr val="D6E4F0"/>
                    </a:solidFill>
                  </a:tcPr>
                </a:tc>
                <a:tc>
                  <a:txBody>
                    <a:bodyPr/>
                    <a:lstStyle/>
                    <a:p>
                      <a:pPr>
                        <a:defRPr sz="1100" b="0">
                          <a:solidFill>
                            <a:srgbClr val="333333"/>
                          </a:solidFill>
                          <a:latin typeface="Calibri"/>
                        </a:defRPr>
                      </a:pPr>
                      <a:r>
                        <a:t>Outgoing Sustainability Declaration must flag compensation beyond proportion (§6.4.2, p.27)</a:t>
                      </a:r>
                    </a:p>
                  </a:txBody>
                  <a:tcPr marL="73152" marR="73152">
                    <a:solidFill>
                      <a:srgbClr val="D6E4F0"/>
                    </a:solidFill>
                  </a:tcPr>
                </a:tc>
                <a:extLst>
                  <a:ext uri="{0D108BD9-81ED-4DB2-BD59-A6C34878D82A}">
                    <a16:rowId xmlns:a16="http://schemas.microsoft.com/office/drawing/2014/main" val="10003"/>
                  </a:ext>
                </a:extLst>
              </a:tr>
              <a:tr h="815340">
                <a:tc>
                  <a:txBody>
                    <a:bodyPr/>
                    <a:lstStyle/>
                    <a:p>
                      <a:pPr>
                        <a:defRPr sz="1100" b="0">
                          <a:solidFill>
                            <a:srgbClr val="333333"/>
                          </a:solidFill>
                          <a:latin typeface="Calibri"/>
                        </a:defRPr>
                      </a:pPr>
                      <a:r>
                        <a:t>Balance / bookkeeping</a:t>
                      </a:r>
                    </a:p>
                  </a:txBody>
                  <a:tcPr marL="73152" marR="73152">
                    <a:solidFill>
                      <a:srgbClr val="FFFFFF"/>
                    </a:solidFill>
                  </a:tcPr>
                </a:tc>
                <a:tc>
                  <a:txBody>
                    <a:bodyPr/>
                    <a:lstStyle/>
                    <a:p>
                      <a:pPr>
                        <a:defRPr sz="1100" b="0">
                          <a:solidFill>
                            <a:srgbClr val="333333"/>
                          </a:solidFill>
                          <a:latin typeface="Calibri"/>
                        </a:defRPr>
                      </a:pPr>
                      <a:r>
                        <a:t>Non-negative balance every 3 months, documented (§2.4.5, p.12)</a:t>
                      </a:r>
                    </a:p>
                  </a:txBody>
                  <a:tcPr marL="73152" marR="73152">
                    <a:solidFill>
                      <a:srgbClr val="FFFFFF"/>
                    </a:solidFill>
                  </a:tcPr>
                </a:tc>
                <a:tc>
                  <a:txBody>
                    <a:bodyPr/>
                    <a:lstStyle/>
                    <a:p>
                      <a:pPr>
                        <a:defRPr sz="1100" b="0">
                          <a:solidFill>
                            <a:srgbClr val="333333"/>
                          </a:solidFill>
                          <a:latin typeface="Calibri"/>
                        </a:defRPr>
                      </a:pPr>
                      <a:r>
                        <a:t>Site-specific mass balance, documented operational data (§6.3, p.21)</a:t>
                      </a:r>
                    </a:p>
                  </a:txBody>
                  <a:tcPr marL="73152" marR="73152">
                    <a:solidFill>
                      <a:srgbClr val="FFFFFF"/>
                    </a:solidFill>
                  </a:tcPr>
                </a:tc>
                <a:extLst>
                  <a:ext uri="{0D108BD9-81ED-4DB2-BD59-A6C34878D82A}">
                    <a16:rowId xmlns:a16="http://schemas.microsoft.com/office/drawing/2014/main" val="10004"/>
                  </a:ext>
                </a:extLst>
              </a:tr>
              <a:tr h="815340">
                <a:tc>
                  <a:txBody>
                    <a:bodyPr/>
                    <a:lstStyle/>
                    <a:p>
                      <a:pPr>
                        <a:defRPr sz="1100" b="0">
                          <a:solidFill>
                            <a:srgbClr val="333333"/>
                          </a:solidFill>
                          <a:latin typeface="Calibri"/>
                        </a:defRPr>
                      </a:pPr>
                      <a:r>
                        <a:t>Status</a:t>
                      </a:r>
                    </a:p>
                  </a:txBody>
                  <a:tcPr marL="73152" marR="73152">
                    <a:solidFill>
                      <a:srgbClr val="D6E4F0"/>
                    </a:solidFill>
                  </a:tcPr>
                </a:tc>
                <a:tc>
                  <a:txBody>
                    <a:bodyPr/>
                    <a:lstStyle/>
                    <a:p>
                      <a:pPr>
                        <a:defRPr sz="1100" b="0">
                          <a:solidFill>
                            <a:srgbClr val="333333"/>
                          </a:solidFill>
                          <a:latin typeface="Calibri"/>
                        </a:defRPr>
                      </a:pPr>
                      <a:r>
                        <a:t>Published, in-force methodology with a numeric worked example (Annex IV)</a:t>
                      </a:r>
                    </a:p>
                  </a:txBody>
                  <a:tcPr marL="73152" marR="73152">
                    <a:solidFill>
                      <a:srgbClr val="D6E4F0"/>
                    </a:solidFill>
                  </a:tcPr>
                </a:tc>
                <a:tc>
                  <a:txBody>
                    <a:bodyPr/>
                    <a:lstStyle/>
                    <a:p>
                      <a:pPr>
                        <a:defRPr sz="1100" b="0">
                          <a:solidFill>
                            <a:srgbClr val="333333"/>
                          </a:solidFill>
                          <a:latin typeface="Calibri"/>
                        </a:defRPr>
                      </a:pPr>
                      <a:r>
                        <a:t>Published, in-force methodology (203-2 v1.1, valid 13 Nov 2025)</a:t>
                      </a:r>
                    </a:p>
                  </a:txBody>
                  <a:tcPr marL="73152" marR="73152">
                    <a:solidFill>
                      <a:srgbClr val="D6E4F0"/>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See slides 5–6 for full quotes and the citation appendix for the complete source list.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Appendix A</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Sources</a:t>
            </a:r>
          </a:p>
        </p:txBody>
      </p:sp>
      <p:sp>
        <p:nvSpPr>
          <p:cNvPr id="5" name="TextBox 4"/>
          <p:cNvSpPr txBox="1"/>
          <p:nvPr/>
        </p:nvSpPr>
        <p:spPr>
          <a:xfrm>
            <a:off x="548640" y="932688"/>
            <a:ext cx="11064240" cy="5440680"/>
          </a:xfrm>
          <a:prstGeom prst="rect">
            <a:avLst/>
          </a:prstGeom>
          <a:noFill/>
        </p:spPr>
        <p:txBody>
          <a:bodyPr wrap="square">
            <a:spAutoFit/>
          </a:bodyPr>
          <a:lstStyle/>
          <a:p>
            <a:pPr algn="l">
              <a:spcAft>
                <a:spcPts val="800"/>
              </a:spcAft>
              <a:defRPr sz="1050" b="1" i="0">
                <a:solidFill>
                  <a:srgbClr val="333333"/>
                </a:solidFill>
                <a:latin typeface="Calibri"/>
              </a:defRPr>
            </a:pPr>
            <a:r>
              <a:t>RSB Standard for Advanced Fuels, RSB-STD-01-010, Version 2.8, published April 2026.</a:t>
            </a:r>
          </a:p>
          <a:p>
            <a:pPr algn="l">
              <a:spcAft>
                <a:spcPts val="800"/>
              </a:spcAft>
              <a:defRPr sz="950" b="0" i="0">
                <a:solidFill>
                  <a:srgbClr val="5A5A5A"/>
                </a:solidFill>
                <a:latin typeface="Calibri"/>
              </a:defRPr>
            </a:pPr>
            <a:r>
              <a:t>   Cited: §2.4.2 (p.11), §2.4.5 (p.12), §2.5.4 (p.12), Annex IV (pp.26, 28, 29).</a:t>
            </a:r>
          </a:p>
          <a:p>
            <a:pPr algn="l">
              <a:spcAft>
                <a:spcPts val="800"/>
              </a:spcAft>
              <a:defRPr sz="300" b="0" i="0">
                <a:solidFill>
                  <a:srgbClr val="333333"/>
                </a:solidFill>
                <a:latin typeface="Calibri"/>
              </a:defRPr>
            </a:pPr>
            <a:endParaRPr/>
          </a:p>
          <a:p>
            <a:pPr algn="l">
              <a:spcAft>
                <a:spcPts val="800"/>
              </a:spcAft>
              <a:defRPr sz="1050" b="1" i="0">
                <a:solidFill>
                  <a:srgbClr val="333333"/>
                </a:solidFill>
                <a:latin typeface="Calibri"/>
              </a:defRPr>
            </a:pPr>
            <a:r>
              <a:t>RSB Standard for ICAO CORSIA, RSB-STD-12-001, Version 1.7, published April 2026.</a:t>
            </a:r>
          </a:p>
          <a:p>
            <a:pPr algn="l">
              <a:spcAft>
                <a:spcPts val="800"/>
              </a:spcAft>
              <a:defRPr sz="950" b="0" i="0">
                <a:solidFill>
                  <a:srgbClr val="5A5A5A"/>
                </a:solidFill>
                <a:latin typeface="Calibri"/>
              </a:defRPr>
            </a:pPr>
            <a:r>
              <a:t>   Cited: §3.4.7.1 (p.23).</a:t>
            </a:r>
          </a:p>
          <a:p>
            <a:pPr algn="l">
              <a:spcAft>
                <a:spcPts val="800"/>
              </a:spcAft>
              <a:defRPr sz="300" b="0" i="0">
                <a:solidFill>
                  <a:srgbClr val="333333"/>
                </a:solidFill>
                <a:latin typeface="Calibri"/>
              </a:defRPr>
            </a:pPr>
            <a:endParaRPr/>
          </a:p>
          <a:p>
            <a:pPr algn="l">
              <a:spcAft>
                <a:spcPts val="800"/>
              </a:spcAft>
              <a:defRPr sz="1050" b="1" i="0">
                <a:solidFill>
                  <a:srgbClr val="333333"/>
                </a:solidFill>
                <a:latin typeface="Calibri"/>
              </a:defRPr>
            </a:pPr>
            <a:r>
              <a:t>ISCC PLUS 203-2, Chain of Custody, Version 1.1, valid from 13 November 2025.</a:t>
            </a:r>
          </a:p>
          <a:p>
            <a:pPr algn="l">
              <a:spcAft>
                <a:spcPts val="800"/>
              </a:spcAft>
              <a:defRPr sz="950" b="0" i="0">
                <a:solidFill>
                  <a:srgbClr val="5A5A5A"/>
                </a:solidFill>
                <a:latin typeface="Calibri"/>
              </a:defRPr>
            </a:pPr>
            <a:r>
              <a:t>   Cited: §6.1 (pp.17–18), §6.2 (p.18), §6.3 (p.21), §6.4.2 (pp.26–27).</a:t>
            </a:r>
          </a:p>
          <a:p>
            <a:pPr algn="l">
              <a:spcAft>
                <a:spcPts val="800"/>
              </a:spcAft>
              <a:defRPr sz="300" b="0" i="0">
                <a:solidFill>
                  <a:srgbClr val="333333"/>
                </a:solidFill>
                <a:latin typeface="Calibri"/>
              </a:defRPr>
            </a:pPr>
            <a:endParaRPr/>
          </a:p>
          <a:p>
            <a:pPr algn="l">
              <a:spcAft>
                <a:spcPts val="800"/>
              </a:spcAft>
              <a:defRPr sz="1050" b="1" i="0">
                <a:solidFill>
                  <a:srgbClr val="333333"/>
                </a:solidFill>
                <a:latin typeface="Calibri"/>
              </a:defRPr>
            </a:pPr>
            <a:r>
              <a:t>ISCC EU 205, Greenhouse Gas Emissions, Version 4.1, valid from 1 January 2024.</a:t>
            </a:r>
          </a:p>
          <a:p>
            <a:pPr algn="l">
              <a:spcAft>
                <a:spcPts val="800"/>
              </a:spcAft>
              <a:defRPr sz="950" b="0" i="0">
                <a:solidFill>
                  <a:srgbClr val="5A5A5A"/>
                </a:solidFill>
                <a:latin typeface="Calibri"/>
              </a:defRPr>
            </a:pPr>
            <a:r>
              <a:t>   Cited: §4.3.8 Allocation of emissions to main- and co-products (p.55).</a:t>
            </a:r>
          </a:p>
          <a:p>
            <a:pPr algn="l">
              <a:spcAft>
                <a:spcPts val="800"/>
              </a:spcAft>
              <a:defRPr sz="300" b="0" i="0">
                <a:solidFill>
                  <a:srgbClr val="333333"/>
                </a:solidFill>
                <a:latin typeface="Calibri"/>
              </a:defRPr>
            </a:pPr>
            <a:endParaRPr/>
          </a:p>
          <a:p>
            <a:pPr algn="l">
              <a:spcAft>
                <a:spcPts val="800"/>
              </a:spcAft>
              <a:defRPr sz="1050" b="1" i="0">
                <a:solidFill>
                  <a:srgbClr val="333333"/>
                </a:solidFill>
                <a:latin typeface="Calibri"/>
              </a:defRPr>
            </a:pPr>
            <a:r>
              <a:t>ISCC PLUS System Structure and Overview of ISCC PLUS Documents, Version 1.2, valid from 13 November 2025.</a:t>
            </a:r>
          </a:p>
          <a:p>
            <a:pPr algn="l">
              <a:spcAft>
                <a:spcPts val="800"/>
              </a:spcAft>
              <a:defRPr sz="950" b="0" i="0">
                <a:solidFill>
                  <a:srgbClr val="5A5A5A"/>
                </a:solidFill>
                <a:latin typeface="Calibri"/>
              </a:defRPr>
            </a:pPr>
            <a:r>
              <a:t>   Cited: Table 1 (p.6) — confirms ISCC EU 205 is a normative ISCC PLUS System Document.</a:t>
            </a:r>
          </a:p>
          <a:p>
            <a:pPr algn="l">
              <a:spcAft>
                <a:spcPts val="800"/>
              </a:spcAft>
              <a:defRPr sz="300" b="0" i="0">
                <a:solidFill>
                  <a:srgbClr val="333333"/>
                </a:solidFill>
                <a:latin typeface="Calibri"/>
              </a:defRPr>
            </a:pPr>
            <a:endParaRPr/>
          </a:p>
          <a:p>
            <a:pPr algn="l">
              <a:spcAft>
                <a:spcPts val="800"/>
              </a:spcAft>
              <a:defRPr sz="1050" b="1" i="0">
                <a:solidFill>
                  <a:srgbClr val="333333"/>
                </a:solidFill>
                <a:latin typeface="Calibri"/>
              </a:defRPr>
            </a:pPr>
            <a:r>
              <a:t>ISCC Questions and Answers on the Certification of Co-Processing, Version 1.0, valid from 22 September 2025.</a:t>
            </a:r>
          </a:p>
          <a:p>
            <a:pPr algn="l">
              <a:spcAft>
                <a:spcPts val="800"/>
              </a:spcAft>
              <a:defRPr sz="950" b="0" i="0">
                <a:solidFill>
                  <a:srgbClr val="5A5A5A"/>
                </a:solidFill>
                <a:latin typeface="Calibri"/>
              </a:defRPr>
            </a:pPr>
            <a:r>
              <a:t>   Cited: “Detection of low bio-content” (p.14).</a:t>
            </a:r>
          </a:p>
          <a:p>
            <a:pPr algn="l">
              <a:spcAft>
                <a:spcPts val="800"/>
              </a:spcAft>
              <a:defRPr sz="300" b="0" i="0">
                <a:solidFill>
                  <a:srgbClr val="333333"/>
                </a:solidFill>
                <a:latin typeface="Calibri"/>
              </a:defRPr>
            </a:pPr>
            <a:endParaRPr/>
          </a:p>
          <a:p>
            <a:pPr algn="l">
              <a:spcAft>
                <a:spcPts val="800"/>
              </a:spcAft>
              <a:defRPr sz="1050" b="1" i="0">
                <a:solidFill>
                  <a:srgbClr val="333333"/>
                </a:solidFill>
                <a:latin typeface="Calibri"/>
              </a:defRPr>
            </a:pPr>
            <a:r>
              <a:t>ISCC CORSIA 203, Traceability and Chain of Custody, Version 2.0.</a:t>
            </a:r>
          </a:p>
          <a:p>
            <a:pPr algn="l">
              <a:spcAft>
                <a:spcPts val="800"/>
              </a:spcAft>
              <a:defRPr sz="950" b="0" i="0">
                <a:solidFill>
                  <a:srgbClr val="5A5A5A"/>
                </a:solidFill>
                <a:latin typeface="Calibri"/>
              </a:defRPr>
            </a:pPr>
            <a:r>
              <a:t>   Cited: §4.4.4 Co-Processing (p.42).</a:t>
            </a:r>
          </a:p>
          <a:p>
            <a:pPr algn="l">
              <a:spcAft>
                <a:spcPts val="800"/>
              </a:spcAft>
              <a:defRPr sz="300" b="0" i="0">
                <a:solidFill>
                  <a:srgbClr val="333333"/>
                </a:solidFill>
                <a:latin typeface="Calibri"/>
              </a:defRPr>
            </a:pPr>
            <a:endParaRPr/>
          </a:p>
          <a:p>
            <a:pPr algn="l">
              <a:spcAft>
                <a:spcPts val="800"/>
              </a:spcAft>
              <a:defRPr sz="1050" b="1" i="0">
                <a:solidFill>
                  <a:srgbClr val="333333"/>
                </a:solidFill>
                <a:latin typeface="Calibri"/>
              </a:defRPr>
            </a:pPr>
            <a:r>
              <a:t>ISCC PLUS material list, “List of material eligible for ISCC PLUS certification,” 9 June 2025.</a:t>
            </a:r>
          </a:p>
          <a:p>
            <a:pPr algn="l">
              <a:spcAft>
                <a:spcPts val="800"/>
              </a:spcAft>
              <a:defRPr sz="950" b="0" i="0">
                <a:solidFill>
                  <a:srgbClr val="5A5A5A"/>
                </a:solidFill>
                <a:latin typeface="Calibri"/>
              </a:defRPr>
            </a:pPr>
            <a:r>
              <a:t>   Cited: p.1 (“circular” designation), p.3 (mixed plastic waste eligibility).</a:t>
            </a:r>
          </a:p>
          <a:p>
            <a:pPr algn="l">
              <a:spcAft>
                <a:spcPts val="800"/>
              </a:spcAft>
              <a:defRPr sz="300" b="0" i="0">
                <a:solidFill>
                  <a:srgbClr val="333333"/>
                </a:solidFill>
                <a:latin typeface="Calibri"/>
              </a:defRPr>
            </a:pPr>
            <a:endParaRPr/>
          </a:p>
          <a:p>
            <a:pPr algn="l">
              <a:spcAft>
                <a:spcPts val="800"/>
              </a:spcAft>
              <a:defRPr sz="1050" b="1" i="0">
                <a:solidFill>
                  <a:srgbClr val="333333"/>
                </a:solidFill>
                <a:latin typeface="Calibri"/>
              </a:defRPr>
            </a:pPr>
            <a:r>
              <a:t>ISCC System, “Certified Free Attribution for Scaling-up the Circular Economy,” published 1 April 2026, iscc-system.org.</a:t>
            </a:r>
          </a:p>
          <a:p>
            <a:pPr algn="l">
              <a:spcAft>
                <a:spcPts val="800"/>
              </a:spcAft>
              <a:defRPr sz="950" b="0" i="0">
                <a:solidFill>
                  <a:srgbClr val="5A5A5A"/>
                </a:solidFill>
                <a:latin typeface="Calibri"/>
              </a:defRPr>
            </a:pPr>
            <a:r>
              <a:t>   Cited in full for the chemical-recycling worked example and guardrails.</a:t>
            </a:r>
          </a:p>
          <a:p>
            <a:pPr algn="l">
              <a:spcAft>
                <a:spcPts val="800"/>
              </a:spcAft>
              <a:defRPr sz="300" b="0" i="0">
                <a:solidFill>
                  <a:srgbClr val="333333"/>
                </a:solidFill>
                <a:latin typeface="Calibri"/>
              </a:defRPr>
            </a:pPr>
            <a:endParaRPr/>
          </a:p>
          <a:p>
            <a:pPr algn="l">
              <a:spcAft>
                <a:spcPts val="800"/>
              </a:spcAft>
              <a:defRPr sz="1050" b="1" i="0">
                <a:solidFill>
                  <a:srgbClr val="333333"/>
                </a:solidFill>
                <a:latin typeface="Calibri"/>
              </a:defRPr>
            </a:pPr>
            <a:r>
              <a:t>ExxonMobil, “Expanding the plastics life cycle,” Sustainability Report, published 5 May 2026, corporate.exxonmobil.com.</a:t>
            </a:r>
          </a:p>
          <a:p>
            <a:pPr algn="l">
              <a:spcAft>
                <a:spcPts val="800"/>
              </a:spcAft>
              <a:defRPr sz="950" b="0" i="0">
                <a:solidFill>
                  <a:srgbClr val="5A5A5A"/>
                </a:solidFill>
                <a:latin typeface="Calibri"/>
              </a:defRPr>
            </a:pPr>
            <a:r>
              <a:t>   Cited: “certified free attribution” disclosure footnote; Baytown, Texas facility figures; named customers.</a:t>
            </a:r>
          </a:p>
          <a:p>
            <a:pPr algn="l">
              <a:spcAft>
                <a:spcPts val="800"/>
              </a:spcAft>
              <a:defRPr sz="300" b="0" i="0">
                <a:solidFill>
                  <a:srgbClr val="333333"/>
                </a:solidFill>
                <a:latin typeface="Calibri"/>
              </a:defRPr>
            </a:pPr>
            <a:endParaRPr/>
          </a:p>
          <a:p>
            <a:pPr algn="l">
              <a:spcAft>
                <a:spcPts val="800"/>
              </a:spcAft>
              <a:defRPr sz="1050" b="1" i="0">
                <a:solidFill>
                  <a:srgbClr val="333333"/>
                </a:solidFill>
                <a:latin typeface="Calibri"/>
              </a:defRPr>
            </a:pPr>
            <a:r>
              <a:t>INEOS Group, “Advanced Plastic Recycling from INEOS Olefins &amp; Polymers USA Receives ISCC PLUS Certification,” 21 April 2021, ineos.com.</a:t>
            </a:r>
          </a:p>
          <a:p>
            <a:pPr algn="l">
              <a:spcAft>
                <a:spcPts val="800"/>
              </a:spcAft>
              <a:defRPr sz="950" b="0" i="0">
                <a:solidFill>
                  <a:srgbClr val="5A5A5A"/>
                </a:solidFill>
                <a:latin typeface="Calibri"/>
              </a:defRPr>
            </a:pPr>
            <a:r>
              <a:t>   Cited in full for named sites and product claims.</a:t>
            </a:r>
          </a:p>
          <a:p>
            <a:pPr algn="l">
              <a:spcAft>
                <a:spcPts val="800"/>
              </a:spcAft>
              <a:defRPr sz="500" b="0" i="0">
                <a:solidFill>
                  <a:srgbClr val="333333"/>
                </a:solidFill>
                <a:latin typeface="Calibri"/>
              </a:defRPr>
            </a:pPr>
            <a:endParaRPr/>
          </a:p>
          <a:p>
            <a:pPr algn="l">
              <a:spcAft>
                <a:spcPts val="800"/>
              </a:spcAft>
              <a:defRPr sz="950" b="0" i="1">
                <a:solidFill>
                  <a:srgbClr val="5A5A5A"/>
                </a:solidFill>
                <a:latin typeface="Calibri"/>
              </a:defRPr>
            </a:pPr>
            <a:r>
              <a:t>Scope: RSB Advanced Fuels, RSB CORSIA, ISCC PLUS, and ISCC CORSIA. Excludes EU RED, LCFS, and ISCC EU as a standalone track (distinct from the ISCC EU documents incorporated into ISCC PLUS, which are in scope).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2618</Words>
  <Application>Microsoft Macintosh PowerPoint</Application>
  <PresentationFormat>Widescreen</PresentationFormat>
  <Paragraphs>143</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Max Bernard Lavine</cp:lastModifiedBy>
  <cp:revision>2</cp:revision>
  <dcterms:created xsi:type="dcterms:W3CDTF">2013-01-27T09:14:16Z</dcterms:created>
  <dcterms:modified xsi:type="dcterms:W3CDTF">2026-09-15T21:48:49Z</dcterms:modified>
  <cp:category/>
</cp:coreProperties>
</file>