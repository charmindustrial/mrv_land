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731520" y="2286000"/>
            <a:ext cx="10698480" cy="1371600"/>
          </a:xfrm>
          <a:prstGeom prst="rect">
            <a:avLst/>
          </a:prstGeom>
          <a:noFill/>
        </p:spPr>
        <p:txBody>
          <a:bodyPr wrap="square">
            <a:spAutoFit/>
          </a:bodyPr>
          <a:lstStyle/>
          <a:p>
            <a:pPr>
              <a:defRPr sz="4000" b="1">
                <a:solidFill>
                  <a:srgbClr val="FFFFFF"/>
                </a:solidFill>
                <a:latin typeface="Calibri"/>
              </a:defRPr>
            </a:pPr>
            <a:r>
              <a:t>Flexible Allocation &amp; Attribution</a:t>
            </a:r>
          </a:p>
          <a:p>
            <a:pPr>
              <a:defRPr sz="2400">
                <a:solidFill>
                  <a:srgbClr val="D6E4F0"/>
                </a:solidFill>
                <a:latin typeface="Calibri"/>
              </a:defRPr>
            </a:pPr>
            <a:r>
              <a:t>RSB and ISCC Methodology Review</a:t>
            </a:r>
          </a:p>
        </p:txBody>
      </p:sp>
      <p:sp>
        <p:nvSpPr>
          <p:cNvPr id="3" name="TextBox 2"/>
          <p:cNvSpPr txBox="1"/>
          <p:nvPr/>
        </p:nvSpPr>
        <p:spPr>
          <a:xfrm>
            <a:off x="731520" y="3931920"/>
            <a:ext cx="10698480" cy="914400"/>
          </a:xfrm>
          <a:prstGeom prst="rect">
            <a:avLst/>
          </a:prstGeom>
          <a:noFill/>
        </p:spPr>
        <p:txBody>
          <a:bodyPr wrap="square">
            <a:spAutoFit/>
          </a:bodyPr>
          <a:lstStyle/>
          <a:p>
            <a:pPr>
              <a:defRPr sz="1600" i="1">
                <a:solidFill>
                  <a:srgbClr val="C0C8D4"/>
                </a:solidFill>
              </a:defRPr>
            </a:pPr>
            <a:r>
              <a:t>What the standards actually permit, under what conditions, and why</a:t>
            </a:r>
          </a:p>
        </p:txBody>
      </p:sp>
      <p:sp>
        <p:nvSpPr>
          <p:cNvPr id="4" name="Rectangle 3"/>
          <p:cNvSpPr/>
          <p:nvPr/>
        </p:nvSpPr>
        <p:spPr>
          <a:xfrm>
            <a:off x="731520" y="3794760"/>
            <a:ext cx="2011680" cy="381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19088"/>
            <a:ext cx="11277295" cy="365760"/>
          </a:xfrm>
          <a:prstGeom prst="rect">
            <a:avLst/>
          </a:prstGeom>
          <a:noFill/>
        </p:spPr>
        <p:txBody>
          <a:bodyPr wrap="square">
            <a:spAutoFit/>
          </a:bodyPr>
          <a:lstStyle/>
          <a:p>
            <a:pPr>
              <a:defRPr sz="900" i="1">
                <a:solidFill>
                  <a:srgbClr val="8A96A8"/>
                </a:solidFill>
                <a:latin typeface="Calibri"/>
              </a:defRPr>
            </a:pPr>
            <a:r>
              <a:t>Every claim on the pages that follow carries a verbatim quote, with source title, version, section, and page.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1</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The question, framed neutrally</a:t>
            </a:r>
          </a:p>
        </p:txBody>
      </p:sp>
      <p:sp>
        <p:nvSpPr>
          <p:cNvPr id="5" name="TextBox 4"/>
          <p:cNvSpPr txBox="1"/>
          <p:nvPr/>
        </p:nvSpPr>
        <p:spPr>
          <a:xfrm>
            <a:off x="548640" y="1188720"/>
            <a:ext cx="10972800" cy="4389120"/>
          </a:xfrm>
          <a:prstGeom prst="rect">
            <a:avLst/>
          </a:prstGeom>
          <a:noFill/>
        </p:spPr>
        <p:txBody>
          <a:bodyPr wrap="square">
            <a:spAutoFit/>
          </a:bodyPr>
          <a:lstStyle/>
          <a:p>
            <a:pPr algn="l">
              <a:spcAft>
                <a:spcPts val="800"/>
              </a:spcAft>
              <a:defRPr sz="2000" b="1" i="0">
                <a:solidFill>
                  <a:srgbClr val="1B2A41"/>
                </a:solidFill>
                <a:latin typeface="Calibri"/>
              </a:defRPr>
            </a:pPr>
            <a:r>
              <a:t>Under what conditions does a recognized fuel-certification scheme allow non-proportional (“flexible”) allocation of a sustainability claim — as opposed to strict energy- or mass-proportional allocation?</a:t>
            </a:r>
          </a:p>
          <a:p>
            <a:pPr algn="l">
              <a:spcAft>
                <a:spcPts val="800"/>
              </a:spcAft>
              <a:defRPr sz="800" b="0" i="0">
                <a:solidFill>
                  <a:srgbClr val="333333"/>
                </a:solidFill>
                <a:latin typeface="Calibri"/>
              </a:defRPr>
            </a:pPr>
          </a:p>
          <a:p>
            <a:pPr algn="l">
              <a:spcAft>
                <a:spcPts val="800"/>
              </a:spcAft>
              <a:defRPr sz="1500" b="0" i="0">
                <a:solidFill>
                  <a:srgbClr val="333333"/>
                </a:solidFill>
                <a:latin typeface="Calibri"/>
              </a:defRPr>
            </a:pPr>
            <a:r>
              <a:t>Three standards were checked directly:</a:t>
            </a:r>
          </a:p>
          <a:p>
            <a:pPr algn="l">
              <a:spcAft>
                <a:spcPts val="800"/>
              </a:spcAft>
              <a:defRPr sz="1500" b="0" i="0">
                <a:solidFill>
                  <a:srgbClr val="333333"/>
                </a:solidFill>
                <a:latin typeface="Calibri"/>
              </a:defRPr>
            </a:pPr>
            <a:r>
              <a:t>   •  RSB Standard for Advanced Fuels (RSB-STD-01-010, v2.8, April 2026)</a:t>
            </a:r>
          </a:p>
          <a:p>
            <a:pPr algn="l">
              <a:spcAft>
                <a:spcPts val="800"/>
              </a:spcAft>
              <a:defRPr sz="1500" b="0" i="0">
                <a:solidFill>
                  <a:srgbClr val="333333"/>
                </a:solidFill>
                <a:latin typeface="Calibri"/>
              </a:defRPr>
            </a:pPr>
            <a:r>
              <a:t>   •  RSB Standard for ICAO CORSIA (RSB-STD-12-001, v1.7, April 2026) — a separate RSB standard, not a variant of the one above</a:t>
            </a:r>
          </a:p>
          <a:p>
            <a:pPr algn="l">
              <a:spcAft>
                <a:spcPts val="800"/>
              </a:spcAft>
              <a:defRPr sz="1500" b="0" i="0">
                <a:solidFill>
                  <a:srgbClr val="333333"/>
                </a:solidFill>
                <a:latin typeface="Calibri"/>
              </a:defRPr>
            </a:pPr>
            <a:r>
              <a:t>   •  ISCC Questions and Answers on the Certification of Co-Processing (v1.0, valid from 22 September 2025)</a:t>
            </a:r>
          </a:p>
          <a:p>
            <a:pPr algn="l">
              <a:spcAft>
                <a:spcPts val="800"/>
              </a:spcAft>
              <a:defRPr sz="1000" b="0" i="0">
                <a:solidFill>
                  <a:srgbClr val="333333"/>
                </a:solidFill>
                <a:latin typeface="Calibri"/>
              </a:defRPr>
            </a:pPr>
          </a:p>
          <a:p>
            <a:pPr algn="l">
              <a:spcAft>
                <a:spcPts val="800"/>
              </a:spcAft>
              <a:defRPr sz="1500" b="1" i="0">
                <a:solidFill>
                  <a:srgbClr val="333333"/>
                </a:solidFill>
                <a:latin typeface="Calibri"/>
              </a:defRPr>
            </a:pPr>
            <a:r>
              <a:t>Two terms are kept strictly separate throughout, because the standards themselves separate them:</a:t>
            </a:r>
          </a:p>
          <a:p>
            <a:pPr algn="l">
              <a:spcAft>
                <a:spcPts val="800"/>
              </a:spcAft>
              <a:defRPr sz="1500" b="0" i="0">
                <a:solidFill>
                  <a:srgbClr val="333333"/>
                </a:solidFill>
                <a:latin typeface="Calibri"/>
              </a:defRPr>
            </a:pPr>
            <a:r>
              <a:t>   Allocation — how GHG emissions are divided among co-products</a:t>
            </a:r>
          </a:p>
          <a:p>
            <a:pPr algn="l">
              <a:spcAft>
                <a:spcPts val="800"/>
              </a:spcAft>
              <a:defRPr sz="1500" b="0" i="0">
                <a:solidFill>
                  <a:srgbClr val="333333"/>
                </a:solidFill>
                <a:latin typeface="Calibri"/>
              </a:defRPr>
            </a:pPr>
            <a:r>
              <a:t>   Attribution — how a sustainability claim (“this output is X% biogenic”) is assigned to a specific output</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Scope: RSB Advanced Fuels, RSB ICAO CORSIA, and ISCC's co-processing guidance. Not checked: EU RED, LCFS, or other schemes.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2</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Allocation vs. attribution — in the standards' own words</a:t>
            </a:r>
          </a:p>
        </p:txBody>
      </p:sp>
      <p:sp>
        <p:nvSpPr>
          <p:cNvPr id="5" name="TextBox 4"/>
          <p:cNvSpPr txBox="1"/>
          <p:nvPr/>
        </p:nvSpPr>
        <p:spPr>
          <a:xfrm>
            <a:off x="548640" y="1188720"/>
            <a:ext cx="5394960" cy="4937760"/>
          </a:xfrm>
          <a:prstGeom prst="rect">
            <a:avLst/>
          </a:prstGeom>
          <a:noFill/>
        </p:spPr>
        <p:txBody>
          <a:bodyPr wrap="square">
            <a:spAutoFit/>
          </a:bodyPr>
          <a:lstStyle/>
          <a:p>
            <a:pPr algn="l">
              <a:spcAft>
                <a:spcPts val="800"/>
              </a:spcAft>
              <a:defRPr sz="1600" b="1" i="0">
                <a:solidFill>
                  <a:srgbClr val="2E5C6E"/>
                </a:solidFill>
                <a:latin typeface="Calibri"/>
              </a:defRPr>
            </a:pPr>
            <a:r>
              <a:t>ALLOCATION</a:t>
            </a:r>
          </a:p>
          <a:p>
            <a:pPr algn="l">
              <a:spcAft>
                <a:spcPts val="800"/>
              </a:spcAft>
              <a:defRPr sz="1200" b="0" i="1">
                <a:solidFill>
                  <a:srgbClr val="5A5A5A"/>
                </a:solidFill>
                <a:latin typeface="Calibri"/>
              </a:defRPr>
            </a:pPr>
            <a:r>
              <a:t>(the GHG emissions math)</a:t>
            </a:r>
          </a:p>
          <a:p>
            <a:pPr algn="l">
              <a:spcAft>
                <a:spcPts val="800"/>
              </a:spcAft>
              <a:defRPr sz="600" b="0" i="0">
                <a:solidFill>
                  <a:srgbClr val="333333"/>
                </a:solidFill>
                <a:latin typeface="Calibri"/>
              </a:defRPr>
            </a:pPr>
          </a:p>
          <a:p>
            <a:pPr algn="l">
              <a:spcAft>
                <a:spcPts val="800"/>
              </a:spcAft>
              <a:defRPr sz="1500" b="0" i="1">
                <a:solidFill>
                  <a:srgbClr val="333333"/>
                </a:solidFill>
                <a:latin typeface="Calibri"/>
              </a:defRPr>
            </a:pPr>
            <a:r>
              <a:t>“Allocation of the GHG emissions among the outputs shall be performed on an energy basis.”</a:t>
            </a:r>
          </a:p>
          <a:p>
            <a:pPr algn="l">
              <a:spcAft>
                <a:spcPts val="800"/>
              </a:spcAft>
              <a:defRPr sz="400" b="0" i="0">
                <a:solidFill>
                  <a:srgbClr val="333333"/>
                </a:solidFill>
                <a:latin typeface="Calibri"/>
              </a:defRPr>
            </a:pPr>
          </a:p>
          <a:p>
            <a:pPr algn="l">
              <a:spcAft>
                <a:spcPts val="800"/>
              </a:spcAft>
              <a:defRPr sz="1100" b="0" i="0">
                <a:solidFill>
                  <a:srgbClr val="5A5A5A"/>
                </a:solidFill>
                <a:latin typeface="Calibri"/>
              </a:defRPr>
            </a:pPr>
            <a:r>
              <a:t>— RSB Standard for Advanced Fuels, RSB-STD-01-010 v2.8, Annex IV, Note 7, p.28</a:t>
            </a:r>
          </a:p>
          <a:p>
            <a:pPr algn="l">
              <a:spcAft>
                <a:spcPts val="800"/>
              </a:spcAft>
              <a:defRPr sz="1000" b="0" i="0">
                <a:solidFill>
                  <a:srgbClr val="333333"/>
                </a:solidFill>
                <a:latin typeface="Calibri"/>
              </a:defRPr>
            </a:pPr>
          </a:p>
          <a:p>
            <a:pPr algn="l">
              <a:spcAft>
                <a:spcPts val="800"/>
              </a:spcAft>
              <a:defRPr sz="1300" b="0" i="0">
                <a:solidFill>
                  <a:srgbClr val="333333"/>
                </a:solidFill>
                <a:latin typeface="Calibri"/>
              </a:defRPr>
            </a:pPr>
            <a:r>
              <a:t>This rule does not change even when the sustainability claim is allocated flexibly (see next slides). The emissions math and the claim are two separate things.</a:t>
            </a:r>
          </a:p>
        </p:txBody>
      </p:sp>
      <p:sp>
        <p:nvSpPr>
          <p:cNvPr id="6" name="TextBox 5"/>
          <p:cNvSpPr txBox="1"/>
          <p:nvPr/>
        </p:nvSpPr>
        <p:spPr>
          <a:xfrm>
            <a:off x="6263640" y="1188720"/>
            <a:ext cx="5394960" cy="4937760"/>
          </a:xfrm>
          <a:prstGeom prst="rect">
            <a:avLst/>
          </a:prstGeom>
          <a:noFill/>
        </p:spPr>
        <p:txBody>
          <a:bodyPr wrap="square">
            <a:spAutoFit/>
          </a:bodyPr>
          <a:lstStyle/>
          <a:p>
            <a:pPr algn="l">
              <a:spcAft>
                <a:spcPts val="800"/>
              </a:spcAft>
              <a:defRPr sz="1600" b="1" i="0">
                <a:solidFill>
                  <a:srgbClr val="2E5C6E"/>
                </a:solidFill>
                <a:latin typeface="Calibri"/>
              </a:defRPr>
            </a:pPr>
            <a:r>
              <a:t>ATTRIBUTION</a:t>
            </a:r>
          </a:p>
          <a:p>
            <a:pPr algn="l">
              <a:spcAft>
                <a:spcPts val="800"/>
              </a:spcAft>
              <a:defRPr sz="1200" b="0" i="1">
                <a:solidFill>
                  <a:srgbClr val="5A5A5A"/>
                </a:solidFill>
                <a:latin typeface="Calibri"/>
              </a:defRPr>
            </a:pPr>
            <a:r>
              <a:t>(the sustainability claim)</a:t>
            </a:r>
          </a:p>
          <a:p>
            <a:pPr algn="l">
              <a:spcAft>
                <a:spcPts val="800"/>
              </a:spcAft>
              <a:defRPr sz="600" b="0" i="0">
                <a:solidFill>
                  <a:srgbClr val="333333"/>
                </a:solidFill>
                <a:latin typeface="Calibri"/>
              </a:defRPr>
            </a:pPr>
          </a:p>
          <a:p>
            <a:pPr algn="l">
              <a:spcAft>
                <a:spcPts val="800"/>
              </a:spcAft>
              <a:defRPr sz="1500" b="0" i="1">
                <a:solidFill>
                  <a:srgbClr val="333333"/>
                </a:solidFill>
                <a:latin typeface="Calibri"/>
              </a:defRPr>
            </a:pPr>
            <a:r>
              <a:t>“...attribute the bio-based portions of the input(s) or feedstock(s) to specific product(s) or output(s) using flexible attribution...”</a:t>
            </a:r>
          </a:p>
          <a:p>
            <a:pPr algn="l">
              <a:spcAft>
                <a:spcPts val="800"/>
              </a:spcAft>
              <a:defRPr sz="400" b="0" i="0">
                <a:solidFill>
                  <a:srgbClr val="333333"/>
                </a:solidFill>
                <a:latin typeface="Calibri"/>
              </a:defRPr>
            </a:pPr>
          </a:p>
          <a:p>
            <a:pPr algn="l">
              <a:spcAft>
                <a:spcPts val="800"/>
              </a:spcAft>
              <a:defRPr sz="1100" b="0" i="0">
                <a:solidFill>
                  <a:srgbClr val="5A5A5A"/>
                </a:solidFill>
                <a:latin typeface="Calibri"/>
              </a:defRPr>
            </a:pPr>
            <a:r>
              <a:t>— RSB Standard for Advanced Fuels, RSB-STD-01-010 v2.8, §2.4.2(c), p.11</a:t>
            </a:r>
          </a:p>
          <a:p>
            <a:pPr algn="l">
              <a:spcAft>
                <a:spcPts val="800"/>
              </a:spcAft>
              <a:defRPr sz="1000" b="0" i="0">
                <a:solidFill>
                  <a:srgbClr val="333333"/>
                </a:solidFill>
                <a:latin typeface="Calibri"/>
              </a:defRPr>
            </a:pPr>
          </a:p>
          <a:p>
            <a:pPr algn="l">
              <a:spcAft>
                <a:spcPts val="800"/>
              </a:spcAft>
              <a:defRPr sz="1300" b="0" i="0">
                <a:solidFill>
                  <a:srgbClr val="333333"/>
                </a:solidFill>
                <a:latin typeface="Calibri"/>
              </a:defRPr>
            </a:pPr>
            <a:r>
              <a:t>This is the mechanism that lets one output carry a 100% claim while another carries 0%, subject to guardrails covered on the next slides.</a:t>
            </a:r>
          </a:p>
        </p:txBody>
      </p:sp>
      <p:sp>
        <p:nvSpPr>
          <p:cNvPr id="7" name="TextBox 6"/>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§2.4.2 and Annex IV, Note 7 (p.11, p.28).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3</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RSB is not one scheme</a:t>
            </a:r>
          </a:p>
        </p:txBody>
      </p:sp>
      <p:sp>
        <p:nvSpPr>
          <p:cNvPr id="5" name="TextBox 4"/>
          <p:cNvSpPr txBox="1"/>
          <p:nvPr/>
        </p:nvSpPr>
        <p:spPr>
          <a:xfrm>
            <a:off x="548640" y="1097280"/>
            <a:ext cx="10972800" cy="548640"/>
          </a:xfrm>
          <a:prstGeom prst="rect">
            <a:avLst/>
          </a:prstGeom>
          <a:noFill/>
        </p:spPr>
        <p:txBody>
          <a:bodyPr wrap="square">
            <a:spAutoFit/>
          </a:bodyPr>
          <a:lstStyle/>
          <a:p>
            <a:pPr algn="l">
              <a:spcAft>
                <a:spcPts val="800"/>
              </a:spcAft>
              <a:defRPr sz="1500" b="1" i="0">
                <a:solidFill>
                  <a:srgbClr val="1B2A41"/>
                </a:solidFill>
                <a:latin typeface="Calibri"/>
              </a:defRPr>
            </a:pPr>
            <a:r>
              <a:t>“RSB” covers multiple distinct standards. The one that allows flexible attribution and the one used for CORSIA-eligible SAF are different documents — and they disagree on this point.</a:t>
            </a:r>
          </a:p>
        </p:txBody>
      </p:sp>
      <p:sp>
        <p:nvSpPr>
          <p:cNvPr id="6" name="Rounded Rectangle 5"/>
          <p:cNvSpPr/>
          <p:nvPr/>
        </p:nvSpPr>
        <p:spPr>
          <a:xfrm>
            <a:off x="548640" y="1828800"/>
            <a:ext cx="5394960" cy="4023360"/>
          </a:xfrm>
          <a:prstGeom prst="roundRect">
            <a:avLst/>
          </a:prstGeom>
          <a:solidFill>
            <a:srgbClr val="D6E4F0"/>
          </a:solidFill>
          <a:ln w="12700">
            <a:solidFill>
              <a:srgbClr val="2E5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63640" y="1828800"/>
            <a:ext cx="5394960" cy="4023360"/>
          </a:xfrm>
          <a:prstGeom prst="roundRect">
            <a:avLst/>
          </a:prstGeom>
          <a:solidFill>
            <a:srgbClr val="F2E3E3"/>
          </a:solidFill>
          <a:ln w="12700">
            <a:solidFill>
              <a:srgbClr val="8B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65960"/>
            <a:ext cx="4937760" cy="3749039"/>
          </a:xfrm>
          <a:prstGeom prst="rect">
            <a:avLst/>
          </a:prstGeom>
          <a:noFill/>
        </p:spPr>
        <p:txBody>
          <a:bodyPr wrap="square">
            <a:spAutoFit/>
          </a:bodyPr>
          <a:lstStyle/>
          <a:p>
            <a:pPr algn="l">
              <a:spcAft>
                <a:spcPts val="800"/>
              </a:spcAft>
              <a:defRPr sz="1700" b="1" i="0">
                <a:solidFill>
                  <a:srgbClr val="1B2A41"/>
                </a:solidFill>
                <a:latin typeface="Calibri"/>
              </a:defRPr>
            </a:pPr>
            <a:r>
              <a:t>RSB Standard for Advanced Fuels</a:t>
            </a:r>
          </a:p>
          <a:p>
            <a:pPr algn="l">
              <a:spcAft>
                <a:spcPts val="800"/>
              </a:spcAft>
              <a:defRPr sz="1200" b="0" i="1">
                <a:solidFill>
                  <a:srgbClr val="5A5A5A"/>
                </a:solidFill>
                <a:latin typeface="Calibri"/>
              </a:defRPr>
            </a:pPr>
            <a:r>
              <a:t>RSB-STD-01-010, v2.8, April 2026</a:t>
            </a:r>
          </a:p>
          <a:p>
            <a:pPr algn="l">
              <a:spcAft>
                <a:spcPts val="800"/>
              </a:spcAft>
              <a:defRPr sz="600" b="0" i="0">
                <a:solidFill>
                  <a:srgbClr val="333333"/>
                </a:solidFill>
                <a:latin typeface="Calibri"/>
              </a:defRPr>
            </a:pPr>
          </a:p>
          <a:p>
            <a:pPr algn="l">
              <a:spcAft>
                <a:spcPts val="800"/>
              </a:spcAft>
              <a:defRPr sz="1300" b="0" i="0">
                <a:solidFill>
                  <a:srgbClr val="333333"/>
                </a:solidFill>
                <a:latin typeface="Calibri"/>
              </a:defRPr>
            </a:pPr>
            <a:r>
              <a:t>Flexible attribution allowed as one of three options for documenting biogenic/fossil fractions:</a:t>
            </a:r>
          </a:p>
          <a:p>
            <a:pPr algn="l">
              <a:spcAft>
                <a:spcPts val="800"/>
              </a:spcAft>
              <a:defRPr sz="1300" b="0" i="0">
                <a:solidFill>
                  <a:srgbClr val="333333"/>
                </a:solidFill>
                <a:latin typeface="Calibri"/>
              </a:defRPr>
            </a:pPr>
            <a:r>
              <a:t>mass balance, radiocarbon method, or flexible attribution.</a:t>
            </a:r>
          </a:p>
          <a:p>
            <a:pPr algn="l">
              <a:spcAft>
                <a:spcPts val="800"/>
              </a:spcAft>
              <a:defRPr sz="400" b="0" i="0">
                <a:solidFill>
                  <a:srgbClr val="333333"/>
                </a:solidFill>
                <a:latin typeface="Calibri"/>
              </a:defRPr>
            </a:pPr>
          </a:p>
          <a:p>
            <a:pPr algn="l">
              <a:spcAft>
                <a:spcPts val="800"/>
              </a:spcAft>
              <a:defRPr sz="1100" b="0" i="1">
                <a:solidFill>
                  <a:srgbClr val="5A5A5A"/>
                </a:solidFill>
                <a:latin typeface="Calibri"/>
              </a:defRPr>
            </a:pPr>
            <a:r>
              <a:t>§2.4.2, p.11</a:t>
            </a:r>
          </a:p>
        </p:txBody>
      </p:sp>
      <p:sp>
        <p:nvSpPr>
          <p:cNvPr id="9" name="TextBox 8"/>
          <p:cNvSpPr txBox="1"/>
          <p:nvPr/>
        </p:nvSpPr>
        <p:spPr>
          <a:xfrm>
            <a:off x="6492240" y="1965960"/>
            <a:ext cx="4937760" cy="3749039"/>
          </a:xfrm>
          <a:prstGeom prst="rect">
            <a:avLst/>
          </a:prstGeom>
          <a:noFill/>
        </p:spPr>
        <p:txBody>
          <a:bodyPr wrap="square">
            <a:spAutoFit/>
          </a:bodyPr>
          <a:lstStyle/>
          <a:p>
            <a:pPr algn="l">
              <a:spcAft>
                <a:spcPts val="800"/>
              </a:spcAft>
              <a:defRPr sz="1700" b="1" i="0">
                <a:solidFill>
                  <a:srgbClr val="1B2A41"/>
                </a:solidFill>
                <a:latin typeface="Calibri"/>
              </a:defRPr>
            </a:pPr>
            <a:r>
              <a:t>RSB Standard for ICAO CORSIA</a:t>
            </a:r>
          </a:p>
          <a:p>
            <a:pPr algn="l">
              <a:spcAft>
                <a:spcPts val="800"/>
              </a:spcAft>
              <a:defRPr sz="1200" b="0" i="1">
                <a:solidFill>
                  <a:srgbClr val="5A5A5A"/>
                </a:solidFill>
                <a:latin typeface="Calibri"/>
              </a:defRPr>
            </a:pPr>
            <a:r>
              <a:t>RSB-STD-12-001, v1.7, April 2026</a:t>
            </a:r>
          </a:p>
          <a:p>
            <a:pPr algn="l">
              <a:spcAft>
                <a:spcPts val="800"/>
              </a:spcAft>
              <a:defRPr sz="600" b="0" i="0">
                <a:solidFill>
                  <a:srgbClr val="333333"/>
                </a:solidFill>
                <a:latin typeface="Calibri"/>
              </a:defRPr>
            </a:pPr>
          </a:p>
          <a:p>
            <a:pPr algn="l">
              <a:spcAft>
                <a:spcPts val="800"/>
              </a:spcAft>
              <a:defRPr sz="1300" b="0" i="0">
                <a:solidFill>
                  <a:srgbClr val="333333"/>
                </a:solidFill>
                <a:latin typeface="Calibri"/>
              </a:defRPr>
            </a:pPr>
            <a:r>
              <a:t>No flexible option. Co-product allocation is mandatory and energy-basis only:</a:t>
            </a:r>
          </a:p>
          <a:p>
            <a:pPr algn="l">
              <a:spcAft>
                <a:spcPts val="800"/>
              </a:spcAft>
              <a:defRPr sz="1300" b="0" i="1">
                <a:solidFill>
                  <a:srgbClr val="333333"/>
                </a:solidFill>
                <a:latin typeface="Calibri"/>
              </a:defRPr>
            </a:pPr>
            <a:r>
              <a:t>“...energy-based allocation shall be used to assign emission burdens to all co-products...”</a:t>
            </a:r>
          </a:p>
          <a:p>
            <a:pPr algn="l">
              <a:spcAft>
                <a:spcPts val="800"/>
              </a:spcAft>
              <a:defRPr sz="400" b="0" i="0">
                <a:solidFill>
                  <a:srgbClr val="333333"/>
                </a:solidFill>
                <a:latin typeface="Calibri"/>
              </a:defRPr>
            </a:pPr>
          </a:p>
          <a:p>
            <a:pPr algn="l">
              <a:spcAft>
                <a:spcPts val="800"/>
              </a:spcAft>
              <a:defRPr sz="1100" b="0" i="1">
                <a:solidFill>
                  <a:srgbClr val="5A5A5A"/>
                </a:solidFill>
                <a:latin typeface="Calibri"/>
              </a:defRPr>
            </a:pPr>
            <a:r>
              <a:t>§3.4.7.1, p.23</a:t>
            </a:r>
          </a:p>
        </p:txBody>
      </p:sp>
      <p:sp>
        <p:nvSpPr>
          <p:cNvPr id="10" name="TextBox 9"/>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STD-01-010 v2.8 from rsb.org; STD-12-001 v1.7 from rsb.org's current library listing.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4</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RSB Advanced Fuels: the mechanism and its cap</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400" b="1" i="0">
                <a:solidFill>
                  <a:srgbClr val="333333"/>
                </a:solidFill>
                <a:latin typeface="Calibri"/>
              </a:defRPr>
            </a:pPr>
            <a:r>
              <a:t>Worked example from the standard itself (Annex IV, p.29):</a:t>
            </a:r>
          </a:p>
          <a:p>
            <a:pPr algn="l">
              <a:spcAft>
                <a:spcPts val="800"/>
              </a:spcAft>
              <a:defRPr sz="1400" b="0" i="1">
                <a:solidFill>
                  <a:srgbClr val="333333"/>
                </a:solidFill>
                <a:latin typeface="Calibri"/>
              </a:defRPr>
            </a:pPr>
            <a:r>
              <a:t>“1.1t of jet fuel will be sold with 100% bioattributed claim, while the remaining quantity of products will be sold with 0% bioattributed claim. Note that the amount of jet fuel sold with 100% flexible attributed claim is limited by the amount of biogenic carbon content in the biobased feedstock considering the efficiency in converting the feedstock into output.”</a:t>
            </a:r>
          </a:p>
          <a:p>
            <a:pPr algn="l">
              <a:spcAft>
                <a:spcPts val="800"/>
              </a:spcAft>
              <a:defRPr sz="600" b="0" i="0">
                <a:solidFill>
                  <a:srgbClr val="333333"/>
                </a:solidFill>
                <a:latin typeface="Calibri"/>
              </a:defRPr>
            </a:pPr>
          </a:p>
          <a:p>
            <a:pPr algn="l">
              <a:spcAft>
                <a:spcPts val="800"/>
              </a:spcAft>
              <a:defRPr sz="1400" b="0" i="0">
                <a:solidFill>
                  <a:srgbClr val="333333"/>
                </a:solidFill>
                <a:latin typeface="Calibri"/>
              </a:defRPr>
            </a:pPr>
            <a:r>
              <a:t>The physical cap: Annex IV Step 1 (p.26) — eligible carbon exiting the process = feedstock mass × carbon content × conversion efficiency. Worked figure: 10t of biogenic carbon entering at 90% conversion efficiency yields 9t of eligible carbon — the ceiling on how much output can carry the claim, regardless of which output it's assigned to.</a:t>
            </a:r>
          </a:p>
          <a:p>
            <a:pPr algn="l">
              <a:spcAft>
                <a:spcPts val="800"/>
              </a:spcAft>
              <a:defRPr sz="600" b="0" i="0">
                <a:solidFill>
                  <a:srgbClr val="333333"/>
                </a:solidFill>
                <a:latin typeface="Calibri"/>
              </a:defRPr>
            </a:pPr>
          </a:p>
          <a:p>
            <a:pPr algn="l">
              <a:spcAft>
                <a:spcPts val="800"/>
              </a:spcAft>
              <a:defRPr sz="1400" b="1" i="0">
                <a:solidFill>
                  <a:srgbClr val="333333"/>
                </a:solidFill>
                <a:latin typeface="Calibri"/>
              </a:defRPr>
            </a:pPr>
            <a:r>
              <a:t>Guardrails, each from the standard's own text:</a:t>
            </a:r>
          </a:p>
          <a:p>
            <a:pPr algn="l">
              <a:spcAft>
                <a:spcPts val="800"/>
              </a:spcAft>
              <a:defRPr sz="1300" b="0" i="0">
                <a:solidFill>
                  <a:srgbClr val="333333"/>
                </a:solidFill>
                <a:latin typeface="Calibri"/>
              </a:defRPr>
            </a:pPr>
            <a:r>
              <a:t>   •  GHG emissions still allocated energy-basis: “Allocation of the GHG emissions among the outputs shall be performed on an energy basis.” (Annex IV, Note 7, p.28)</a:t>
            </a:r>
          </a:p>
          <a:p>
            <a:pPr algn="l">
              <a:spcAft>
                <a:spcPts val="800"/>
              </a:spcAft>
              <a:defRPr sz="1300" b="0" i="0">
                <a:solidFill>
                  <a:srgbClr val="333333"/>
                </a:solidFill>
                <a:latin typeface="Calibri"/>
              </a:defRPr>
            </a:pPr>
            <a:r>
              <a:t>   •  Balance discipline: non-negative balance required every 3 months (§2.4.5, p.12)</a:t>
            </a:r>
          </a:p>
          <a:p>
            <a:pPr algn="l">
              <a:spcAft>
                <a:spcPts val="800"/>
              </a:spcAft>
              <a:defRPr sz="1300" b="0" i="0">
                <a:solidFill>
                  <a:srgbClr val="333333"/>
                </a:solidFill>
                <a:latin typeface="Calibri"/>
              </a:defRPr>
            </a:pPr>
            <a:r>
              <a:t>   •  Boundary limits: one site, connected sites, or sites where double-booking is contractually prevented (§2.4.5, p.12)</a:t>
            </a:r>
          </a:p>
          <a:p>
            <a:pPr algn="l">
              <a:spcAft>
                <a:spcPts val="800"/>
              </a:spcAft>
              <a:defRPr sz="1300" b="0" i="0">
                <a:solidFill>
                  <a:srgbClr val="333333"/>
                </a:solidFill>
                <a:latin typeface="Calibri"/>
              </a:defRPr>
            </a:pPr>
            <a:r>
              <a:t>   •  Claim-label limit: “Claims may not refer to a physical sustainable content of the output product” — alternative labels like “RSB-Compliant Advanced Fuel” must be used instead (§2.5.4, p.12)</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§2.4.5, §2.5.4, Annex IV, pp.12, 26, 28, 29.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5</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RSB-CORSIA: why the flexible option isn't available</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500" b="1" i="0">
                <a:solidFill>
                  <a:srgbClr val="333333"/>
                </a:solidFill>
                <a:latin typeface="Calibri"/>
              </a:defRPr>
            </a:pPr>
            <a:r>
              <a:t>The mandatory rule (RSB-STD-12-001 v1.7, §3.4.7.1, p.23):</a:t>
            </a:r>
          </a:p>
          <a:p>
            <a:pPr algn="l">
              <a:spcAft>
                <a:spcPts val="800"/>
              </a:spcAft>
              <a:defRPr sz="1500" b="0" i="1">
                <a:solidFill>
                  <a:srgbClr val="333333"/>
                </a:solidFill>
                <a:latin typeface="Calibri"/>
              </a:defRPr>
            </a:pPr>
            <a:r>
              <a:t>“Whenever a processing step along the SAF supply chain results in the co-production of multiple commodities..., energy-based allocation shall be used to assign emission burdens to all co-products in proportion to their contribution to the total energy content... of products and co-products.”</a:t>
            </a:r>
          </a:p>
          <a:p>
            <a:pPr algn="l">
              <a:spcAft>
                <a:spcPts val="800"/>
              </a:spcAft>
              <a:defRPr sz="800" b="0" i="0">
                <a:solidFill>
                  <a:srgbClr val="333333"/>
                </a:solidFill>
                <a:latin typeface="Calibri"/>
              </a:defRPr>
            </a:pPr>
          </a:p>
          <a:p>
            <a:pPr algn="l">
              <a:spcAft>
                <a:spcPts val="800"/>
              </a:spcAft>
              <a:defRPr sz="1400" b="0" i="0">
                <a:solidFill>
                  <a:srgbClr val="333333"/>
                </a:solidFill>
                <a:latin typeface="Calibri"/>
              </a:defRPr>
            </a:pPr>
            <a:r>
              <a:t>This standard also incorporates RSB Advanced Fuels by reference for wastes, residues and by-products (§1.5, p.10) — the same standard that offers flexible attribution. So why doesn't that option carry over?</a:t>
            </a:r>
          </a:p>
          <a:p>
            <a:pPr algn="l">
              <a:spcAft>
                <a:spcPts val="800"/>
              </a:spcAft>
              <a:defRPr sz="600" b="0" i="0">
                <a:solidFill>
                  <a:srgbClr val="333333"/>
                </a:solidFill>
                <a:latin typeface="Calibri"/>
              </a:defRPr>
            </a:pPr>
          </a:p>
          <a:p>
            <a:pPr algn="l">
              <a:spcAft>
                <a:spcPts val="800"/>
              </a:spcAft>
              <a:defRPr sz="1400" b="1" i="0">
                <a:solidFill>
                  <a:srgbClr val="333333"/>
                </a:solidFill>
                <a:latin typeface="Calibri"/>
              </a:defRPr>
            </a:pPr>
            <a:r>
              <a:t>Its own precedence clause answers that (§D, p.6):</a:t>
            </a:r>
          </a:p>
          <a:p>
            <a:pPr algn="l">
              <a:spcAft>
                <a:spcPts val="800"/>
              </a:spcAft>
              <a:defRPr sz="1400" b="0" i="1">
                <a:solidFill>
                  <a:srgbClr val="333333"/>
                </a:solidFill>
                <a:latin typeface="Calibri"/>
              </a:defRPr>
            </a:pPr>
            <a:r>
              <a:t>“In the event of inconsistency between this RSB standard and the RSB Principles &amp; Criteria [RSB-STD-01-001] or other RSB standards and procedures, this standard shall prevail.”</a:t>
            </a:r>
          </a:p>
          <a:p>
            <a:pPr algn="l">
              <a:spcAft>
                <a:spcPts val="800"/>
              </a:spcAft>
              <a:defRPr sz="800" b="0" i="0">
                <a:solidFill>
                  <a:srgbClr val="333333"/>
                </a:solidFill>
                <a:latin typeface="Calibri"/>
              </a:defRPr>
            </a:pPr>
          </a:p>
          <a:p>
            <a:pPr algn="l">
              <a:spcAft>
                <a:spcPts val="800"/>
              </a:spcAft>
              <a:defRPr sz="1400" b="0" i="0">
                <a:solidFill>
                  <a:srgbClr val="333333"/>
                </a:solidFill>
                <a:latin typeface="Calibri"/>
              </a:defRPr>
            </a:pPr>
            <a:r>
              <a:t>Mandatory energy-based allocation (§3.4.7.1) is this standard's own rule — so it overrides the flexible option that RSB Advanced Fuels would otherwise offer.</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RSB-STD-12-001 v1.7, §1.5, §3.4.7.1, §D, pp.6, 10, 23. Version 1.7 published 7 April 2026; effective immediately per §C, p.6.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6</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ISCC: a two-stage rule, and a provisional one</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500" b="1" i="0">
                <a:solidFill>
                  <a:srgbClr val="333333"/>
                </a:solidFill>
                <a:latin typeface="Calibri"/>
              </a:defRPr>
            </a:pPr>
            <a:r>
              <a:t>ISCC's Co-Processing Q&amp;A (v1.0, valid from 22 Sept 2025) addresses this directly, p.21:</a:t>
            </a:r>
          </a:p>
          <a:p>
            <a:pPr algn="l">
              <a:spcAft>
                <a:spcPts val="800"/>
              </a:spcAft>
              <a:defRPr sz="1500" b="0" i="1">
                <a:solidFill>
                  <a:srgbClr val="333333"/>
                </a:solidFill>
                <a:latin typeface="Calibri"/>
              </a:defRPr>
            </a:pPr>
            <a:r>
              <a:t>“At the processing unit a proportional assignment is required to comply with co-processing rules. When further trading the co-processed fuel, a flexible assignment shall be allowed until further notice from the EC and an updated Implementing Regulation 2022/996.”</a:t>
            </a:r>
          </a:p>
          <a:p>
            <a:pPr algn="l">
              <a:spcAft>
                <a:spcPts val="800"/>
              </a:spcAft>
              <a:defRPr sz="800" b="0" i="0">
                <a:solidFill>
                  <a:srgbClr val="333333"/>
                </a:solidFill>
                <a:latin typeface="Calibri"/>
              </a:defRPr>
            </a:pPr>
          </a:p>
          <a:p>
            <a:pPr algn="l">
              <a:spcAft>
                <a:spcPts val="800"/>
              </a:spcAft>
              <a:defRPr sz="1400" b="1" i="0">
                <a:solidFill>
                  <a:srgbClr val="333333"/>
                </a:solidFill>
                <a:latin typeface="Calibri"/>
              </a:defRPr>
            </a:pPr>
            <a:r>
              <a:t>Same page, ISCC's own characterization of the state of play:</a:t>
            </a:r>
          </a:p>
          <a:p>
            <a:pPr algn="l">
              <a:spcAft>
                <a:spcPts val="800"/>
              </a:spcAft>
              <a:defRPr sz="1300" b="0" i="1">
                <a:solidFill>
                  <a:srgbClr val="333333"/>
                </a:solidFill>
                <a:latin typeface="Calibri"/>
              </a:defRPr>
            </a:pPr>
            <a:r>
              <a:t>“The topic of proportional or flexible assignment is still under discussion. Certain Member States (MS) are in favour of flexible allocation of sustainable attributes to a specific portion of the fuel, while others prefer proportional allocation until certain element of the supply chain... As the ISCC mass balance guidance document is still awaiting approval from EC, flexible allocation of sustainability attributes shall be allowed until further notice.”</a:t>
            </a:r>
          </a:p>
          <a:p>
            <a:pPr algn="l">
              <a:spcAft>
                <a:spcPts val="800"/>
              </a:spcAft>
              <a:defRPr sz="800" b="0" i="0">
                <a:solidFill>
                  <a:srgbClr val="333333"/>
                </a:solidFill>
                <a:latin typeface="Calibri"/>
              </a:defRPr>
            </a:pPr>
          </a:p>
          <a:p>
            <a:pPr algn="l">
              <a:spcAft>
                <a:spcPts val="800"/>
              </a:spcAft>
              <a:defRPr sz="1400" b="1" i="0">
                <a:solidFill>
                  <a:srgbClr val="333333"/>
                </a:solidFill>
                <a:latin typeface="Calibri"/>
              </a:defRPr>
            </a:pPr>
            <a:r>
              <a:t>Reading: proportional assignment is mandatory at the point of processing itself; flexible assignment is permitted only further downstream in trading, and only as a stopgap while the EU has not yet finalized its position — not a settled, published methodology the way RSB Advanced Fuels' Annex IV is.</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ISCC Q&amp;A on Co-Processing v1.0, p.21, dated 22 Sept 2025. Whether the EC has since finalized the referenced revision to Implementing Regulation 2022/996 is not confirmed.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7</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Guardrails, side by side</a:t>
            </a:r>
          </a:p>
        </p:txBody>
      </p:sp>
      <p:graphicFrame>
        <p:nvGraphicFramePr>
          <p:cNvPr id="5" name="Table 4"/>
          <p:cNvGraphicFramePr>
            <a:graphicFrameLocks noGrp="1"/>
          </p:cNvGraphicFramePr>
          <p:nvPr/>
        </p:nvGraphicFramePr>
        <p:xfrm>
          <a:off x="457200" y="1234440"/>
          <a:ext cx="11247120" cy="4846320"/>
        </p:xfrm>
        <a:graphic>
          <a:graphicData uri="http://schemas.openxmlformats.org/drawingml/2006/table">
            <a:tbl>
              <a:tblPr firstRow="1" bandRow="1">
                <a:tableStyleId>{5C22544A-7EE6-4342-B048-85BDC9FD1C3A}</a:tableStyleId>
              </a:tblPr>
              <a:tblGrid>
                <a:gridCol w="2468880"/>
                <a:gridCol w="4389120"/>
                <a:gridCol w="4389120"/>
              </a:tblGrid>
              <a:tr h="807720">
                <a:tc>
                  <a:txBody>
                    <a:bodyPr/>
                    <a:lstStyle/>
                    <a:p>
                      <a:pPr>
                        <a:defRPr sz="1350" b="1">
                          <a:solidFill>
                            <a:srgbClr val="FFFFFF"/>
                          </a:solidFill>
                          <a:latin typeface="Calibri"/>
                        </a:defRPr>
                      </a:pPr>
                      <a:r>
                        <a:t>Guardrail</a:t>
                      </a:r>
                    </a:p>
                  </a:txBody>
                  <a:tcPr anchor="t" marL="73152" marR="73152" marT="45720" marB="45720">
                    <a:solidFill>
                      <a:srgbClr val="1B2A41"/>
                    </a:solidFill>
                  </a:tcPr>
                </a:tc>
                <a:tc>
                  <a:txBody>
                    <a:bodyPr/>
                    <a:lstStyle/>
                    <a:p>
                      <a:pPr>
                        <a:defRPr sz="1350" b="1">
                          <a:solidFill>
                            <a:srgbClr val="FFFFFF"/>
                          </a:solidFill>
                          <a:latin typeface="Calibri"/>
                        </a:defRPr>
                      </a:pPr>
                      <a:r>
                        <a:t>RSB Advanced Fuels</a:t>
                      </a:r>
                    </a:p>
                  </a:txBody>
                  <a:tcPr anchor="t" marL="73152" marR="73152" marT="45720" marB="45720">
                    <a:solidFill>
                      <a:srgbClr val="1B2A41"/>
                    </a:solidFill>
                  </a:tcPr>
                </a:tc>
                <a:tc>
                  <a:txBody>
                    <a:bodyPr/>
                    <a:lstStyle/>
                    <a:p>
                      <a:pPr>
                        <a:defRPr sz="1350" b="1">
                          <a:solidFill>
                            <a:srgbClr val="FFFFFF"/>
                          </a:solidFill>
                          <a:latin typeface="Calibri"/>
                        </a:defRPr>
                      </a:pPr>
                      <a:r>
                        <a:t>ISCC (co-processing)</a:t>
                      </a:r>
                    </a:p>
                  </a:txBody>
                  <a:tcPr anchor="t" marL="73152" marR="73152" marT="45720" marB="45720">
                    <a:solidFill>
                      <a:srgbClr val="1B2A41"/>
                    </a:solidFill>
                  </a:tcPr>
                </a:tc>
              </a:tr>
              <a:tr h="807720">
                <a:tc>
                  <a:txBody>
                    <a:bodyPr/>
                    <a:lstStyle/>
                    <a:p>
                      <a:pPr>
                        <a:defRPr sz="1250" b="0">
                          <a:solidFill>
                            <a:srgbClr val="333333"/>
                          </a:solidFill>
                          <a:latin typeface="Calibri"/>
                        </a:defRPr>
                      </a:pPr>
                      <a:r>
                        <a:t>Physical cap on the claim</a:t>
                      </a:r>
                    </a:p>
                  </a:txBody>
                  <a:tcPr anchor="t" marL="73152" marR="73152" marT="45720" marB="45720">
                    <a:solidFill>
                      <a:srgbClr val="D6E4F0"/>
                    </a:solidFill>
                  </a:tcPr>
                </a:tc>
                <a:tc>
                  <a:txBody>
                    <a:bodyPr/>
                    <a:lstStyle/>
                    <a:p>
                      <a:pPr>
                        <a:defRPr sz="1250" b="0">
                          <a:solidFill>
                            <a:srgbClr val="333333"/>
                          </a:solidFill>
                          <a:latin typeface="Calibri"/>
                        </a:defRPr>
                      </a:pPr>
                      <a:r>
                        <a:t>Yes — capped by feedstock carbon content × conversion efficiency (Annex IV, p.26)</a:t>
                      </a:r>
                    </a:p>
                  </a:txBody>
                  <a:tcPr anchor="t" marL="73152" marR="73152" marT="45720" marB="45720">
                    <a:solidFill>
                      <a:srgbClr val="D6E4F0"/>
                    </a:solidFill>
                  </a:tcPr>
                </a:tc>
                <a:tc>
                  <a:txBody>
                    <a:bodyPr/>
                    <a:lstStyle/>
                    <a:p>
                      <a:pPr>
                        <a:defRPr sz="1250" b="0">
                          <a:solidFill>
                            <a:srgbClr val="333333"/>
                          </a:solidFill>
                          <a:latin typeface="Calibri"/>
                        </a:defRPr>
                      </a:pPr>
                      <a:r>
                        <a:t>Yes — proportional assignment mandatory at the processing unit itself (p.21)</a:t>
                      </a:r>
                    </a:p>
                  </a:txBody>
                  <a:tcPr anchor="t" marL="73152" marR="73152" marT="45720" marB="45720">
                    <a:solidFill>
                      <a:srgbClr val="D6E4F0"/>
                    </a:solidFill>
                  </a:tcPr>
                </a:tc>
              </a:tr>
              <a:tr h="807720">
                <a:tc>
                  <a:txBody>
                    <a:bodyPr/>
                    <a:lstStyle/>
                    <a:p>
                      <a:pPr>
                        <a:defRPr sz="1250" b="0">
                          <a:solidFill>
                            <a:srgbClr val="333333"/>
                          </a:solidFill>
                          <a:latin typeface="Calibri"/>
                        </a:defRPr>
                      </a:pPr>
                      <a:r>
                        <a:t>GHG emissions allocation</a:t>
                      </a:r>
                    </a:p>
                  </a:txBody>
                  <a:tcPr anchor="t" marL="73152" marR="73152" marT="45720" marB="45720">
                    <a:solidFill>
                      <a:srgbClr val="FFFFFF"/>
                    </a:solidFill>
                  </a:tcPr>
                </a:tc>
                <a:tc>
                  <a:txBody>
                    <a:bodyPr/>
                    <a:lstStyle/>
                    <a:p>
                      <a:pPr>
                        <a:defRPr sz="1250" b="0">
                          <a:solidFill>
                            <a:srgbClr val="333333"/>
                          </a:solidFill>
                          <a:latin typeface="Calibri"/>
                        </a:defRPr>
                      </a:pPr>
                      <a:r>
                        <a:t>Still energy-basis, regardless of the claim (Annex IV, Note 7, p.28)</a:t>
                      </a:r>
                    </a:p>
                  </a:txBody>
                  <a:tcPr anchor="t" marL="73152" marR="73152" marT="45720" marB="45720">
                    <a:solidFill>
                      <a:srgbClr val="FFFFFF"/>
                    </a:solidFill>
                  </a:tcPr>
                </a:tc>
                <a:tc>
                  <a:txBody>
                    <a:bodyPr/>
                    <a:lstStyle/>
                    <a:p>
                      <a:pPr>
                        <a:defRPr sz="1250" b="0">
                          <a:solidFill>
                            <a:srgbClr val="333333"/>
                          </a:solidFill>
                          <a:latin typeface="Calibri"/>
                        </a:defRPr>
                      </a:pPr>
                      <a:r>
                        <a:t>Not addressed separately from bio-content in the ISCC Q&amp;A</a:t>
                      </a:r>
                    </a:p>
                  </a:txBody>
                  <a:tcPr anchor="t" marL="73152" marR="73152" marT="45720" marB="45720">
                    <a:solidFill>
                      <a:srgbClr val="FFFFFF"/>
                    </a:solidFill>
                  </a:tcPr>
                </a:tc>
              </a:tr>
              <a:tr h="807720">
                <a:tc>
                  <a:txBody>
                    <a:bodyPr/>
                    <a:lstStyle/>
                    <a:p>
                      <a:pPr>
                        <a:defRPr sz="1250" b="0">
                          <a:solidFill>
                            <a:srgbClr val="333333"/>
                          </a:solidFill>
                          <a:latin typeface="Calibri"/>
                        </a:defRPr>
                      </a:pPr>
                      <a:r>
                        <a:t>Claim-label restriction</a:t>
                      </a:r>
                    </a:p>
                  </a:txBody>
                  <a:tcPr anchor="t" marL="73152" marR="73152" marT="45720" marB="45720">
                    <a:solidFill>
                      <a:srgbClr val="D6E4F0"/>
                    </a:solidFill>
                  </a:tcPr>
                </a:tc>
                <a:tc>
                  <a:txBody>
                    <a:bodyPr/>
                    <a:lstStyle/>
                    <a:p>
                      <a:pPr>
                        <a:defRPr sz="1250" b="0">
                          <a:solidFill>
                            <a:srgbClr val="333333"/>
                          </a:solidFill>
                          <a:latin typeface="Calibri"/>
                        </a:defRPr>
                      </a:pPr>
                      <a:r>
                        <a:t>Yes — no “physical sustainable content” claim; alternate labels required (§2.5.4, p.12)</a:t>
                      </a:r>
                    </a:p>
                  </a:txBody>
                  <a:tcPr anchor="t" marL="73152" marR="73152" marT="45720" marB="45720">
                    <a:solidFill>
                      <a:srgbClr val="D6E4F0"/>
                    </a:solidFill>
                  </a:tcPr>
                </a:tc>
                <a:tc>
                  <a:txBody>
                    <a:bodyPr/>
                    <a:lstStyle/>
                    <a:p>
                      <a:pPr>
                        <a:defRPr sz="1250" b="0">
                          <a:solidFill>
                            <a:srgbClr val="333333"/>
                          </a:solidFill>
                          <a:latin typeface="Calibri"/>
                        </a:defRPr>
                      </a:pPr>
                      <a:r>
                        <a:t>Not addressed in the ISCC Q&amp;A</a:t>
                      </a:r>
                    </a:p>
                  </a:txBody>
                  <a:tcPr anchor="t" marL="73152" marR="73152" marT="45720" marB="45720">
                    <a:solidFill>
                      <a:srgbClr val="D6E4F0"/>
                    </a:solidFill>
                  </a:tcPr>
                </a:tc>
              </a:tr>
              <a:tr h="807720">
                <a:tc>
                  <a:txBody>
                    <a:bodyPr/>
                    <a:lstStyle/>
                    <a:p>
                      <a:pPr>
                        <a:defRPr sz="1250" b="0">
                          <a:solidFill>
                            <a:srgbClr val="333333"/>
                          </a:solidFill>
                          <a:latin typeface="Calibri"/>
                        </a:defRPr>
                      </a:pPr>
                      <a:r>
                        <a:t>Balance / bookkeeping</a:t>
                      </a:r>
                    </a:p>
                  </a:txBody>
                  <a:tcPr anchor="t" marL="73152" marR="73152" marT="45720" marB="45720">
                    <a:solidFill>
                      <a:srgbClr val="FFFFFF"/>
                    </a:solidFill>
                  </a:tcPr>
                </a:tc>
                <a:tc>
                  <a:txBody>
                    <a:bodyPr/>
                    <a:lstStyle/>
                    <a:p>
                      <a:pPr>
                        <a:defRPr sz="1250" b="0">
                          <a:solidFill>
                            <a:srgbClr val="333333"/>
                          </a:solidFill>
                          <a:latin typeface="Calibri"/>
                        </a:defRPr>
                      </a:pPr>
                      <a:r>
                        <a:t>Non-negative balance every 3 months, documented (§2.4.5, p.12)</a:t>
                      </a:r>
                    </a:p>
                  </a:txBody>
                  <a:tcPr anchor="t" marL="73152" marR="73152" marT="45720" marB="45720">
                    <a:solidFill>
                      <a:srgbClr val="FFFFFF"/>
                    </a:solidFill>
                  </a:tcPr>
                </a:tc>
                <a:tc>
                  <a:txBody>
                    <a:bodyPr/>
                    <a:lstStyle/>
                    <a:p>
                      <a:pPr>
                        <a:defRPr sz="1250" b="0">
                          <a:solidFill>
                            <a:srgbClr val="333333"/>
                          </a:solidFill>
                          <a:latin typeface="Calibri"/>
                        </a:defRPr>
                      </a:pPr>
                      <a:r>
                        <a:t>General ISCC mass-balancing rules apply once bio-content is established (p.21)</a:t>
                      </a:r>
                    </a:p>
                  </a:txBody>
                  <a:tcPr anchor="t" marL="73152" marR="73152" marT="45720" marB="45720">
                    <a:solidFill>
                      <a:srgbClr val="FFFFFF"/>
                    </a:solidFill>
                  </a:tcPr>
                </a:tc>
              </a:tr>
              <a:tr h="807720">
                <a:tc>
                  <a:txBody>
                    <a:bodyPr/>
                    <a:lstStyle/>
                    <a:p>
                      <a:pPr>
                        <a:defRPr sz="1250" b="0">
                          <a:solidFill>
                            <a:srgbClr val="333333"/>
                          </a:solidFill>
                          <a:latin typeface="Calibri"/>
                        </a:defRPr>
                      </a:pPr>
                      <a:r>
                        <a:t>Status of the mechanism</a:t>
                      </a:r>
                    </a:p>
                  </a:txBody>
                  <a:tcPr anchor="t" marL="73152" marR="73152" marT="45720" marB="45720">
                    <a:solidFill>
                      <a:srgbClr val="D6E4F0"/>
                    </a:solidFill>
                  </a:tcPr>
                </a:tc>
                <a:tc>
                  <a:txBody>
                    <a:bodyPr/>
                    <a:lstStyle/>
                    <a:p>
                      <a:pPr>
                        <a:defRPr sz="1250" b="0">
                          <a:solidFill>
                            <a:srgbClr val="333333"/>
                          </a:solidFill>
                          <a:latin typeface="Calibri"/>
                        </a:defRPr>
                      </a:pPr>
                      <a:r>
                        <a:t>Published, worked methodology with numeric examples (Annex IV–V)</a:t>
                      </a:r>
                    </a:p>
                  </a:txBody>
                  <a:tcPr anchor="t" marL="73152" marR="73152" marT="45720" marB="45720">
                    <a:solidFill>
                      <a:srgbClr val="D6E4F0"/>
                    </a:solidFill>
                  </a:tcPr>
                </a:tc>
                <a:tc>
                  <a:txBody>
                    <a:bodyPr/>
                    <a:lstStyle/>
                    <a:p>
                      <a:pPr>
                        <a:defRPr sz="1250" b="0">
                          <a:solidFill>
                            <a:srgbClr val="333333"/>
                          </a:solidFill>
                          <a:latin typeface="Calibri"/>
                        </a:defRPr>
                      </a:pPr>
                      <a:r>
                        <a:t>Provisional — “shall be allowed until further notice from the EC” (p.21)</a:t>
                      </a:r>
                    </a:p>
                  </a:txBody>
                  <a:tcPr anchor="t" marL="73152" marR="73152" marT="45720" marB="45720">
                    <a:solidFill>
                      <a:srgbClr val="D6E4F0"/>
                    </a:solidFill>
                  </a:tcPr>
                </a:tc>
              </a:tr>
            </a:tbl>
          </a:graphicData>
        </a:graphic>
      </p:graphicFrame>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Cell contents summarize citations detailed on slides 5–7; see the citation appendix for exact quotes.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8</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The answer, in one table</a:t>
            </a:r>
          </a:p>
        </p:txBody>
      </p:sp>
      <p:graphicFrame>
        <p:nvGraphicFramePr>
          <p:cNvPr id="5" name="Table 4"/>
          <p:cNvGraphicFramePr>
            <a:graphicFrameLocks noGrp="1"/>
          </p:cNvGraphicFramePr>
          <p:nvPr/>
        </p:nvGraphicFramePr>
        <p:xfrm>
          <a:off x="457200" y="1371600"/>
          <a:ext cx="11247120" cy="3840480"/>
        </p:xfrm>
        <a:graphic>
          <a:graphicData uri="http://schemas.openxmlformats.org/drawingml/2006/table">
            <a:tbl>
              <a:tblPr firstRow="1" bandRow="1">
                <a:tableStyleId>{5C22544A-7EE6-4342-B048-85BDC9FD1C3A}</a:tableStyleId>
              </a:tblPr>
              <a:tblGrid>
                <a:gridCol w="2377440"/>
                <a:gridCol w="2743200"/>
                <a:gridCol w="3063240"/>
                <a:gridCol w="3063240"/>
              </a:tblGrid>
              <a:tr h="960120">
                <a:tc>
                  <a:txBody>
                    <a:bodyPr/>
                    <a:lstStyle/>
                    <a:p>
                      <a:pPr>
                        <a:defRPr sz="1300" b="1">
                          <a:solidFill>
                            <a:srgbClr val="FFFFFF"/>
                          </a:solidFill>
                          <a:latin typeface="Calibri"/>
                        </a:defRPr>
                      </a:pPr>
                    </a:p>
                  </a:txBody>
                  <a:tcPr marL="73152" marR="73152">
                    <a:solidFill>
                      <a:srgbClr val="1B2A41"/>
                    </a:solidFill>
                  </a:tcPr>
                </a:tc>
                <a:tc>
                  <a:txBody>
                    <a:bodyPr/>
                    <a:lstStyle/>
                    <a:p>
                      <a:pPr>
                        <a:defRPr sz="1300" b="1">
                          <a:solidFill>
                            <a:srgbClr val="FFFFFF"/>
                          </a:solidFill>
                          <a:latin typeface="Calibri"/>
                        </a:defRPr>
                      </a:pPr>
                      <a:r>
                        <a:t>RSB-CORSIA</a:t>
                      </a:r>
                    </a:p>
                  </a:txBody>
                  <a:tcPr marL="73152" marR="73152">
                    <a:solidFill>
                      <a:srgbClr val="1B2A41"/>
                    </a:solidFill>
                  </a:tcPr>
                </a:tc>
                <a:tc>
                  <a:txBody>
                    <a:bodyPr/>
                    <a:lstStyle/>
                    <a:p>
                      <a:pPr>
                        <a:defRPr sz="1300" b="1">
                          <a:solidFill>
                            <a:srgbClr val="FFFFFF"/>
                          </a:solidFill>
                          <a:latin typeface="Calibri"/>
                        </a:defRPr>
                      </a:pPr>
                      <a:r>
                        <a:t>RSB Advanced Fuels</a:t>
                      </a:r>
                    </a:p>
                  </a:txBody>
                  <a:tcPr marL="73152" marR="73152">
                    <a:solidFill>
                      <a:srgbClr val="1B2A41"/>
                    </a:solidFill>
                  </a:tcPr>
                </a:tc>
                <a:tc>
                  <a:txBody>
                    <a:bodyPr/>
                    <a:lstStyle/>
                    <a:p>
                      <a:pPr>
                        <a:defRPr sz="1300" b="1">
                          <a:solidFill>
                            <a:srgbClr val="FFFFFF"/>
                          </a:solidFill>
                          <a:latin typeface="Calibri"/>
                        </a:defRPr>
                      </a:pPr>
                      <a:r>
                        <a:t>ISCC (co-processing)</a:t>
                      </a:r>
                    </a:p>
                  </a:txBody>
                  <a:tcPr marL="73152" marR="73152">
                    <a:solidFill>
                      <a:srgbClr val="1B2A41"/>
                    </a:solidFill>
                  </a:tcPr>
                </a:tc>
              </a:tr>
              <a:tr h="960120">
                <a:tc>
                  <a:txBody>
                    <a:bodyPr/>
                    <a:lstStyle/>
                    <a:p>
                      <a:pPr>
                        <a:defRPr sz="1300" b="1">
                          <a:solidFill>
                            <a:srgbClr val="333333"/>
                          </a:solidFill>
                          <a:latin typeface="Calibri"/>
                        </a:defRPr>
                      </a:pPr>
                      <a:r>
                        <a:t>Flexible allocation/attribution allowed?</a:t>
                      </a:r>
                    </a:p>
                  </a:txBody>
                  <a:tcPr marL="73152" marR="73152">
                    <a:solidFill>
                      <a:srgbClr val="D6E4F0"/>
                    </a:solidFill>
                  </a:tcPr>
                </a:tc>
                <a:tc>
                  <a:txBody>
                    <a:bodyPr/>
                    <a:lstStyle/>
                    <a:p>
                      <a:pPr>
                        <a:defRPr sz="1300" b="0">
                          <a:solidFill>
                            <a:srgbClr val="333333"/>
                          </a:solidFill>
                          <a:latin typeface="Calibri"/>
                        </a:defRPr>
                      </a:pPr>
                      <a:r>
                        <a:t>No</a:t>
                      </a:r>
                    </a:p>
                  </a:txBody>
                  <a:tcPr marL="73152" marR="73152">
                    <a:solidFill>
                      <a:srgbClr val="D6E4F0"/>
                    </a:solidFill>
                  </a:tcPr>
                </a:tc>
                <a:tc>
                  <a:txBody>
                    <a:bodyPr/>
                    <a:lstStyle/>
                    <a:p>
                      <a:pPr>
                        <a:defRPr sz="1300" b="0">
                          <a:solidFill>
                            <a:srgbClr val="333333"/>
                          </a:solidFill>
                          <a:latin typeface="Calibri"/>
                        </a:defRPr>
                      </a:pPr>
                      <a:r>
                        <a:t>Yes</a:t>
                      </a:r>
                    </a:p>
                  </a:txBody>
                  <a:tcPr marL="73152" marR="73152">
                    <a:solidFill>
                      <a:srgbClr val="D6E4F0"/>
                    </a:solidFill>
                  </a:tcPr>
                </a:tc>
                <a:tc>
                  <a:txBody>
                    <a:bodyPr/>
                    <a:lstStyle/>
                    <a:p>
                      <a:pPr>
                        <a:defRPr sz="1300" b="0">
                          <a:solidFill>
                            <a:srgbClr val="333333"/>
                          </a:solidFill>
                          <a:latin typeface="Calibri"/>
                        </a:defRPr>
                      </a:pPr>
                      <a:r>
                        <a:t>Yes — downstream of the processing unit only</a:t>
                      </a:r>
                    </a:p>
                  </a:txBody>
                  <a:tcPr marL="73152" marR="73152">
                    <a:solidFill>
                      <a:srgbClr val="D6E4F0"/>
                    </a:solidFill>
                  </a:tcPr>
                </a:tc>
              </a:tr>
              <a:tr h="960120">
                <a:tc>
                  <a:txBody>
                    <a:bodyPr/>
                    <a:lstStyle/>
                    <a:p>
                      <a:pPr>
                        <a:defRPr sz="1300" b="1">
                          <a:solidFill>
                            <a:srgbClr val="333333"/>
                          </a:solidFill>
                          <a:latin typeface="Calibri"/>
                        </a:defRPr>
                      </a:pPr>
                      <a:r>
                        <a:t>Governing citation</a:t>
                      </a:r>
                    </a:p>
                  </a:txBody>
                  <a:tcPr marL="73152" marR="73152">
                    <a:solidFill>
                      <a:srgbClr val="FFFFFF"/>
                    </a:solidFill>
                  </a:tcPr>
                </a:tc>
                <a:tc>
                  <a:txBody>
                    <a:bodyPr/>
                    <a:lstStyle/>
                    <a:p>
                      <a:pPr>
                        <a:defRPr sz="1300" b="0">
                          <a:solidFill>
                            <a:srgbClr val="333333"/>
                          </a:solidFill>
                          <a:latin typeface="Calibri"/>
                        </a:defRPr>
                      </a:pPr>
                      <a:r>
                        <a:t>RSB-STD-12-001 v1.7, §3.4.7.1, p.23</a:t>
                      </a:r>
                    </a:p>
                  </a:txBody>
                  <a:tcPr marL="73152" marR="73152">
                    <a:solidFill>
                      <a:srgbClr val="FFFFFF"/>
                    </a:solidFill>
                  </a:tcPr>
                </a:tc>
                <a:tc>
                  <a:txBody>
                    <a:bodyPr/>
                    <a:lstStyle/>
                    <a:p>
                      <a:pPr>
                        <a:defRPr sz="1300" b="0">
                          <a:solidFill>
                            <a:srgbClr val="333333"/>
                          </a:solidFill>
                          <a:latin typeface="Calibri"/>
                        </a:defRPr>
                      </a:pPr>
                      <a:r>
                        <a:t>RSB-STD-01-010 v2.8, §2.4.2/2.4.5/Annex IV</a:t>
                      </a:r>
                    </a:p>
                  </a:txBody>
                  <a:tcPr marL="73152" marR="73152">
                    <a:solidFill>
                      <a:srgbClr val="FFFFFF"/>
                    </a:solidFill>
                  </a:tcPr>
                </a:tc>
                <a:tc>
                  <a:txBody>
                    <a:bodyPr/>
                    <a:lstStyle/>
                    <a:p>
                      <a:pPr>
                        <a:defRPr sz="1300" b="0">
                          <a:solidFill>
                            <a:srgbClr val="333333"/>
                          </a:solidFill>
                          <a:latin typeface="Calibri"/>
                        </a:defRPr>
                      </a:pPr>
                      <a:r>
                        <a:t>ISCC Co-Processing Q&amp;A v1.0, p.21</a:t>
                      </a:r>
                    </a:p>
                  </a:txBody>
                  <a:tcPr marL="73152" marR="73152">
                    <a:solidFill>
                      <a:srgbClr val="FFFFFF"/>
                    </a:solidFill>
                  </a:tcPr>
                </a:tc>
              </a:tr>
              <a:tr h="960120">
                <a:tc>
                  <a:txBody>
                    <a:bodyPr/>
                    <a:lstStyle/>
                    <a:p>
                      <a:pPr>
                        <a:defRPr sz="1300" b="1">
                          <a:solidFill>
                            <a:srgbClr val="333333"/>
                          </a:solidFill>
                          <a:latin typeface="Calibri"/>
                        </a:defRPr>
                      </a:pPr>
                      <a:r>
                        <a:t>Nature of the rule</a:t>
                      </a:r>
                    </a:p>
                  </a:txBody>
                  <a:tcPr marL="73152" marR="73152">
                    <a:solidFill>
                      <a:srgbClr val="D6E4F0"/>
                    </a:solidFill>
                  </a:tcPr>
                </a:tc>
                <a:tc>
                  <a:txBody>
                    <a:bodyPr/>
                    <a:lstStyle/>
                    <a:p>
                      <a:pPr>
                        <a:defRPr sz="1300" b="0">
                          <a:solidFill>
                            <a:srgbClr val="333333"/>
                          </a:solidFill>
                          <a:latin typeface="Calibri"/>
                        </a:defRPr>
                      </a:pPr>
                      <a:r>
                        <a:t>Mandatory energy-basis allocation</a:t>
                      </a:r>
                    </a:p>
                  </a:txBody>
                  <a:tcPr marL="73152" marR="73152">
                    <a:solidFill>
                      <a:srgbClr val="D6E4F0"/>
                    </a:solidFill>
                  </a:tcPr>
                </a:tc>
                <a:tc>
                  <a:txBody>
                    <a:bodyPr/>
                    <a:lstStyle/>
                    <a:p>
                      <a:pPr>
                        <a:defRPr sz="1300" b="0">
                          <a:solidFill>
                            <a:srgbClr val="333333"/>
                          </a:solidFill>
                          <a:latin typeface="Calibri"/>
                        </a:defRPr>
                      </a:pPr>
                      <a:r>
                        <a:t>Published, capped, worked methodology</a:t>
                      </a:r>
                    </a:p>
                  </a:txBody>
                  <a:tcPr marL="73152" marR="73152">
                    <a:solidFill>
                      <a:srgbClr val="D6E4F0"/>
                    </a:solidFill>
                  </a:tcPr>
                </a:tc>
                <a:tc>
                  <a:txBody>
                    <a:bodyPr/>
                    <a:lstStyle/>
                    <a:p>
                      <a:pPr>
                        <a:defRPr sz="1300" b="0">
                          <a:solidFill>
                            <a:srgbClr val="333333"/>
                          </a:solidFill>
                          <a:latin typeface="Calibri"/>
                        </a:defRPr>
                      </a:pPr>
                      <a:r>
                        <a:t>Provisional stopgap pending EU regulation</a:t>
                      </a:r>
                    </a:p>
                  </a:txBody>
                  <a:tcPr marL="73152" marR="73152">
                    <a:solidFill>
                      <a:srgbClr val="D6E4F0"/>
                    </a:solidFill>
                  </a:tcPr>
                </a:tc>
              </a:tr>
            </a:tbl>
          </a:graphicData>
        </a:graphic>
      </p:graphicFrame>
      <p:sp>
        <p:nvSpPr>
          <p:cNvPr id="6" name="TextBox 5"/>
          <p:cNvSpPr txBox="1"/>
          <p:nvPr/>
        </p:nvSpPr>
        <p:spPr>
          <a:xfrm>
            <a:off x="548640" y="5440680"/>
            <a:ext cx="11064240" cy="822960"/>
          </a:xfrm>
          <a:prstGeom prst="rect">
            <a:avLst/>
          </a:prstGeom>
          <a:noFill/>
        </p:spPr>
        <p:txBody>
          <a:bodyPr wrap="square">
            <a:spAutoFit/>
          </a:bodyPr>
          <a:lstStyle/>
          <a:p>
            <a:pPr algn="l">
              <a:spcAft>
                <a:spcPts val="800"/>
              </a:spcAft>
              <a:defRPr sz="1400" b="1" i="0">
                <a:solidFill>
                  <a:srgbClr val="1B2A41"/>
                </a:solidFill>
                <a:latin typeface="Calibri"/>
              </a:defRPr>
            </a:pPr>
            <a:r>
              <a:t>Every one of these standards treats “flexible” differently. Only RSB Advanced Fuels offers it as a mature, published methodology with a numeric cap. RSB-CORSIA doesn't offer it at all. ISCC's version is provisional and explicitly contested among EU Member States.</a:t>
            </a:r>
          </a:p>
        </p:txBody>
      </p:sp>
      <p:sp>
        <p:nvSpPr>
          <p:cNvPr id="7" name="TextBox 6"/>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See slides 4–7 for full quotes and the citation appendix for the complete source list.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Appendix A</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Sources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300" b="1" i="0">
                <a:solidFill>
                  <a:srgbClr val="333333"/>
                </a:solidFill>
                <a:latin typeface="Calibri"/>
              </a:defRPr>
            </a:pPr>
            <a:r>
              <a:t>RSB Standard for Advanced Fuels, RSB-STD-01-010, Version 2.8, published April 2026, Status: Final Draft.</a:t>
            </a:r>
          </a:p>
          <a:p>
            <a:pPr algn="l">
              <a:spcAft>
                <a:spcPts val="800"/>
              </a:spcAft>
              <a:defRPr sz="1200" b="0" i="0">
                <a:solidFill>
                  <a:srgbClr val="5A5A5A"/>
                </a:solidFill>
                <a:latin typeface="Calibri"/>
              </a:defRPr>
            </a:pPr>
            <a:r>
              <a:t>   Cited: §2.4.2 (p.11), §2.4.3 (p.11), §2.4.5 (p.12), §2.5.4 (p.12), Annex IV (pp.26, 28, 29), Annex V (pp.30–32).</a:t>
            </a:r>
          </a:p>
          <a:p>
            <a:pPr algn="l">
              <a:spcAft>
                <a:spcPts val="800"/>
              </a:spcAft>
              <a:defRPr sz="1100" b="0" i="1">
                <a:solidFill>
                  <a:srgbClr val="5A5A5A"/>
                </a:solidFill>
                <a:latin typeface="Calibri"/>
              </a:defRPr>
            </a:pPr>
            <a:r>
              <a:t>   Local file: rsb-std-01-010-v2.8.pdf.</a:t>
            </a:r>
          </a:p>
          <a:p>
            <a:pPr algn="l">
              <a:spcAft>
                <a:spcPts val="800"/>
              </a:spcAft>
              <a:defRPr sz="600" b="0" i="0">
                <a:solidFill>
                  <a:srgbClr val="333333"/>
                </a:solidFill>
                <a:latin typeface="Calibri"/>
              </a:defRPr>
            </a:pPr>
          </a:p>
          <a:p>
            <a:pPr algn="l">
              <a:spcAft>
                <a:spcPts val="800"/>
              </a:spcAft>
              <a:defRPr sz="1300" b="1" i="0">
                <a:solidFill>
                  <a:srgbClr val="333333"/>
                </a:solidFill>
                <a:latin typeface="Calibri"/>
              </a:defRPr>
            </a:pPr>
            <a:r>
              <a:t>RSB Standard for ICAO CORSIA, RSB-STD-12-001, Version 1.7, published April 2026, Status: Final.</a:t>
            </a:r>
          </a:p>
          <a:p>
            <a:pPr algn="l">
              <a:spcAft>
                <a:spcPts val="800"/>
              </a:spcAft>
              <a:defRPr sz="1200" b="0" i="0">
                <a:solidFill>
                  <a:srgbClr val="5A5A5A"/>
                </a:solidFill>
                <a:latin typeface="Calibri"/>
              </a:defRPr>
            </a:pPr>
            <a:r>
              <a:t>   Cited: §D (p.6), §1.5 (p.10), §3.4.5 (p.20), §3.4.7.1–3.4.7.2 (p.23).</a:t>
            </a:r>
          </a:p>
          <a:p>
            <a:pPr algn="l">
              <a:spcAft>
                <a:spcPts val="800"/>
              </a:spcAft>
              <a:defRPr sz="1100" b="0" i="1">
                <a:solidFill>
                  <a:srgbClr val="5A5A5A"/>
                </a:solidFill>
                <a:latin typeface="Calibri"/>
              </a:defRPr>
            </a:pPr>
            <a:r>
              <a:t>   Source: rsb.org/wp-content/uploads/2026/04/RSB-STD-12-001-RSB-ICAO-CORSIA-ver-1.7.pdf, linked from rsb.org's current library listing for STD-12-001.</a:t>
            </a:r>
          </a:p>
          <a:p>
            <a:pPr algn="l">
              <a:spcAft>
                <a:spcPts val="800"/>
              </a:spcAft>
              <a:defRPr sz="600" b="0" i="0">
                <a:solidFill>
                  <a:srgbClr val="333333"/>
                </a:solidFill>
                <a:latin typeface="Calibri"/>
              </a:defRPr>
            </a:pPr>
          </a:p>
          <a:p>
            <a:pPr algn="l">
              <a:spcAft>
                <a:spcPts val="800"/>
              </a:spcAft>
              <a:defRPr sz="1300" b="1" i="0">
                <a:solidFill>
                  <a:srgbClr val="333333"/>
                </a:solidFill>
                <a:latin typeface="Calibri"/>
              </a:defRPr>
            </a:pPr>
            <a:r>
              <a:t>ISCC, Questions and Answers on the Certification of Co-Processing, Version 1.0, valid from 22 September 2025.</a:t>
            </a:r>
          </a:p>
          <a:p>
            <a:pPr algn="l">
              <a:spcAft>
                <a:spcPts val="800"/>
              </a:spcAft>
              <a:defRPr sz="1200" b="0" i="0">
                <a:solidFill>
                  <a:srgbClr val="5A5A5A"/>
                </a:solidFill>
                <a:latin typeface="Calibri"/>
              </a:defRPr>
            </a:pPr>
            <a:r>
              <a:t>   Cited: “Sustainability requirements” (p.21), “Co-processing GHG methodology” (p.19), system boundary discussion (p.7).</a:t>
            </a:r>
          </a:p>
          <a:p>
            <a:pPr algn="l">
              <a:spcAft>
                <a:spcPts val="800"/>
              </a:spcAft>
              <a:defRPr sz="1100" b="0" i="1">
                <a:solidFill>
                  <a:srgbClr val="5A5A5A"/>
                </a:solidFill>
                <a:latin typeface="Calibri"/>
              </a:defRPr>
            </a:pPr>
            <a:r>
              <a:t>   Local file: “ISCC Co-Processing QA v1.0 Sept 2025.pdf”.</a:t>
            </a:r>
          </a:p>
          <a:p>
            <a:pPr algn="l">
              <a:spcAft>
                <a:spcPts val="800"/>
              </a:spcAft>
              <a:defRPr sz="1000" b="0" i="0">
                <a:solidFill>
                  <a:srgbClr val="333333"/>
                </a:solidFill>
                <a:latin typeface="Calibri"/>
              </a:defRPr>
            </a:pPr>
          </a:p>
          <a:p>
            <a:pPr algn="l">
              <a:spcAft>
                <a:spcPts val="800"/>
              </a:spcAft>
              <a:defRPr sz="1200" b="0" i="1">
                <a:solidFill>
                  <a:srgbClr val="8B1A1A"/>
                </a:solidFill>
                <a:latin typeface="Calibri"/>
              </a:defRPr>
            </a:pPr>
            <a:r>
              <a:t>Not checked in this review: EU RED, LCFS, or any ISCC source other than the Co-Processing Q&amp;A above.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E5C6E"/>
        </a:solidFill>
        <a:effectLst/>
      </p:bgPr>
    </p:bg>
    <p:spTree>
      <p:nvGrpSpPr>
        <p:cNvPr id="1" name=""/>
        <p:cNvGrpSpPr/>
        <p:nvPr/>
      </p:nvGrpSpPr>
      <p:grpSpPr/>
      <p:sp>
        <p:nvSpPr>
          <p:cNvPr id="2" name="TextBox 1"/>
          <p:cNvSpPr txBox="1"/>
          <p:nvPr/>
        </p:nvSpPr>
        <p:spPr>
          <a:xfrm>
            <a:off x="731520" y="2926080"/>
            <a:ext cx="10698480" cy="914400"/>
          </a:xfrm>
          <a:prstGeom prst="rect">
            <a:avLst/>
          </a:prstGeom>
          <a:noFill/>
        </p:spPr>
        <p:txBody>
          <a:bodyPr wrap="none">
            <a:spAutoFit/>
          </a:bodyPr>
          <a:lstStyle/>
          <a:p>
            <a:pPr>
              <a:defRPr sz="3600" b="1">
                <a:solidFill>
                  <a:srgbClr val="FFFFFF"/>
                </a:solidFill>
              </a:defRPr>
            </a:pPr>
            <a:r>
              <a:t>Backup</a:t>
            </a:r>
          </a:p>
        </p:txBody>
      </p:sp>
      <p:sp>
        <p:nvSpPr>
          <p:cNvPr id="3" name="TextBox 2"/>
          <p:cNvSpPr txBox="1"/>
          <p:nvPr/>
        </p:nvSpPr>
        <p:spPr>
          <a:xfrm>
            <a:off x="731520" y="3657600"/>
            <a:ext cx="10698480" cy="548640"/>
          </a:xfrm>
          <a:prstGeom prst="rect">
            <a:avLst/>
          </a:prstGeom>
          <a:noFill/>
        </p:spPr>
        <p:txBody>
          <a:bodyPr wrap="none">
            <a:spAutoFit/>
          </a:bodyPr>
          <a:lstStyle/>
          <a:p>
            <a:pPr>
              <a:defRPr sz="1600" i="1">
                <a:solidFill>
                  <a:srgbClr val="D6E4F0"/>
                </a:solidFill>
              </a:defRPr>
            </a:pPr>
            <a:r>
              <a:t>Numeric detail held in reserve for follow-up questions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Backup 1</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RSB Annex IV — the physical cap, in numbers</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500" b="1" i="0">
                <a:solidFill>
                  <a:srgbClr val="333333"/>
                </a:solidFill>
                <a:latin typeface="Calibri"/>
              </a:defRPr>
            </a:pPr>
            <a:r>
              <a:t>From the standard's own Figure 1 (Annex IV, p.29):</a:t>
            </a:r>
          </a:p>
          <a:p>
            <a:pPr algn="l">
              <a:spcAft>
                <a:spcPts val="800"/>
              </a:spcAft>
              <a:defRPr sz="1400" b="0" i="0">
                <a:solidFill>
                  <a:srgbClr val="333333"/>
                </a:solidFill>
                <a:latin typeface="Calibri"/>
              </a:defRPr>
            </a:pPr>
            <a:r>
              <a:t>   •  Inputs: 21t biomass feedstock (10t biogenic carbon) + 98t fossil feedstock (68.6t fossil carbon)</a:t>
            </a:r>
          </a:p>
          <a:p>
            <a:pPr algn="l">
              <a:spcAft>
                <a:spcPts val="800"/>
              </a:spcAft>
              <a:defRPr sz="1400" b="0" i="0">
                <a:solidFill>
                  <a:srgbClr val="333333"/>
                </a:solidFill>
                <a:latin typeface="Calibri"/>
              </a:defRPr>
            </a:pPr>
            <a:r>
              <a:t>   •  Process conversion efficiency: 90%</a:t>
            </a:r>
          </a:p>
          <a:p>
            <a:pPr algn="l">
              <a:spcAft>
                <a:spcPts val="800"/>
              </a:spcAft>
              <a:defRPr sz="1400" b="0" i="0">
                <a:solidFill>
                  <a:srgbClr val="333333"/>
                </a:solidFill>
                <a:latin typeface="Calibri"/>
              </a:defRPr>
            </a:pPr>
            <a:r>
              <a:t>   •  Outputs: 1.1t SAF (carrying 0.9t of the attributed biogenic carbon), 2.4t fossil-based jet fuel (2.1t fossil carbon attributed), plus other fossil-based products (59.7t fossil carbon attributed)</a:t>
            </a:r>
          </a:p>
          <a:p>
            <a:pPr algn="l">
              <a:spcAft>
                <a:spcPts val="800"/>
              </a:spcAft>
              <a:defRPr sz="1400" b="0" i="0">
                <a:solidFill>
                  <a:srgbClr val="333333"/>
                </a:solidFill>
                <a:latin typeface="Calibri"/>
              </a:defRPr>
            </a:pPr>
            <a:r>
              <a:t>   •  Resulting carbon footprint: 0.98 tCO2eq/t SAF vs. 1.69 tCO2eq/t fossil jet fuel</a:t>
            </a:r>
          </a:p>
          <a:p>
            <a:pPr algn="l">
              <a:spcAft>
                <a:spcPts val="800"/>
              </a:spcAft>
              <a:defRPr sz="800" b="0" i="0">
                <a:solidFill>
                  <a:srgbClr val="333333"/>
                </a:solidFill>
                <a:latin typeface="Calibri"/>
              </a:defRPr>
            </a:pPr>
          </a:p>
          <a:p>
            <a:pPr algn="l">
              <a:spcAft>
                <a:spcPts val="800"/>
              </a:spcAft>
              <a:defRPr sz="1300" b="0" i="1">
                <a:solidFill>
                  <a:srgbClr val="5A5A5A"/>
                </a:solidFill>
                <a:latin typeface="Calibri"/>
              </a:defRPr>
            </a:pPr>
            <a:r>
              <a:t>Note in the figure: “the input of biogenic carbon is 1t. The output of biogenic carbon attributed to the final product is 0.9t since a conversion efficiency of 90% was considered.”</a:t>
            </a:r>
          </a:p>
          <a:p>
            <a:pPr algn="l">
              <a:spcAft>
                <a:spcPts val="800"/>
              </a:spcAft>
              <a:defRPr sz="800" b="0" i="0">
                <a:solidFill>
                  <a:srgbClr val="333333"/>
                </a:solidFill>
                <a:latin typeface="Calibri"/>
              </a:defRPr>
            </a:pPr>
          </a:p>
          <a:p>
            <a:pPr algn="l">
              <a:spcAft>
                <a:spcPts val="800"/>
              </a:spcAft>
              <a:defRPr sz="1400" b="1" i="0">
                <a:solidFill>
                  <a:srgbClr val="333333"/>
                </a:solidFill>
                <a:latin typeface="Calibri"/>
              </a:defRPr>
            </a:pPr>
            <a:r>
              <a:t>The cap is mechanical, not a matter of operator discretion: the standard's equation [1] (p.26) fixes the maximum eligible carbon before any attribution choice is made.</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Annex IV, Figure 1 and accompanying text, p.26 and p.29.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Backup 2</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RSB Annex V — flexible attribution of process inputs</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400" b="0" i="0">
                <a:solidFill>
                  <a:srgbClr val="333333"/>
                </a:solidFill>
                <a:latin typeface="Calibri"/>
              </a:defRPr>
            </a:pPr>
            <a:r>
              <a:t>Annex V (added in v2.8, p.30) extends flexible attribution beyond the biogenic feedstock itself to process inputs and utilities (electricity, steam, oxygen) in a co-processing SAF example.</a:t>
            </a:r>
          </a:p>
          <a:p>
            <a:pPr algn="l">
              <a:spcAft>
                <a:spcPts val="800"/>
              </a:spcAft>
              <a:defRPr sz="800" b="0" i="0">
                <a:solidFill>
                  <a:srgbClr val="333333"/>
                </a:solidFill>
                <a:latin typeface="Calibri"/>
              </a:defRPr>
            </a:pPr>
          </a:p>
          <a:p>
            <a:pPr algn="l">
              <a:spcAft>
                <a:spcPts val="800"/>
              </a:spcAft>
              <a:defRPr sz="1400" b="1" i="0">
                <a:solidFill>
                  <a:srgbClr val="333333"/>
                </a:solidFill>
                <a:latin typeface="Calibri"/>
              </a:defRPr>
            </a:pPr>
            <a:r>
              <a:t>Worked comparison (p.32):</a:t>
            </a:r>
          </a:p>
          <a:p>
            <a:pPr algn="l">
              <a:spcAft>
                <a:spcPts val="800"/>
              </a:spcAft>
              <a:defRPr sz="1400" b="0" i="0">
                <a:solidFill>
                  <a:srgbClr val="333333"/>
                </a:solidFill>
                <a:latin typeface="Calibri"/>
              </a:defRPr>
            </a:pPr>
            <a:r>
              <a:t>   •  Without flexible attribution of inputs: SAF GHG intensity = 68 g CO2e/MJ</a:t>
            </a:r>
          </a:p>
          <a:p>
            <a:pPr algn="l">
              <a:spcAft>
                <a:spcPts val="800"/>
              </a:spcAft>
              <a:defRPr sz="1400" b="0" i="0">
                <a:solidFill>
                  <a:srgbClr val="333333"/>
                </a:solidFill>
                <a:latin typeface="Calibri"/>
              </a:defRPr>
            </a:pPr>
            <a:r>
              <a:t>   •  With flexible attribution of inputs: SAF GHG intensity = 30.25 g CO2e/MJ</a:t>
            </a:r>
          </a:p>
          <a:p>
            <a:pPr algn="l">
              <a:spcAft>
                <a:spcPts val="800"/>
              </a:spcAft>
              <a:defRPr sz="800" b="0" i="0">
                <a:solidFill>
                  <a:srgbClr val="333333"/>
                </a:solidFill>
                <a:latin typeface="Calibri"/>
              </a:defRPr>
            </a:pPr>
          </a:p>
          <a:p>
            <a:pPr algn="l">
              <a:spcAft>
                <a:spcPts val="800"/>
              </a:spcAft>
              <a:defRPr sz="1400" b="0" i="0">
                <a:solidFill>
                  <a:srgbClr val="333333"/>
                </a:solidFill>
                <a:latin typeface="Calibri"/>
              </a:defRPr>
            </a:pPr>
            <a:r>
              <a:t>Guardrail governing this (Step 3, p.32): “You may not attribute more of an input than the amount... used in the co-process.” Low-carbon inputs are attributed first, up to their actual available quantity, before higher-carbon inputs are used to cover the remainder — the same cap logic as Annex IV, applied to utilities rather than feedstock carbon.</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Annex V, pp.30–32.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Backup 3</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ISCC — the co-processing Q&amp;A in fuller context</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400" b="0" i="0">
                <a:solidFill>
                  <a:srgbClr val="333333"/>
                </a:solidFill>
                <a:latin typeface="Calibri"/>
              </a:defRPr>
            </a:pPr>
            <a:r>
              <a:t>What determines bio-content per output, before any allocation question arises (§2–4, pp.6–15): direct ¹⁴C radiocarbon testing at the co-processing system boundary, or an indirect method (mass balance / energy balance / yield) validated against ¹⁴C. This is a measurement question, not a discretionary attribution.</a:t>
            </a:r>
          </a:p>
          <a:p>
            <a:pPr algn="l">
              <a:spcAft>
                <a:spcPts val="800"/>
              </a:spcAft>
              <a:defRPr sz="800" b="0" i="0">
                <a:solidFill>
                  <a:srgbClr val="333333"/>
                </a:solidFill>
                <a:latin typeface="Calibri"/>
              </a:defRPr>
            </a:pPr>
          </a:p>
          <a:p>
            <a:pPr algn="l">
              <a:spcAft>
                <a:spcPts val="800"/>
              </a:spcAft>
              <a:defRPr sz="1300" b="0" i="1">
                <a:solidFill>
                  <a:srgbClr val="333333"/>
                </a:solidFill>
                <a:latin typeface="Calibri"/>
              </a:defRPr>
            </a:pPr>
            <a:r>
              <a:t>Once measured, GHG intensity: “As a general rule, in accordance with point 1 of the GHG methodology, all (fuel) types shall be considered to have the same emission intensity. The overall emissions... should thus be divided by the energy in the overall produced fuels.” (p.18, quoting the RFNBO and RCF guidance, Q46)</a:t>
            </a:r>
          </a:p>
          <a:p>
            <a:pPr algn="l">
              <a:spcAft>
                <a:spcPts val="800"/>
              </a:spcAft>
              <a:defRPr sz="800" b="0" i="0">
                <a:solidFill>
                  <a:srgbClr val="333333"/>
                </a:solidFill>
                <a:latin typeface="Calibri"/>
              </a:defRPr>
            </a:pPr>
          </a:p>
          <a:p>
            <a:pPr algn="l">
              <a:spcAft>
                <a:spcPts val="800"/>
              </a:spcAft>
              <a:defRPr sz="1300" b="0" i="1">
                <a:solidFill>
                  <a:srgbClr val="333333"/>
                </a:solidFill>
                <a:latin typeface="Calibri"/>
              </a:defRPr>
            </a:pPr>
            <a:r>
              <a:t>Regulatory anchor named in the source itself: “This document is a compilation of clarification on queries regarding the certification of co-processed fuels per the COMMISSION DELEGATED REGULATION (EU) 2023/1640...” (p.4)</a:t>
            </a:r>
          </a:p>
          <a:p>
            <a:pPr algn="l">
              <a:spcAft>
                <a:spcPts val="800"/>
              </a:spcAft>
              <a:defRPr sz="800" b="0" i="0">
                <a:solidFill>
                  <a:srgbClr val="333333"/>
                </a:solidFill>
                <a:latin typeface="Calibri"/>
              </a:defRPr>
            </a:pPr>
          </a:p>
          <a:p>
            <a:pPr algn="l">
              <a:spcAft>
                <a:spcPts val="800"/>
              </a:spcAft>
              <a:defRPr sz="1400" b="1" i="0">
                <a:solidFill>
                  <a:srgbClr val="333333"/>
                </a:solidFill>
                <a:latin typeface="Calibri"/>
              </a:defRPr>
            </a:pPr>
            <a:r>
              <a:t>Backdrop for the p.21 finding on the summary slides: bio-content itself is measured and energy-allocated by default; the open question is specifically whether the resulting claim can later move flexibly between fuel batches once traded — and that piece is what ISCC calls provisional.</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ISCC Questions and Answers on the Certification of Co-Processing, v1.0, pp.4, 6–15, 18,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