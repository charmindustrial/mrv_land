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2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rsb.org/wp-content/uploads/2026/04/RSB-STD-12-001-RSB-ICAO-CORSIA-ver-1.7.pdf" TargetMode="External"/><Relationship Id="rId7" Type="http://schemas.openxmlformats.org/officeDocument/2006/relationships/hyperlink" Target="https://www.iscc-system.org/wp-content/uploads/2025/09/Co-Processing_Questions_And_Answers_-Document.pdf" TargetMode="External"/><Relationship Id="rId2" Type="http://schemas.openxmlformats.org/officeDocument/2006/relationships/hyperlink" Target="https://rsb.org/wp-content/uploads/2025/12/rsb-std-01-010-rsb-standard-for-advanced-fuels-2.8.pdf" TargetMode="External"/><Relationship Id="rId1" Type="http://schemas.openxmlformats.org/officeDocument/2006/relationships/slideLayout" Target="../slideLayouts/slideLayout7.xml"/><Relationship Id="rId6" Type="http://schemas.openxmlformats.org/officeDocument/2006/relationships/hyperlink" Target="https://iscc-system.org/download/iscc-plus-system-structure-and-overview-of-iscc-plus-documents/" TargetMode="External"/><Relationship Id="rId5" Type="http://schemas.openxmlformats.org/officeDocument/2006/relationships/hyperlink" Target="https://www.iscc-system.org/wp-content/uploads/2024/01/ISCC_EU_205_Greenhouse-Gas-Emissions_v4.1_January2024.pdf" TargetMode="External"/><Relationship Id="rId4" Type="http://schemas.openxmlformats.org/officeDocument/2006/relationships/hyperlink" Target="https://iscc-system.org/download/iscc-plus-203-2-chain-of-custody/"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iscc-system.org/download/iscc-material-list-iscc-plus-2/" TargetMode="External"/><Relationship Id="rId2" Type="http://schemas.openxmlformats.org/officeDocument/2006/relationships/hyperlink" Target="https://www.iscc-system.org/wp-content/uploads/2023/12/ISCC_CORSIA_203_Traceability_and_Chain-of-Custody_2.0.pdf" TargetMode="External"/><Relationship Id="rId1" Type="http://schemas.openxmlformats.org/officeDocument/2006/relationships/slideLayout" Target="../slideLayouts/slideLayout7.xml"/><Relationship Id="rId6" Type="http://schemas.openxmlformats.org/officeDocument/2006/relationships/hyperlink" Target="https://www.ineos.com/news/shared-news/advanced-plastic-recycling-from-ineos-olefins--polymers-usa-receives-iscc-plus-certification/" TargetMode="External"/><Relationship Id="rId5" Type="http://schemas.openxmlformats.org/officeDocument/2006/relationships/hyperlink" Target="https://corporate.exxonmobil.com/Publications/Sustainability/meeting-societys-critical-needs-energy-products/Expanding-the-plastics-life-cycle" TargetMode="External"/><Relationship Id="rId4" Type="http://schemas.openxmlformats.org/officeDocument/2006/relationships/hyperlink" Target="https://iscc-system.org/certified-free-attribution-for-scaling-up-the-circular-econo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1"/>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endParaR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endParaR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endParaR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E5C6E"/>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1200" b="0" i="1">
                <a:solidFill>
                  <a:srgbClr val="333333"/>
                </a:solidFill>
                <a:latin typeface="Calibri"/>
              </a:defRPr>
            </a:pPr>
            <a:r>
              <a:t>Worked example (Annex IV, p.29): “1.1t of jet fuel will be sold with 100% bioattributed claim, while the remaining quantity of products will be sold with 0% bioattributed claim... limited by the amount of biogenic carbon content in the biobased feedstock considering the efficiency in converting the feedstock into output.” The cap (Annex IV, p.26): eligible carbon = feedstock mass × carbon content × conversion efficiency — 10t of biogenic carbon in, at 90% conversion, yields a 9t ceiling.</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(§2.4.5, p.12 — all four are numbered requirements in the standard itself):</a:t>
            </a:r>
          </a:p>
          <a:p>
            <a:pPr algn="l">
              <a:spcAft>
                <a:spcPts val="800"/>
              </a:spcAft>
              <a:defRPr sz="1200" b="0" i="0">
                <a:solidFill>
                  <a:srgbClr val="333333"/>
                </a:solidFill>
                <a:latin typeface="Calibri"/>
              </a:defRPr>
            </a:pPr>
            <a:r>
              <a:t>   •  Documentation: must record “the amount of bio-based or eligible non-biogenic feedstock... used as material,” “the carbon content (%, w/w)... entering the industrial process,” and “the quantification of losses, by mass... for each lost material.”</a:t>
            </a:r>
          </a:p>
          <a:p>
            <a:pPr algn="l">
              <a:spcAft>
                <a:spcPts val="800"/>
              </a:spcAft>
              <a:defRPr sz="1200" b="0" i="0">
                <a:solidFill>
                  <a:srgbClr val="333333"/>
                </a:solidFill>
                <a:latin typeface="Calibri"/>
              </a:defRPr>
            </a:pPr>
            <a:r>
              <a:t>   •  Book-keeping system: “a documented book-keeping system in place to monitor the balance of bio-based or eligible non-biogenic feedstock that have been added to the system and advanced fuel withdrawn from the system.”</a:t>
            </a:r>
          </a:p>
          <a:p>
            <a:pPr algn="l">
              <a:spcAft>
                <a:spcPts val="800"/>
              </a:spcAft>
              <a:defRPr sz="1200" b="0" i="0">
                <a:solidFill>
                  <a:srgbClr val="333333"/>
                </a:solidFill>
                <a:latin typeface="Calibri"/>
              </a:defRPr>
            </a:pPr>
            <a:r>
              <a:t>   •  Balance period: claims “balanced within a 3-month period” — a deficit may occur mid-period, but “a non-negative balance is achieved over the 3-months-period.”</a:t>
            </a:r>
          </a:p>
          <a:p>
            <a:pPr algn="l">
              <a:spcAft>
                <a:spcPts val="800"/>
              </a:spcAft>
              <a:defRPr sz="1200" b="0" i="0">
                <a:solidFill>
                  <a:srgbClr val="333333"/>
                </a:solidFill>
                <a:latin typeface="Calibri"/>
              </a:defRPr>
            </a:pPr>
            <a:r>
              <a:t>   •  Site boundary: one site, connected sites on the same pipeline/transport network, or separate sites only “if the operator can ensure and demonstrate... that double-booking does not occur.”</a:t>
            </a:r>
          </a:p>
          <a:p>
            <a:pPr algn="l">
              <a:spcAft>
                <a:spcPts val="800"/>
              </a:spcAft>
              <a:defRPr sz="1200" b="0" i="0">
                <a:solidFill>
                  <a:srgbClr val="333333"/>
                </a:solidFill>
                <a:latin typeface="Calibri"/>
              </a:defRPr>
            </a:pPr>
            <a:r>
              <a:t>   •  Emissions unaffected (Annex IV, Note 7, p.28): “Allocation of the GHG emissions among the outputs shall be performed on an energy basis” regardless of the claim.</a:t>
            </a:r>
          </a:p>
          <a:p>
            <a:pPr algn="l">
              <a:spcAft>
                <a:spcPts val="800"/>
              </a:spcAft>
              <a:defRPr sz="1200" b="0" i="0">
                <a:solidFill>
                  <a:srgbClr val="333333"/>
                </a:solidFill>
                <a:latin typeface="Calibri"/>
              </a:defRPr>
            </a:pPr>
            <a:r>
              <a:t>   •  Claim-label restriction (§2.5.4, p.12): output cannot claim “physical sustainable content” — an alternate label like “RSB-Compliant Advanced Fuel” is required instead.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endParaR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8</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188720"/>
          <a:ext cx="11247120" cy="48920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815340">
                <a:tc>
                  <a:txBody>
                    <a:bodyPr/>
                    <a:lstStyle/>
                    <a:p>
                      <a:pPr>
                        <a:defRPr sz="1300" b="1">
                          <a:solidFill>
                            <a:srgbClr val="FFFFFF"/>
                          </a:solidFill>
                          <a:latin typeface="Calibri"/>
                        </a:defRPr>
                      </a:pPr>
                      <a:r>
                        <a:t>Guardrail</a:t>
                      </a:r>
                    </a:p>
                  </a:txBody>
                  <a:tcPr marL="73152" marR="73152">
                    <a:solidFill>
                      <a:srgbClr val="1B2A41"/>
                    </a:solidFill>
                  </a:tcPr>
                </a:tc>
                <a:tc>
                  <a:txBody>
                    <a:bodyPr/>
                    <a:lstStyle/>
                    <a:p>
                      <a:pPr>
                        <a:defRPr sz="1300" b="1">
                          <a:solidFill>
                            <a:srgbClr val="FFFFFF"/>
                          </a:solidFill>
                          <a:latin typeface="Calibri"/>
                        </a:defRPr>
                      </a:pPr>
                      <a:r>
                        <a:t>RSB Advanced Fuels</a:t>
                      </a:r>
                    </a:p>
                  </a:txBody>
                  <a:tcPr marL="73152" marR="73152">
                    <a:solidFill>
                      <a:srgbClr val="1B2A41"/>
                    </a:solidFill>
                  </a:tcPr>
                </a:tc>
                <a:tc>
                  <a:txBody>
                    <a:bodyPr/>
                    <a:lstStyle/>
                    <a:p>
                      <a:pPr>
                        <a:defRPr sz="1300" b="1">
                          <a:solidFill>
                            <a:srgbClr val="FFFFFF"/>
                          </a:solidFill>
                          <a:latin typeface="Calibri"/>
                        </a:defRPr>
                      </a:pPr>
                      <a:r>
                        <a:t>ISCC PLUS</a:t>
                      </a:r>
                    </a:p>
                  </a:txBody>
                  <a:tcPr marL="73152" marR="73152">
                    <a:solidFill>
                      <a:srgbClr val="1B2A41"/>
                    </a:solidFill>
                  </a:tcPr>
                </a:tc>
                <a:extLst>
                  <a:ext uri="{0D108BD9-81ED-4DB2-BD59-A6C34878D82A}">
                    <a16:rowId xmlns:a16="http://schemas.microsoft.com/office/drawing/2014/main" val="10000"/>
                  </a:ext>
                </a:extLst>
              </a:tr>
              <a:tr h="815340">
                <a:tc>
                  <a:txBody>
                    <a:bodyPr/>
                    <a:lstStyle/>
                    <a:p>
                      <a:pPr>
                        <a:defRPr sz="1100" b="0">
                          <a:solidFill>
                            <a:srgbClr val="333333"/>
                          </a:solidFill>
                          <a:latin typeface="Calibri"/>
                        </a:defRPr>
                      </a:pPr>
                      <a:r>
                        <a:t>Physical cap on the claim</a:t>
                      </a:r>
                    </a:p>
                  </a:txBody>
                  <a:tcPr marL="73152" marR="73152">
                    <a:solidFill>
                      <a:srgbClr val="D6E4F0"/>
                    </a:solidFill>
                  </a:tcPr>
                </a:tc>
                <a:tc>
                  <a:txBody>
                    <a:bodyPr/>
                    <a:lstStyle/>
                    <a:p>
                      <a:pPr>
                        <a:defRPr sz="1100" b="0">
                          <a:solidFill>
                            <a:srgbClr val="333333"/>
                          </a:solidFill>
                          <a:latin typeface="Calibri"/>
                        </a:defRPr>
                      </a:pPr>
                      <a:r>
                        <a:t>Capped by feedstock carbon content × conversion efficiency (Annex IV, p.26)</a:t>
                      </a:r>
                    </a:p>
                  </a:txBody>
                  <a:tcPr marL="73152" marR="73152">
                    <a:solidFill>
                      <a:srgbClr val="D6E4F0"/>
                    </a:solidFill>
                  </a:tcPr>
                </a:tc>
                <a:tc>
                  <a:txBody>
                    <a:bodyPr/>
                    <a:lstStyle/>
                    <a:p>
                      <a:pPr>
                        <a:defRPr sz="1100" b="0">
                          <a:solidFill>
                            <a:srgbClr val="333333"/>
                          </a:solidFill>
                          <a:latin typeface="Calibri"/>
                        </a:defRPr>
                      </a:pPr>
                      <a:r>
                        <a:t>“Attributable credits cannot be higher than the physical output” (§6.3, p.21)</a:t>
                      </a:r>
                    </a:p>
                  </a:txBody>
                  <a:tcPr marL="73152" marR="73152">
                    <a:solidFill>
                      <a:srgbClr val="D6E4F0"/>
                    </a:solidFill>
                  </a:tcPr>
                </a:tc>
                <a:extLst>
                  <a:ext uri="{0D108BD9-81ED-4DB2-BD59-A6C34878D82A}">
                    <a16:rowId xmlns:a16="http://schemas.microsoft.com/office/drawing/2014/main" val="10001"/>
                  </a:ext>
                </a:extLst>
              </a:tr>
              <a:tr h="815340">
                <a:tc>
                  <a:txBody>
                    <a:bodyPr/>
                    <a:lstStyle/>
                    <a:p>
                      <a:pPr>
                        <a:defRPr sz="1100" b="0">
                          <a:solidFill>
                            <a:srgbClr val="333333"/>
                          </a:solidFill>
                          <a:latin typeface="Calibri"/>
                        </a:defRPr>
                      </a:pPr>
                      <a:r>
                        <a:t>Emissions accounting</a:t>
                      </a:r>
                    </a:p>
                  </a:txBody>
                  <a:tcPr marL="73152" marR="73152">
                    <a:solidFill>
                      <a:srgbClr val="FFFFFF"/>
                    </a:solidFill>
                  </a:tcPr>
                </a:tc>
                <a:tc>
                  <a:txBody>
                    <a:bodyPr/>
                    <a:lstStyle/>
                    <a:p>
                      <a:pPr>
                        <a:defRPr sz="1100" b="0">
                          <a:solidFill>
                            <a:srgbClr val="333333"/>
                          </a:solidFill>
                          <a:latin typeface="Calibri"/>
                        </a:defRPr>
                      </a:pPr>
                      <a:r>
                        <a:t>Unaffected by the claim — still allocated energy-basis (Annex IV, Note 7, p.28)</a:t>
                      </a:r>
                    </a:p>
                  </a:txBody>
                  <a:tcPr marL="73152" marR="73152">
                    <a:solidFill>
                      <a:srgbClr val="FFFFFF"/>
                    </a:solidFill>
                  </a:tcPr>
                </a:tc>
                <a:tc>
                  <a:txBody>
                    <a:bodyPr/>
                    <a:lstStyle/>
                    <a:p>
                      <a:pPr>
                        <a:defRPr sz="1100" b="0">
                          <a:solidFill>
                            <a:srgbClr val="333333"/>
                          </a:solidFill>
                          <a:latin typeface="Calibri"/>
                        </a:defRPr>
                      </a:pPr>
                      <a:r>
                        <a:t>Allocated separately, on an energy basis: “the relation of the total energy content of the intermediate main product to the total energy content of all products” (ISCC EU 205 v4.1, §4.3.8, p.55, incorporated into ISCC PLUS)</a:t>
                      </a:r>
                    </a:p>
                  </a:txBody>
                  <a:tcPr marL="73152" marR="73152">
                    <a:solidFill>
                      <a:srgbClr val="FFFFFF"/>
                    </a:solidFill>
                  </a:tcPr>
                </a:tc>
                <a:extLst>
                  <a:ext uri="{0D108BD9-81ED-4DB2-BD59-A6C34878D82A}">
                    <a16:rowId xmlns:a16="http://schemas.microsoft.com/office/drawing/2014/main" val="10002"/>
                  </a:ext>
                </a:extLst>
              </a:tr>
              <a:tr h="815340">
                <a:tc>
                  <a:txBody>
                    <a:bodyPr/>
                    <a:lstStyle/>
                    <a:p>
                      <a:pPr>
                        <a:defRPr sz="1100" b="0">
                          <a:solidFill>
                            <a:srgbClr val="333333"/>
                          </a:solidFill>
                          <a:latin typeface="Calibri"/>
                        </a:defRPr>
                      </a:pPr>
                      <a:r>
                        <a:t>Disclosure requirement</a:t>
                      </a:r>
                    </a:p>
                  </a:txBody>
                  <a:tcPr marL="73152" marR="73152">
                    <a:solidFill>
                      <a:srgbClr val="D6E4F0"/>
                    </a:solidFill>
                  </a:tcPr>
                </a:tc>
                <a:tc>
                  <a:txBody>
                    <a:bodyPr/>
                    <a:lstStyle/>
                    <a:p>
                      <a:pPr>
                        <a:defRPr sz="1100" b="0">
                          <a:solidFill>
                            <a:srgbClr val="333333"/>
                          </a:solidFill>
                          <a:latin typeface="Calibri"/>
                        </a:defRPr>
                      </a:pPr>
                      <a:r>
                        <a:t>Alternate claim label required — no “physical sustainable content” claim (§2.5.4, p.12)</a:t>
                      </a:r>
                    </a:p>
                  </a:txBody>
                  <a:tcPr marL="73152" marR="73152">
                    <a:solidFill>
                      <a:srgbClr val="D6E4F0"/>
                    </a:solidFill>
                  </a:tcPr>
                </a:tc>
                <a:tc>
                  <a:txBody>
                    <a:bodyPr/>
                    <a:lstStyle/>
                    <a:p>
                      <a:pPr>
                        <a:defRPr sz="1100" b="0">
                          <a:solidFill>
                            <a:srgbClr val="333333"/>
                          </a:solidFill>
                          <a:latin typeface="Calibri"/>
                        </a:defRPr>
                      </a:pPr>
                      <a:r>
                        <a:t>Outgoing Sustainability Declaration must flag compensation beyond proportion (§6.4.2, p.27)</a:t>
                      </a:r>
                    </a:p>
                  </a:txBody>
                  <a:tcPr marL="73152" marR="73152">
                    <a:solidFill>
                      <a:srgbClr val="D6E4F0"/>
                    </a:solidFill>
                  </a:tcPr>
                </a:tc>
                <a:extLst>
                  <a:ext uri="{0D108BD9-81ED-4DB2-BD59-A6C34878D82A}">
                    <a16:rowId xmlns:a16="http://schemas.microsoft.com/office/drawing/2014/main" val="10003"/>
                  </a:ext>
                </a:extLst>
              </a:tr>
              <a:tr h="815340">
                <a:tc>
                  <a:txBody>
                    <a:bodyPr/>
                    <a:lstStyle/>
                    <a:p>
                      <a:pPr>
                        <a:defRPr sz="1100" b="0">
                          <a:solidFill>
                            <a:srgbClr val="333333"/>
                          </a:solidFill>
                          <a:latin typeface="Calibri"/>
                        </a:defRPr>
                      </a:pPr>
                      <a:r>
                        <a:t>Balance / bookkeeping</a:t>
                      </a:r>
                    </a:p>
                  </a:txBody>
                  <a:tcPr marL="73152" marR="73152">
                    <a:solidFill>
                      <a:srgbClr val="FFFFFF"/>
                    </a:solidFill>
                  </a:tcPr>
                </a:tc>
                <a:tc>
                  <a:txBody>
                    <a:bodyPr/>
                    <a:lstStyle/>
                    <a:p>
                      <a:pPr>
                        <a:defRPr sz="1100" b="0">
                          <a:solidFill>
                            <a:srgbClr val="333333"/>
                          </a:solidFill>
                          <a:latin typeface="Calibri"/>
                        </a:defRPr>
                      </a:pPr>
                      <a:r>
                        <a:t>Non-negative balance every 3 months, documented (§2.4.5, p.12)</a:t>
                      </a:r>
                    </a:p>
                  </a:txBody>
                  <a:tcPr marL="73152" marR="73152">
                    <a:solidFill>
                      <a:srgbClr val="FFFFFF"/>
                    </a:solidFill>
                  </a:tcPr>
                </a:tc>
                <a:tc>
                  <a:txBody>
                    <a:bodyPr/>
                    <a:lstStyle/>
                    <a:p>
                      <a:pPr>
                        <a:defRPr sz="1100" b="0">
                          <a:solidFill>
                            <a:srgbClr val="333333"/>
                          </a:solidFill>
                          <a:latin typeface="Calibri"/>
                        </a:defRPr>
                      </a:pPr>
                      <a:r>
                        <a:t>Site-specific mass balance, documented operational data (§6.3, p.21)</a:t>
                      </a:r>
                    </a:p>
                  </a:txBody>
                  <a:tcPr marL="73152" marR="73152">
                    <a:solidFill>
                      <a:srgbClr val="FFFFFF"/>
                    </a:solidFill>
                  </a:tcPr>
                </a:tc>
                <a:extLst>
                  <a:ext uri="{0D108BD9-81ED-4DB2-BD59-A6C34878D82A}">
                    <a16:rowId xmlns:a16="http://schemas.microsoft.com/office/drawing/2014/main" val="10004"/>
                  </a:ext>
                </a:extLst>
              </a:tr>
              <a:tr h="815340">
                <a:tc>
                  <a:txBody>
                    <a:bodyPr/>
                    <a:lstStyle/>
                    <a:p>
                      <a:pPr>
                        <a:defRPr sz="1100" b="0">
                          <a:solidFill>
                            <a:srgbClr val="333333"/>
                          </a:solidFill>
                          <a:latin typeface="Calibri"/>
                        </a:defRPr>
                      </a:pPr>
                      <a:r>
                        <a:t>Status</a:t>
                      </a:r>
                    </a:p>
                  </a:txBody>
                  <a:tcPr marL="73152" marR="73152">
                    <a:solidFill>
                      <a:srgbClr val="D6E4F0"/>
                    </a:solidFill>
                  </a:tcPr>
                </a:tc>
                <a:tc>
                  <a:txBody>
                    <a:bodyPr/>
                    <a:lstStyle/>
                    <a:p>
                      <a:pPr>
                        <a:defRPr sz="1100" b="0">
                          <a:solidFill>
                            <a:srgbClr val="333333"/>
                          </a:solidFill>
                          <a:latin typeface="Calibri"/>
                        </a:defRPr>
                      </a:pPr>
                      <a:r>
                        <a:t>Published, in-force methodology with a numeric worked example (Annex IV)</a:t>
                      </a:r>
                    </a:p>
                  </a:txBody>
                  <a:tcPr marL="73152" marR="73152">
                    <a:solidFill>
                      <a:srgbClr val="D6E4F0"/>
                    </a:solidFill>
                  </a:tcPr>
                </a:tc>
                <a:tc>
                  <a:txBody>
                    <a:bodyPr/>
                    <a:lstStyle/>
                    <a:p>
                      <a:pPr>
                        <a:defRPr sz="1100" b="0">
                          <a:solidFill>
                            <a:srgbClr val="333333"/>
                          </a:solidFill>
                          <a:latin typeface="Calibri"/>
                        </a:defRPr>
                      </a:pPr>
                      <a:r>
                        <a:t>Published, in-force methodology (203-2 v1.1, valid 13 Nov 2025)</a:t>
                      </a:r>
                    </a:p>
                  </a:txBody>
                  <a:tcPr marL="73152" marR="73152">
                    <a:solidFill>
                      <a:srgbClr val="D6E4F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234440"/>
            <a:ext cx="11064240" cy="3760004"/>
          </a:xfrm>
          <a:prstGeom prst="rect">
            <a:avLst/>
          </a:prstGeom>
          <a:noFill/>
        </p:spPr>
        <p:txBody>
          <a:bodyPr wrap="square">
            <a:spAutoFit/>
          </a:bodyPr>
          <a:lstStyle/>
          <a:p>
            <a:pPr algn="l">
              <a:spcAft>
                <a:spcPts val="800"/>
              </a:spcAft>
              <a:defRPr sz="1700" b="0" i="0">
                <a:solidFill>
                  <a:srgbClr val="333333"/>
                </a:solidFill>
                <a:latin typeface="Calibri"/>
              </a:defRPr>
            </a:pPr>
            <a:r>
              <a:rPr dirty="0"/>
              <a:t>•  ¹⁴C testing measures real biogenic content — but breaks down at typical co-processing blend rates (bio-oil ≤5%). ISCC's own fix treats results under 0.5 </a:t>
            </a:r>
            <a:r>
              <a:rPr dirty="0" err="1"/>
              <a:t>pMC</a:t>
            </a:r>
            <a:r>
              <a:rPr dirty="0"/>
              <a:t> as zero (p.14).</a:t>
            </a:r>
          </a:p>
          <a:p>
            <a:pPr algn="l">
              <a:spcAft>
                <a:spcPts val="800"/>
              </a:spcAft>
              <a:defRPr sz="800" b="0" i="0">
                <a:solidFill>
                  <a:srgbClr val="333333"/>
                </a:solidFill>
                <a:latin typeface="Calibri"/>
              </a:defRPr>
            </a:pPr>
            <a:endParaRPr dirty="0"/>
          </a:p>
          <a:p>
            <a:pPr algn="l">
              <a:spcAft>
                <a:spcPts val="800"/>
              </a:spcAft>
              <a:defRPr sz="1700" b="0" i="0">
                <a:solidFill>
                  <a:srgbClr val="333333"/>
                </a:solidFill>
                <a:latin typeface="Calibri"/>
              </a:defRPr>
            </a:pPr>
            <a:r>
              <a:rPr dirty="0"/>
              <a:t>•  Markets price scarcity. Spreading a fixed biogenic quantity proportionally dilutes it below the threshold that matters anywhere — including the stream where decarbonization demand actually is (SAF).</a:t>
            </a:r>
          </a:p>
          <a:p>
            <a:pPr algn="l">
              <a:spcAft>
                <a:spcPts val="800"/>
              </a:spcAft>
              <a:defRPr sz="800" b="0" i="0">
                <a:solidFill>
                  <a:srgbClr val="333333"/>
                </a:solidFill>
                <a:latin typeface="Calibri"/>
              </a:defRPr>
            </a:pPr>
            <a:endParaRPr dirty="0"/>
          </a:p>
          <a:p>
            <a:pPr algn="l">
              <a:spcAft>
                <a:spcPts val="800"/>
              </a:spcAft>
              <a:defRPr sz="1700" b="0" i="0">
                <a:solidFill>
                  <a:srgbClr val="333333"/>
                </a:solidFill>
                <a:latin typeface="Calibri"/>
              </a:defRPr>
            </a:pPr>
            <a:r>
              <a:rPr dirty="0"/>
              <a:t>•  Free allocation concentrates that same, capped quantity into the highest-value stream. Total fossil carbon displaced doesn't change.</a:t>
            </a:r>
          </a:p>
          <a:p>
            <a:pPr algn="l">
              <a:spcAft>
                <a:spcPts val="800"/>
              </a:spcAft>
              <a:defRPr sz="800" b="0" i="0">
                <a:solidFill>
                  <a:srgbClr val="333333"/>
                </a:solidFill>
                <a:latin typeface="Calibri"/>
              </a:defRPr>
            </a:pPr>
            <a:endParaRPr dirty="0"/>
          </a:p>
          <a:p>
            <a:pPr algn="l">
              <a:spcAft>
                <a:spcPts val="800"/>
              </a:spcAft>
              <a:defRPr sz="1700" b="0" i="0">
                <a:solidFill>
                  <a:srgbClr val="333333"/>
                </a:solidFill>
                <a:latin typeface="Calibri"/>
              </a:defRPr>
            </a:pPr>
            <a:r>
              <a:rPr dirty="0"/>
              <a:t>•  This is book-and-claim. Legitimacy comes from the guardrails (physical cap + disclosure), not molecule-level tracing.</a:t>
            </a:r>
          </a:p>
          <a:p>
            <a:pPr algn="l">
              <a:spcAft>
                <a:spcPts val="800"/>
              </a:spcAft>
              <a:defRPr sz="800" b="0" i="0">
                <a:solidFill>
                  <a:srgbClr val="333333"/>
                </a:solidFill>
                <a:latin typeface="Calibri"/>
              </a:defRPr>
            </a:pPr>
            <a:endParaRPr dirty="0"/>
          </a:p>
          <a:p>
            <a:pPr algn="l">
              <a:spcAft>
                <a:spcPts val="800"/>
              </a:spcAft>
              <a:defRPr sz="1700" b="1" i="0">
                <a:solidFill>
                  <a:srgbClr val="1B2A41"/>
                </a:solidFill>
                <a:latin typeface="Calibri"/>
              </a:defRPr>
            </a:pPr>
            <a:r>
              <a:rPr dirty="0"/>
              <a:t>•  A market mechanism has to be responsive to a market, within conservative, verifiable limits. That's what free allocation is built to do.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ISCC PLUS 203-2 v1.1 §6.3; ISCC Questions and Answers on Co-Processing v1.0, p.14.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Free allocation in practice: circular plastics</a:t>
            </a:r>
          </a:p>
        </p:txBody>
      </p:sp>
      <p:sp>
        <p:nvSpPr>
          <p:cNvPr id="5" name="TextBox 4"/>
          <p:cNvSpPr txBox="1"/>
          <p:nvPr/>
        </p:nvSpPr>
        <p:spPr>
          <a:xfrm>
            <a:off x="548640" y="1115568"/>
            <a:ext cx="11064240" cy="3944670"/>
          </a:xfrm>
          <a:prstGeom prst="rect">
            <a:avLst/>
          </a:prstGeom>
          <a:noFill/>
        </p:spPr>
        <p:txBody>
          <a:bodyPr wrap="square">
            <a:spAutoFit/>
          </a:bodyPr>
          <a:lstStyle/>
          <a:p>
            <a:pPr algn="l">
              <a:spcAft>
                <a:spcPts val="800"/>
              </a:spcAft>
              <a:defRPr sz="1300" b="0" i="0">
                <a:solidFill>
                  <a:srgbClr val="333333"/>
                </a:solidFill>
                <a:latin typeface="Calibri"/>
              </a:defRPr>
            </a:pPr>
            <a:r>
              <a:rPr dirty="0"/>
              <a:t>This isn't a fuel-specific mechanism. ISCC PLUS's Free Attribution chapter (§6, already cited) governs every material in its scope — and ISCC's own material list confirms mixed plastic waste is eligible, carrying a “circular” designation on the certificate (ISCC PLUS material list, 9 June 2025, p.1, p.3).</a:t>
            </a:r>
          </a:p>
          <a:p>
            <a:pPr algn="l">
              <a:spcAft>
                <a:spcPts val="800"/>
              </a:spcAft>
              <a:defRPr sz="500" b="0" i="0">
                <a:solidFill>
                  <a:srgbClr val="333333"/>
                </a:solidFill>
                <a:latin typeface="Calibri"/>
              </a:defRPr>
            </a:pPr>
            <a:endParaRPr dirty="0"/>
          </a:p>
          <a:p>
            <a:pPr algn="l">
              <a:spcAft>
                <a:spcPts val="800"/>
              </a:spcAft>
              <a:defRPr sz="1300" b="1" i="0">
                <a:solidFill>
                  <a:srgbClr val="333333"/>
                </a:solidFill>
                <a:latin typeface="Calibri"/>
              </a:defRPr>
            </a:pPr>
            <a:r>
              <a:rPr dirty="0"/>
              <a:t>ISCC's current guidance walks through a live chemical-recycling case (“Certified Free Attribution for Scaling-up the Circular Economy,” ISCC System, 1 April 2026):</a:t>
            </a:r>
          </a:p>
          <a:p>
            <a:pPr algn="l">
              <a:spcAft>
                <a:spcPts val="800"/>
              </a:spcAft>
              <a:defRPr sz="1300" b="0" i="1">
                <a:solidFill>
                  <a:srgbClr val="333333"/>
                </a:solidFill>
                <a:latin typeface="Calibri"/>
              </a:defRPr>
            </a:pPr>
            <a:r>
              <a:rPr dirty="0"/>
              <a:t>“Imagine a cracking process, where both fossil feedstock and ISCC-certified circular feedstock derived from chemically recycled plastic waste are introduced. The plant produces several outputs” — 100t fuel, 100t product A, 100t product B, and 200t of a dual-use output. After losses, “100 </a:t>
            </a:r>
            <a:r>
              <a:rPr dirty="0" err="1"/>
              <a:t>tonnes</a:t>
            </a:r>
            <a:r>
              <a:rPr dirty="0"/>
              <a:t> of certified content remain attributable.”</a:t>
            </a:r>
          </a:p>
          <a:p>
            <a:pPr algn="l">
              <a:spcAft>
                <a:spcPts val="800"/>
              </a:spcAft>
              <a:defRPr sz="1300" b="0" i="1">
                <a:solidFill>
                  <a:srgbClr val="333333"/>
                </a:solidFill>
                <a:latin typeface="Calibri"/>
              </a:defRPr>
            </a:pPr>
            <a:r>
              <a:rPr dirty="0"/>
              <a:t>“In reality, the certified atoms are distributed across all output streams. Under free attribution, however, the operator can flexibly decide which output stream(s) receive the certified share... the 100 </a:t>
            </a:r>
            <a:r>
              <a:rPr dirty="0" err="1"/>
              <a:t>tonnes</a:t>
            </a:r>
            <a:r>
              <a:rPr dirty="0"/>
              <a:t> of certified input could be attributed entirely to product A, which can then be forwarded as ISCC-certified circular material.”</a:t>
            </a:r>
          </a:p>
          <a:p>
            <a:pPr algn="l">
              <a:spcAft>
                <a:spcPts val="800"/>
              </a:spcAft>
              <a:defRPr sz="500" b="0" i="0">
                <a:solidFill>
                  <a:srgbClr val="333333"/>
                </a:solidFill>
                <a:latin typeface="Calibri"/>
              </a:defRPr>
            </a:pPr>
            <a:endParaRPr dirty="0"/>
          </a:p>
          <a:p>
            <a:pPr algn="l">
              <a:spcAft>
                <a:spcPts val="800"/>
              </a:spcAft>
              <a:defRPr sz="1300" b="0" i="0">
                <a:solidFill>
                  <a:srgbClr val="333333"/>
                </a:solidFill>
                <a:latin typeface="Calibri"/>
              </a:defRPr>
            </a:pPr>
            <a:r>
              <a:rPr dirty="0"/>
              <a:t>Same guardrail language as the biofuel case — “the total amount of certified output cannot exceed the certified input entering the system,” and chemical connectivity is what decides which outputs are even eligible to receive the claim.</a:t>
            </a:r>
          </a:p>
          <a:p>
            <a:pPr algn="l">
              <a:spcAft>
                <a:spcPts val="800"/>
              </a:spcAft>
              <a:defRPr sz="500" b="0" i="0">
                <a:solidFill>
                  <a:srgbClr val="333333"/>
                </a:solidFill>
                <a:latin typeface="Calibri"/>
              </a:defRPr>
            </a:pPr>
            <a:endParaRPr dirty="0"/>
          </a:p>
          <a:p>
            <a:pPr algn="l">
              <a:spcAft>
                <a:spcPts val="800"/>
              </a:spcAft>
              <a:defRPr sz="1300" b="1" i="0">
                <a:solidFill>
                  <a:srgbClr val="1B2A41"/>
                </a:solidFill>
                <a:latin typeface="Calibri"/>
              </a:defRPr>
            </a:pPr>
            <a:r>
              <a:rPr dirty="0"/>
              <a:t>ISCC's own stated reason matches slide </a:t>
            </a:r>
            <a:r>
              <a:rPr lang="en-US" dirty="0"/>
              <a:t>8</a:t>
            </a:r>
            <a:r>
              <a:rPr dirty="0"/>
              <a:t>'s argument, independently: “chemical recycling supply chains are still evolving... the free attribution approach... provides a practical starting point... supports the gradual scaling up of these materials within established value chains for the voluntary markets.”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material list (9 June 2025), pp.1, 3; ISCC System, “Certified Free Attribution for Scaling-up the Circular Economy,” 1 April 2026, iscc-system.org.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Already in commercial use</a:t>
            </a:r>
          </a:p>
        </p:txBody>
      </p:sp>
      <p:sp>
        <p:nvSpPr>
          <p:cNvPr id="5" name="TextBox 4"/>
          <p:cNvSpPr txBox="1"/>
          <p:nvPr/>
        </p:nvSpPr>
        <p:spPr>
          <a:xfrm>
            <a:off x="548640" y="1115568"/>
            <a:ext cx="11064240" cy="5120640"/>
          </a:xfrm>
          <a:prstGeom prst="rect">
            <a:avLst/>
          </a:prstGeom>
          <a:noFill/>
        </p:spPr>
        <p:txBody>
          <a:bodyPr wrap="square">
            <a:spAutoFit/>
          </a:bodyPr>
          <a:lstStyle/>
          <a:p>
            <a:pPr algn="l">
              <a:spcAft>
                <a:spcPts val="800"/>
              </a:spcAft>
              <a:defRPr sz="1400" b="1" i="0">
                <a:solidFill>
                  <a:srgbClr val="333333"/>
                </a:solidFill>
                <a:latin typeface="Calibri"/>
              </a:defRPr>
            </a:pPr>
            <a:r>
              <a:t>ExxonMobil — Sustainability Report, published 5 May 2026:</a:t>
            </a:r>
          </a:p>
          <a:p>
            <a:pPr algn="l">
              <a:spcAft>
                <a:spcPts val="800"/>
              </a:spcAft>
              <a:defRPr sz="1300" b="0" i="0">
                <a:solidFill>
                  <a:srgbClr val="333333"/>
                </a:solidFill>
                <a:latin typeface="Calibri"/>
              </a:defRPr>
            </a:pPr>
            <a:r>
              <a:t>“ISCC PLUS mass balance approach using the ‘determined by mass’ option with ‘certified free attribution’ applied” — the exact mechanism on slide 6, in named commercial use at Baytown, Texas: “Our third advanced recycling unit at our complex in Baytown, Texas, is now operational”; capacity “~250 million pounds of plastic waste annually”; “As of January 2026, our Baytown site has processed more than 150 million pounds of end-of-life plastic.”</a:t>
            </a:r>
          </a:p>
          <a:p>
            <a:pPr algn="l">
              <a:spcAft>
                <a:spcPts val="800"/>
              </a:spcAft>
              <a:defRPr sz="1300" b="0" i="0">
                <a:solidFill>
                  <a:srgbClr val="333333"/>
                </a:solidFill>
                <a:latin typeface="Calibri"/>
              </a:defRPr>
            </a:pPr>
            <a:r>
              <a:t>Guardrail discipline carried straight through to the customer-facing claim: “Certified-circular plastics do not represent specific amounts of GHG emissions or recycled content.” Named customers buying the certified-circular output: “Berry Global (now part of Amcor plc), Peel Plastics, Thanh Phu and Scientex.”</a:t>
            </a:r>
          </a:p>
          <a:p>
            <a:pPr algn="l">
              <a:spcAft>
                <a:spcPts val="800"/>
              </a:spcAft>
              <a:defRPr sz="600" b="0" i="0">
                <a:solidFill>
                  <a:srgbClr val="333333"/>
                </a:solidFill>
                <a:latin typeface="Calibri"/>
              </a:defRPr>
            </a:pPr>
            <a:endParaRPr/>
          </a:p>
          <a:p>
            <a:pPr algn="l">
              <a:spcAft>
                <a:spcPts val="800"/>
              </a:spcAft>
              <a:defRPr sz="1400" b="1" i="0">
                <a:solidFill>
                  <a:srgbClr val="333333"/>
                </a:solidFill>
                <a:latin typeface="Calibri"/>
              </a:defRPr>
            </a:pPr>
            <a:r>
              <a:t>INEOS Olefins &amp; Polymers USA — press release, 21 April 2021:</a:t>
            </a:r>
          </a:p>
          <a:p>
            <a:pPr algn="l">
              <a:spcAft>
                <a:spcPts val="800"/>
              </a:spcAft>
              <a:defRPr sz="1300" b="0" i="0">
                <a:solidFill>
                  <a:srgbClr val="333333"/>
                </a:solidFill>
                <a:latin typeface="Calibri"/>
              </a:defRPr>
            </a:pPr>
            <a:r>
              <a:t>Three US sites — Chocolate Bayou and Battleground, Texas, and Carson, California — “awarded ISCC PLUS certification” for chemical (“Advanced”) recycling of mixed plastic waste into ethylene and propylene. INEOS is now selling the output directly: “We now have Advanced Recycled HDPE and PP available for sale.”</a:t>
            </a:r>
          </a:p>
          <a:p>
            <a:pPr algn="l">
              <a:spcAft>
                <a:spcPts val="800"/>
              </a:spcAft>
              <a:defRPr sz="600" b="0" i="0">
                <a:solidFill>
                  <a:srgbClr val="333333"/>
                </a:solidFill>
                <a:latin typeface="Calibri"/>
              </a:defRPr>
            </a:pPr>
            <a:endParaRPr/>
          </a:p>
          <a:p>
            <a:pPr algn="l">
              <a:spcAft>
                <a:spcPts val="800"/>
              </a:spcAft>
              <a:defRPr sz="1300" b="1" i="0">
                <a:solidFill>
                  <a:srgbClr val="1B2A41"/>
                </a:solidFill>
                <a:latin typeface="Calibri"/>
              </a:defRPr>
            </a:pPr>
            <a:r>
              <a:t>Two different operators, two different sites, the same certification system and the same mass-balance/free-attribution architecture already covered on slides 5–6 and 8 — not a hypothetical.</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Full links on the Sources pages (Appendix 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 (1/2)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 — standards</a:t>
            </a:r>
          </a:p>
        </p:txBody>
      </p:sp>
      <p:sp>
        <p:nvSpPr>
          <p:cNvPr id="5" name="TextBox 4"/>
          <p:cNvSpPr txBox="1"/>
          <p:nvPr/>
        </p:nvSpPr>
        <p:spPr>
          <a:xfrm>
            <a:off x="548640" y="960120"/>
            <a:ext cx="11064240" cy="5394960"/>
          </a:xfrm>
          <a:prstGeom prst="rect">
            <a:avLst/>
          </a:prstGeom>
          <a:noFill/>
        </p:spPr>
        <p:txBody>
          <a:bodyPr wrap="square">
            <a:spAutoFit/>
          </a:bodyPr>
          <a:lstStyle/>
          <a:p>
            <a:pPr>
              <a:spcAft>
                <a:spcPts val="100"/>
              </a:spcAft>
              <a:defRPr sz="1150" b="1">
                <a:solidFill>
                  <a:srgbClr val="333333"/>
                </a:solidFill>
                <a:latin typeface="Calibri"/>
              </a:defRPr>
            </a:pPr>
            <a:r>
              <a:rPr>
                <a:hlinkClick r:id="rId2"/>
              </a:rPr>
              <a:t>RSB Standard for Advanced Fuels, RSB-STD-01-010, Version 2.8, published April 2026.</a:t>
            </a:r>
          </a:p>
          <a:p>
            <a:pPr>
              <a:spcAft>
                <a:spcPts val="100"/>
              </a:spcAft>
              <a:defRPr sz="900" u="sng">
                <a:solidFill>
                  <a:srgbClr val="1155CC"/>
                </a:solidFill>
                <a:latin typeface="Calibri"/>
              </a:defRPr>
            </a:pPr>
            <a:r>
              <a:t>   https://rsb.org/wp-content/uploads/2025/12/rsb-std-01-010-rsb-standard-for-advanced-fuels-2.8.pdf</a:t>
            </a:r>
          </a:p>
          <a:p>
            <a:pPr>
              <a:spcAft>
                <a:spcPts val="900"/>
              </a:spcAft>
              <a:defRPr sz="950">
                <a:solidFill>
                  <a:srgbClr val="5A5A5A"/>
                </a:solidFill>
                <a:latin typeface="Calibri"/>
              </a:defRPr>
            </a:pPr>
            <a:r>
              <a:t>   Cited: §2.4.2 (p.11), §2.4.5 (p.12), §2.5.4 (p.12), Annex IV (pp.26, 28, 29).</a:t>
            </a:r>
          </a:p>
          <a:p>
            <a:pPr>
              <a:spcAft>
                <a:spcPts val="100"/>
              </a:spcAft>
              <a:defRPr sz="1150" b="1">
                <a:solidFill>
                  <a:srgbClr val="333333"/>
                </a:solidFill>
                <a:latin typeface="Calibri"/>
              </a:defRPr>
            </a:pPr>
            <a:r>
              <a:rPr>
                <a:hlinkClick r:id="rId3"/>
              </a:rPr>
              <a:t>RSB Standard for ICAO CORSIA, RSB-STD-12-001, Version 1.7, published April 2026.</a:t>
            </a:r>
          </a:p>
          <a:p>
            <a:pPr>
              <a:spcAft>
                <a:spcPts val="100"/>
              </a:spcAft>
              <a:defRPr sz="900" u="sng">
                <a:solidFill>
                  <a:srgbClr val="1155CC"/>
                </a:solidFill>
                <a:latin typeface="Calibri"/>
              </a:defRPr>
            </a:pPr>
            <a:r>
              <a:t>   https://rsb.org/wp-content/uploads/2026/04/RSB-STD-12-001-RSB-ICAO-CORSIA-ver-1.7.pdf</a:t>
            </a:r>
          </a:p>
          <a:p>
            <a:pPr>
              <a:spcAft>
                <a:spcPts val="900"/>
              </a:spcAft>
              <a:defRPr sz="950">
                <a:solidFill>
                  <a:srgbClr val="5A5A5A"/>
                </a:solidFill>
                <a:latin typeface="Calibri"/>
              </a:defRPr>
            </a:pPr>
            <a:r>
              <a:t>   Cited: §3.4.7.1 (p.23).</a:t>
            </a:r>
          </a:p>
          <a:p>
            <a:pPr>
              <a:spcAft>
                <a:spcPts val="100"/>
              </a:spcAft>
              <a:defRPr sz="1150" b="1">
                <a:solidFill>
                  <a:srgbClr val="333333"/>
                </a:solidFill>
                <a:latin typeface="Calibri"/>
              </a:defRPr>
            </a:pPr>
            <a:r>
              <a:rPr>
                <a:hlinkClick r:id="rId4"/>
              </a:rPr>
              <a:t>ISCC PLUS 203-2, Chain of Custody, Version 1.1, valid from 13 November 2025.</a:t>
            </a:r>
          </a:p>
          <a:p>
            <a:pPr>
              <a:spcAft>
                <a:spcPts val="100"/>
              </a:spcAft>
              <a:defRPr sz="900" u="sng">
                <a:solidFill>
                  <a:srgbClr val="1155CC"/>
                </a:solidFill>
                <a:latin typeface="Calibri"/>
              </a:defRPr>
            </a:pPr>
            <a:r>
              <a:t>   https://iscc-system.org/download/iscc-plus-203-2-chain-of-custody/</a:t>
            </a:r>
          </a:p>
          <a:p>
            <a:pPr>
              <a:spcAft>
                <a:spcPts val="900"/>
              </a:spcAft>
              <a:defRPr sz="950">
                <a:solidFill>
                  <a:srgbClr val="5A5A5A"/>
                </a:solidFill>
                <a:latin typeface="Calibri"/>
              </a:defRPr>
            </a:pPr>
            <a:r>
              <a:t>   Cited: §6.1 (pp.17–18), §6.2 (p.18), §6.3 (p.21), §6.4.2 (pp.26–27).</a:t>
            </a:r>
          </a:p>
          <a:p>
            <a:pPr>
              <a:spcAft>
                <a:spcPts val="100"/>
              </a:spcAft>
              <a:defRPr sz="1150" b="1">
                <a:solidFill>
                  <a:srgbClr val="333333"/>
                </a:solidFill>
                <a:latin typeface="Calibri"/>
              </a:defRPr>
            </a:pPr>
            <a:r>
              <a:rPr>
                <a:hlinkClick r:id="rId5"/>
              </a:rPr>
              <a:t>ISCC EU 205, Greenhouse Gas Emissions, Version 4.1, valid from 1 January 2024.</a:t>
            </a:r>
          </a:p>
          <a:p>
            <a:pPr>
              <a:spcAft>
                <a:spcPts val="100"/>
              </a:spcAft>
              <a:defRPr sz="900" u="sng">
                <a:solidFill>
                  <a:srgbClr val="1155CC"/>
                </a:solidFill>
                <a:latin typeface="Calibri"/>
              </a:defRPr>
            </a:pPr>
            <a:r>
              <a:t>   https://www.iscc-system.org/wp-content/uploads/2024/01/ISCC_EU_205_Greenhouse-Gas-Emissions_v4.1_January2024.pdf</a:t>
            </a:r>
          </a:p>
          <a:p>
            <a:pPr>
              <a:spcAft>
                <a:spcPts val="900"/>
              </a:spcAft>
              <a:defRPr sz="950">
                <a:solidFill>
                  <a:srgbClr val="5A5A5A"/>
                </a:solidFill>
                <a:latin typeface="Calibri"/>
              </a:defRPr>
            </a:pPr>
            <a:r>
              <a:t>   Cited: §4.3.8 Allocation of emissions to main- and co-products (p.55).</a:t>
            </a:r>
          </a:p>
          <a:p>
            <a:pPr>
              <a:spcAft>
                <a:spcPts val="100"/>
              </a:spcAft>
              <a:defRPr sz="1150" b="1">
                <a:solidFill>
                  <a:srgbClr val="333333"/>
                </a:solidFill>
                <a:latin typeface="Calibri"/>
              </a:defRPr>
            </a:pPr>
            <a:r>
              <a:rPr>
                <a:hlinkClick r:id="rId6"/>
              </a:rPr>
              <a:t>ISCC PLUS System Structure and Overview of ISCC PLUS Documents, Version 1.2, valid from 13 November 2025.</a:t>
            </a:r>
          </a:p>
          <a:p>
            <a:pPr>
              <a:spcAft>
                <a:spcPts val="100"/>
              </a:spcAft>
              <a:defRPr sz="900" u="sng">
                <a:solidFill>
                  <a:srgbClr val="1155CC"/>
                </a:solidFill>
                <a:latin typeface="Calibri"/>
              </a:defRPr>
            </a:pPr>
            <a:r>
              <a:t>   https://iscc-system.org/download/iscc-plus-system-structure-and-overview-of-iscc-plus-documents/</a:t>
            </a:r>
          </a:p>
          <a:p>
            <a:pPr>
              <a:spcAft>
                <a:spcPts val="900"/>
              </a:spcAft>
              <a:defRPr sz="950">
                <a:solidFill>
                  <a:srgbClr val="5A5A5A"/>
                </a:solidFill>
                <a:latin typeface="Calibri"/>
              </a:defRPr>
            </a:pPr>
            <a:r>
              <a:t>   Cited: Table 1 (p.6) — confirms ISCC EU 205 is a normative ISCC PLUS System Document.</a:t>
            </a:r>
          </a:p>
          <a:p>
            <a:pPr>
              <a:spcAft>
                <a:spcPts val="100"/>
              </a:spcAft>
              <a:defRPr sz="1150" b="1">
                <a:solidFill>
                  <a:srgbClr val="333333"/>
                </a:solidFill>
                <a:latin typeface="Calibri"/>
              </a:defRPr>
            </a:pPr>
            <a:r>
              <a:rPr>
                <a:hlinkClick r:id="rId7"/>
              </a:rPr>
              <a:t>ISCC Questions and Answers on the Certification of Co-Processing, Version 1.0, valid from 22 September 2025.</a:t>
            </a:r>
          </a:p>
          <a:p>
            <a:pPr>
              <a:spcAft>
                <a:spcPts val="100"/>
              </a:spcAft>
              <a:defRPr sz="900" u="sng">
                <a:solidFill>
                  <a:srgbClr val="1155CC"/>
                </a:solidFill>
                <a:latin typeface="Calibri"/>
              </a:defRPr>
            </a:pPr>
            <a:r>
              <a:t>   https://www.iscc-system.org/wp-content/uploads/2025/09/Co-Processing_Questions_And_Answers_-Document.pdf</a:t>
            </a:r>
          </a:p>
          <a:p>
            <a:pPr>
              <a:spcAft>
                <a:spcPts val="900"/>
              </a:spcAft>
              <a:defRPr sz="950">
                <a:solidFill>
                  <a:srgbClr val="5A5A5A"/>
                </a:solidFill>
                <a:latin typeface="Calibri"/>
              </a:defRPr>
            </a:pPr>
            <a:r>
              <a:t>   Cited: “Detection of low bio-content” (p.14).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 (2/2)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 — CORSIA, practice, and industry</a:t>
            </a:r>
          </a:p>
        </p:txBody>
      </p:sp>
      <p:sp>
        <p:nvSpPr>
          <p:cNvPr id="5" name="TextBox 4"/>
          <p:cNvSpPr txBox="1"/>
          <p:nvPr/>
        </p:nvSpPr>
        <p:spPr>
          <a:xfrm>
            <a:off x="548640" y="960120"/>
            <a:ext cx="11064240" cy="4846320"/>
          </a:xfrm>
          <a:prstGeom prst="rect">
            <a:avLst/>
          </a:prstGeom>
          <a:noFill/>
        </p:spPr>
        <p:txBody>
          <a:bodyPr wrap="square">
            <a:spAutoFit/>
          </a:bodyPr>
          <a:lstStyle/>
          <a:p>
            <a:pPr>
              <a:spcAft>
                <a:spcPts val="100"/>
              </a:spcAft>
              <a:defRPr sz="1150" b="1">
                <a:solidFill>
                  <a:srgbClr val="333333"/>
                </a:solidFill>
                <a:latin typeface="Calibri"/>
              </a:defRPr>
            </a:pPr>
            <a:r>
              <a:rPr dirty="0">
                <a:hlinkClick r:id="rId2"/>
              </a:rPr>
              <a:t>ISCC CORSIA 203, Traceability and Chain of Custody, Version 2.0.</a:t>
            </a:r>
          </a:p>
          <a:p>
            <a:pPr>
              <a:spcAft>
                <a:spcPts val="100"/>
              </a:spcAft>
              <a:defRPr sz="900" u="sng">
                <a:solidFill>
                  <a:srgbClr val="1155CC"/>
                </a:solidFill>
                <a:latin typeface="Calibri"/>
              </a:defRPr>
            </a:pPr>
            <a:r>
              <a:rPr dirty="0"/>
              <a:t>   https://</a:t>
            </a:r>
            <a:r>
              <a:rPr dirty="0" err="1"/>
              <a:t>www.iscc-system.org</a:t>
            </a:r>
            <a:r>
              <a:rPr dirty="0"/>
              <a:t>/wp-content/uploads/2023/12/ISCC_CORSIA_203_Traceability_and_Chain-of-Custody_2.0.pdf</a:t>
            </a:r>
          </a:p>
          <a:p>
            <a:pPr>
              <a:spcAft>
                <a:spcPts val="900"/>
              </a:spcAft>
              <a:defRPr sz="950">
                <a:solidFill>
                  <a:srgbClr val="5A5A5A"/>
                </a:solidFill>
                <a:latin typeface="Calibri"/>
              </a:defRPr>
            </a:pPr>
            <a:r>
              <a:rPr dirty="0"/>
              <a:t>   Cited: §4.4.4 Co-Processing (p.42).</a:t>
            </a:r>
          </a:p>
          <a:p>
            <a:pPr>
              <a:spcAft>
                <a:spcPts val="100"/>
              </a:spcAft>
              <a:defRPr sz="1150" b="1">
                <a:solidFill>
                  <a:srgbClr val="333333"/>
                </a:solidFill>
                <a:latin typeface="Calibri"/>
              </a:defRPr>
            </a:pPr>
            <a:r>
              <a:rPr dirty="0">
                <a:hlinkClick r:id="rId3"/>
              </a:rPr>
              <a:t>ISCC PLUS material list, “List of material eligible for ISCC PLUS certification,” 9 June 2025.</a:t>
            </a:r>
          </a:p>
          <a:p>
            <a:pPr>
              <a:spcAft>
                <a:spcPts val="100"/>
              </a:spcAft>
              <a:defRPr sz="900" u="sng">
                <a:solidFill>
                  <a:srgbClr val="1155CC"/>
                </a:solidFill>
                <a:latin typeface="Calibri"/>
              </a:defRPr>
            </a:pPr>
            <a:r>
              <a:rPr dirty="0"/>
              <a:t>   https://</a:t>
            </a:r>
            <a:r>
              <a:rPr dirty="0" err="1"/>
              <a:t>iscc-system.org</a:t>
            </a:r>
            <a:r>
              <a:rPr dirty="0"/>
              <a:t>/download/iscc-material-list-iscc-plus-2/</a:t>
            </a:r>
          </a:p>
          <a:p>
            <a:pPr>
              <a:spcAft>
                <a:spcPts val="900"/>
              </a:spcAft>
              <a:defRPr sz="950">
                <a:solidFill>
                  <a:srgbClr val="5A5A5A"/>
                </a:solidFill>
                <a:latin typeface="Calibri"/>
              </a:defRPr>
            </a:pPr>
            <a:r>
              <a:rPr dirty="0"/>
              <a:t>   Cited: p.1 (“circular” designation), p.3 (mixed plastic waste eligibility).</a:t>
            </a:r>
          </a:p>
          <a:p>
            <a:pPr>
              <a:spcAft>
                <a:spcPts val="100"/>
              </a:spcAft>
              <a:defRPr sz="1150" b="1">
                <a:solidFill>
                  <a:srgbClr val="333333"/>
                </a:solidFill>
                <a:latin typeface="Calibri"/>
              </a:defRPr>
            </a:pPr>
            <a:r>
              <a:rPr dirty="0">
                <a:hlinkClick r:id="rId4"/>
              </a:rPr>
              <a:t>ISCC System, “Certified Free Attribution for Scaling-up the Circular Economy,” published 1 April 2026.</a:t>
            </a:r>
          </a:p>
          <a:p>
            <a:pPr>
              <a:spcAft>
                <a:spcPts val="100"/>
              </a:spcAft>
              <a:defRPr sz="900" u="sng">
                <a:solidFill>
                  <a:srgbClr val="1155CC"/>
                </a:solidFill>
                <a:latin typeface="Calibri"/>
              </a:defRPr>
            </a:pPr>
            <a:r>
              <a:rPr dirty="0"/>
              <a:t>   https://</a:t>
            </a:r>
            <a:r>
              <a:rPr dirty="0" err="1"/>
              <a:t>iscc-system.org</a:t>
            </a:r>
            <a:r>
              <a:rPr dirty="0"/>
              <a:t>/certified-free-attribution-for-scaling-up-the-circular-economy/</a:t>
            </a:r>
          </a:p>
          <a:p>
            <a:pPr>
              <a:spcAft>
                <a:spcPts val="900"/>
              </a:spcAft>
              <a:defRPr sz="950">
                <a:solidFill>
                  <a:srgbClr val="5A5A5A"/>
                </a:solidFill>
                <a:latin typeface="Calibri"/>
              </a:defRPr>
            </a:pPr>
            <a:r>
              <a:rPr dirty="0"/>
              <a:t>   Cited: Cited in full for the chemical-recycling worked example and guardrails.</a:t>
            </a:r>
          </a:p>
          <a:p>
            <a:pPr>
              <a:spcAft>
                <a:spcPts val="100"/>
              </a:spcAft>
              <a:defRPr sz="1150" b="1">
                <a:solidFill>
                  <a:srgbClr val="333333"/>
                </a:solidFill>
                <a:latin typeface="Calibri"/>
              </a:defRPr>
            </a:pPr>
            <a:r>
              <a:rPr dirty="0">
                <a:hlinkClick r:id="rId5"/>
              </a:rPr>
              <a:t>ExxonMobil, “Expanding the plastics life cycle,” Sustainability Report, published 5 May 2026.</a:t>
            </a:r>
          </a:p>
          <a:p>
            <a:pPr>
              <a:spcAft>
                <a:spcPts val="100"/>
              </a:spcAft>
              <a:defRPr sz="900" u="sng">
                <a:solidFill>
                  <a:srgbClr val="1155CC"/>
                </a:solidFill>
                <a:latin typeface="Calibri"/>
              </a:defRPr>
            </a:pPr>
            <a:r>
              <a:rPr dirty="0"/>
              <a:t>   https://</a:t>
            </a:r>
            <a:r>
              <a:rPr dirty="0" err="1"/>
              <a:t>corporate.exxonmobil.com</a:t>
            </a:r>
            <a:r>
              <a:rPr dirty="0"/>
              <a:t>/Publications/Sustainability/meeting-</a:t>
            </a:r>
            <a:r>
              <a:rPr dirty="0" err="1"/>
              <a:t>societys</a:t>
            </a:r>
            <a:r>
              <a:rPr dirty="0"/>
              <a:t>-critical-needs-energy-products/Expanding-the-plastics-life-cycle</a:t>
            </a:r>
          </a:p>
          <a:p>
            <a:pPr>
              <a:spcAft>
                <a:spcPts val="900"/>
              </a:spcAft>
              <a:defRPr sz="950">
                <a:solidFill>
                  <a:srgbClr val="5A5A5A"/>
                </a:solidFill>
                <a:latin typeface="Calibri"/>
              </a:defRPr>
            </a:pPr>
            <a:r>
              <a:rPr dirty="0"/>
              <a:t>   Cited: “certified free attribution” disclosure footnote; Baytown, Texas facility figures; named customers.</a:t>
            </a:r>
          </a:p>
          <a:p>
            <a:pPr>
              <a:spcAft>
                <a:spcPts val="100"/>
              </a:spcAft>
              <a:defRPr sz="1150" b="1">
                <a:solidFill>
                  <a:srgbClr val="333333"/>
                </a:solidFill>
                <a:latin typeface="Calibri"/>
              </a:defRPr>
            </a:pPr>
            <a:r>
              <a:rPr dirty="0">
                <a:hlinkClick r:id="rId6"/>
              </a:rPr>
              <a:t>INEOS Group, “Advanced Plastic Recycling from INEOS Olefins &amp; Polymers USA Receives ISCC PLUS Certification,” 21 April 2021.</a:t>
            </a:r>
          </a:p>
          <a:p>
            <a:pPr>
              <a:spcAft>
                <a:spcPts val="100"/>
              </a:spcAft>
              <a:defRPr sz="900" u="sng">
                <a:solidFill>
                  <a:srgbClr val="1155CC"/>
                </a:solidFill>
                <a:latin typeface="Calibri"/>
              </a:defRPr>
            </a:pPr>
            <a:r>
              <a:rPr dirty="0"/>
              <a:t>   https://</a:t>
            </a:r>
            <a:r>
              <a:rPr dirty="0" err="1"/>
              <a:t>www.ineos.com</a:t>
            </a:r>
            <a:r>
              <a:rPr dirty="0"/>
              <a:t>/news/shared-news/advanced-plastic-recycling-from-</a:t>
            </a:r>
            <a:r>
              <a:rPr dirty="0" err="1"/>
              <a:t>ineos</a:t>
            </a:r>
            <a:r>
              <a:rPr dirty="0"/>
              <a:t>-olefins--polymers-</a:t>
            </a:r>
            <a:r>
              <a:rPr dirty="0" err="1"/>
              <a:t>usa</a:t>
            </a:r>
            <a:r>
              <a:rPr dirty="0"/>
              <a:t>-receives-</a:t>
            </a:r>
            <a:r>
              <a:rPr dirty="0" err="1"/>
              <a:t>iscc</a:t>
            </a:r>
            <a:r>
              <a:rPr dirty="0"/>
              <a:t>-plus-certification/</a:t>
            </a:r>
          </a:p>
          <a:p>
            <a:pPr>
              <a:spcAft>
                <a:spcPts val="900"/>
              </a:spcAft>
              <a:defRPr sz="950">
                <a:solidFill>
                  <a:srgbClr val="5A5A5A"/>
                </a:solidFill>
                <a:latin typeface="Calibri"/>
              </a:defRPr>
            </a:pPr>
            <a:r>
              <a:rPr dirty="0"/>
              <a:t>   Cited: Cited in full for named sites and product claims.</a:t>
            </a:r>
          </a:p>
        </p:txBody>
      </p:sp>
      <p:sp>
        <p:nvSpPr>
          <p:cNvPr id="6" name="TextBox 5"/>
          <p:cNvSpPr txBox="1"/>
          <p:nvPr/>
        </p:nvSpPr>
        <p:spPr>
          <a:xfrm>
            <a:off x="548640" y="5989320"/>
            <a:ext cx="11064240" cy="548640"/>
          </a:xfrm>
          <a:prstGeom prst="rect">
            <a:avLst/>
          </a:prstGeom>
          <a:noFill/>
        </p:spPr>
        <p:txBody>
          <a:bodyPr wrap="square">
            <a:spAutoFit/>
          </a:bodyPr>
          <a:lstStyle/>
          <a:p>
            <a:pPr algn="l">
              <a:spcAft>
                <a:spcPts val="800"/>
              </a:spcAft>
              <a:defRPr sz="1050" b="0" i="1">
                <a:solidFill>
                  <a:srgbClr val="5A5A5A"/>
                </a:solidFill>
                <a:latin typeface="Calibri"/>
              </a:defRPr>
            </a:pPr>
            <a:r>
              <a:t>Scope: RSB Advanced Fuels, RSB CORSIA, ISCC PLUS, and ISCC CORSIA. Excludes EU RED, LCFS, and ISCC EU as a standalone track (distinct from the ISCC EU documents incorporated into ISCC PLUS, which are in scope).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TotalTime>
  <Words>2721</Words>
  <Application>Microsoft Macintosh PowerPoint</Application>
  <PresentationFormat>Widescreen</PresentationFormat>
  <Paragraphs>143</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Bernard Lavine</cp:lastModifiedBy>
  <cp:revision>3</cp:revision>
  <dcterms:created xsi:type="dcterms:W3CDTF">2013-01-27T09:14:16Z</dcterms:created>
  <dcterms:modified xsi:type="dcterms:W3CDTF">2026-09-15T22:44:04Z</dcterms:modified>
  <cp:category/>
</cp:coreProperties>
</file>