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Vaulted KDHE authorization as quoted in our Dec 2024 technical memo; ops note, Aug 2024 (#injection-ops-ks); 350Solutions unsuccessful verification report, Jan 21, 2025 (batches 200006, 200008, 200011, 200013).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Passing results: two earlier D-Series oils at ~475 °C. Failing: July sample cresols 855 mg/L (revised report; 877 also cited); August sample cresols 530, pyridine 7.52. July report also notes analysis outside holding time and accreditation not specified. Blend limit: ~9 totes on the first result, ~18 totes from 8 Sep on the August result.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B43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457200"/>
          </a:xfrm>
          <a:prstGeom prst="rect">
            <a:avLst/>
          </a:prstGeom>
          <a:noFill/>
        </p:spPr>
        <p:txBody>
          <a:bodyPr wrap="square">
            <a:spAutoFit/>
          </a:bodyPr>
          <a:lstStyle/>
          <a:p>
            <a:pPr>
              <a:spcAft>
                <a:spcPts val="600"/>
              </a:spcAft>
            </a:pPr>
            <a:r>
              <a:rPr sz="1500" b="1" i="0">
                <a:solidFill>
                  <a:srgbClr val="B43C2A"/>
                </a:solidFill>
                <a:latin typeface="Calibri"/>
              </a:rPr>
              <a:t>BASCO SYNC  ·  POST-MORTEM</a:t>
            </a:r>
          </a:p>
        </p:txBody>
      </p:sp>
      <p:sp>
        <p:nvSpPr>
          <p:cNvPr id="4" name="TextBox 3"/>
          <p:cNvSpPr txBox="1"/>
          <p:nvPr/>
        </p:nvSpPr>
        <p:spPr>
          <a:xfrm>
            <a:off x="822960" y="2560320"/>
            <a:ext cx="10515600" cy="1463040"/>
          </a:xfrm>
          <a:prstGeom prst="rect">
            <a:avLst/>
          </a:prstGeom>
          <a:noFill/>
        </p:spPr>
        <p:txBody>
          <a:bodyPr wrap="square">
            <a:spAutoFit/>
          </a:bodyPr>
          <a:lstStyle/>
          <a:p>
            <a:pPr>
              <a:spcAft>
                <a:spcPts val="600"/>
              </a:spcAft>
            </a:pPr>
            <a:r>
              <a:rPr sz="4800" b="1" i="0">
                <a:solidFill>
                  <a:srgbClr val="1F2937"/>
                </a:solidFill>
                <a:latin typeface="Calibri"/>
              </a:rPr>
              <a:t>D-Series TCLP</a:t>
            </a:r>
          </a:p>
          <a:p>
            <a:pPr>
              <a:spcAft>
                <a:spcPts val="600"/>
              </a:spcAft>
            </a:pPr>
            <a:r>
              <a:rPr sz="2600" b="0" i="0">
                <a:solidFill>
                  <a:srgbClr val="5B6573"/>
                </a:solidFill>
                <a:latin typeface="Calibri"/>
              </a:rPr>
              <a:t>What went wrong, and how we stop it happening again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B43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365760"/>
          </a:xfrm>
          <a:prstGeom prst="rect">
            <a:avLst/>
          </a:prstGeom>
          <a:noFill/>
        </p:spPr>
        <p:txBody>
          <a:bodyPr wrap="square">
            <a:spAutoFit/>
          </a:bodyPr>
          <a:lstStyle/>
          <a:p>
            <a:pPr>
              <a:spcAft>
                <a:spcPts val="600"/>
              </a:spcAft>
            </a:pPr>
            <a:r>
              <a:rPr sz="1300" b="1" i="0">
                <a:solidFill>
                  <a:srgbClr val="B43C2A"/>
                </a:solidFill>
                <a:latin typeface="Calibri"/>
              </a:rPr>
              <a:t>WE HAVE BEEN HERE BEFORE</a:t>
            </a:r>
          </a:p>
        </p:txBody>
      </p:sp>
      <p:sp>
        <p:nvSpPr>
          <p:cNvPr id="4" name="TextBox 3"/>
          <p:cNvSpPr txBox="1"/>
          <p:nvPr/>
        </p:nvSpPr>
        <p:spPr>
          <a:xfrm>
            <a:off x="640080" y="731520"/>
            <a:ext cx="10972800" cy="822960"/>
          </a:xfrm>
          <a:prstGeom prst="rect">
            <a:avLst/>
          </a:prstGeom>
          <a:noFill/>
        </p:spPr>
        <p:txBody>
          <a:bodyPr wrap="square">
            <a:spAutoFit/>
          </a:bodyPr>
          <a:lstStyle/>
          <a:p>
            <a:pPr>
              <a:spcAft>
                <a:spcPts val="600"/>
              </a:spcAft>
            </a:pPr>
            <a:r>
              <a:rPr sz="3000" b="1" i="0">
                <a:solidFill>
                  <a:srgbClr val="1F2937"/>
                </a:solidFill>
                <a:latin typeface="Calibri"/>
              </a:rPr>
              <a:t>2024: 236 t verified, none credited</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1000"/>
              </a:spcAft>
            </a:pPr>
            <a:r>
              <a:rPr sz="1800" b="0" i="0">
                <a:solidFill>
                  <a:srgbClr val="1F2937"/>
                </a:solidFill>
                <a:latin typeface="Calibri"/>
              </a:rPr>
              <a:t>•  The Vaulted permit required salting the oil's water fraction "to a minimum concentration of 190,000 mg/L before injection."</a:t>
            </a:r>
          </a:p>
          <a:p>
            <a:pPr>
              <a:spcAft>
                <a:spcPts val="1000"/>
              </a:spcAft>
            </a:pPr>
            <a:r>
              <a:rPr sz="1800" b="0" i="0">
                <a:solidFill>
                  <a:srgbClr val="1F2937"/>
                </a:solidFill>
                <a:latin typeface="Calibri"/>
              </a:rPr>
              <a:t>•  Injection ops chose not to measure chloride. They calculated the salt dose from oil volume and water content: "conductivity (not measured due to oily interference)."</a:t>
            </a:r>
          </a:p>
          <a:p>
            <a:pPr>
              <a:spcAft>
                <a:spcPts val="1000"/>
              </a:spcAft>
            </a:pPr>
            <a:r>
              <a:rPr sz="1800" b="0" i="0">
                <a:solidFill>
                  <a:srgbClr val="1F2937"/>
                </a:solidFill>
                <a:latin typeface="Calibri"/>
              </a:rPr>
              <a:t>•  The calculation assumed the oil in the tank was the oil that went down the hole. Phase separation and leftover oil broke that, and four May batches came in under the limit.</a:t>
            </a:r>
          </a:p>
          <a:p>
            <a:pPr>
              <a:spcAft>
                <a:spcPts val="1000"/>
              </a:spcAft>
            </a:pPr>
            <a:r>
              <a:rPr sz="1800" b="0" i="0">
                <a:solidFill>
                  <a:srgbClr val="1F2937"/>
                </a:solidFill>
                <a:latin typeface="Calibri"/>
              </a:rPr>
              <a:t>•  The verifier asked: "Where are conductivity tests of injectate documented?" There were none.</a:t>
            </a:r>
          </a:p>
          <a:p>
            <a:pPr>
              <a:spcAft>
                <a:spcPts val="1000"/>
              </a:spcAft>
            </a:pPr>
            <a:r>
              <a:rPr sz="1800" b="1" i="0">
                <a:solidFill>
                  <a:srgbClr val="1F2937"/>
                </a:solidFill>
                <a:latin typeface="Calibri"/>
              </a:rPr>
              <a:t>•  Result: the May 2024 verification failed. 236.23 t verified, "not eligible for crediting."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B43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365760"/>
          </a:xfrm>
          <a:prstGeom prst="rect">
            <a:avLst/>
          </a:prstGeom>
          <a:noFill/>
        </p:spPr>
        <p:txBody>
          <a:bodyPr wrap="square">
            <a:spAutoFit/>
          </a:bodyPr>
          <a:lstStyle/>
          <a:p>
            <a:pPr>
              <a:spcAft>
                <a:spcPts val="600"/>
              </a:spcAft>
            </a:pPr>
            <a:r>
              <a:rPr sz="1300" b="1" i="0">
                <a:solidFill>
                  <a:srgbClr val="B43C2A"/>
                </a:solidFill>
                <a:latin typeface="Calibri"/>
              </a:rPr>
              <a:t>2026</a:t>
            </a:r>
          </a:p>
        </p:txBody>
      </p:sp>
      <p:sp>
        <p:nvSpPr>
          <p:cNvPr id="4" name="TextBox 3"/>
          <p:cNvSpPr txBox="1"/>
          <p:nvPr/>
        </p:nvSpPr>
        <p:spPr>
          <a:xfrm>
            <a:off x="640080" y="731520"/>
            <a:ext cx="10972800" cy="822960"/>
          </a:xfrm>
          <a:prstGeom prst="rect">
            <a:avLst/>
          </a:prstGeom>
          <a:noFill/>
        </p:spPr>
        <p:txBody>
          <a:bodyPr wrap="square">
            <a:spAutoFit/>
          </a:bodyPr>
          <a:lstStyle/>
          <a:p>
            <a:pPr>
              <a:spcAft>
                <a:spcPts val="600"/>
              </a:spcAft>
            </a:pPr>
            <a:r>
              <a:rPr sz="3000" b="1" i="0">
                <a:solidFill>
                  <a:srgbClr val="1F2937"/>
                </a:solidFill>
                <a:latin typeface="Calibri"/>
              </a:rPr>
              <a:t>D-Series TCLP: the same pattern</a:t>
            </a:r>
          </a:p>
        </p:txBody>
      </p:sp>
      <p:sp>
        <p:nvSpPr>
          <p:cNvPr id="5" name="Rectangle 4"/>
          <p:cNvSpPr/>
          <p:nvPr/>
        </p:nvSpPr>
        <p:spPr>
          <a:xfrm>
            <a:off x="640080" y="1828800"/>
            <a:ext cx="2583180" cy="3108960"/>
          </a:xfrm>
          <a:prstGeom prst="rect">
            <a:avLst/>
          </a:prstGeom>
          <a:solidFill>
            <a:srgbClr val="F4F5F7"/>
          </a:solidFill>
          <a:ln>
            <a:solidFill>
              <a:srgbClr val="D9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828800"/>
            <a:ext cx="2583180" cy="73152"/>
          </a:xfrm>
          <a:prstGeom prst="rect">
            <a:avLst/>
          </a:prstGeom>
          <a:solidFill>
            <a:srgbClr val="B43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57400"/>
            <a:ext cx="2308860" cy="457200"/>
          </a:xfrm>
          <a:prstGeom prst="rect">
            <a:avLst/>
          </a:prstGeom>
          <a:noFill/>
        </p:spPr>
        <p:txBody>
          <a:bodyPr wrap="square">
            <a:spAutoFit/>
          </a:bodyPr>
          <a:lstStyle/>
          <a:p>
            <a:pPr>
              <a:spcAft>
                <a:spcPts val="600"/>
              </a:spcAft>
            </a:pPr>
            <a:r>
              <a:rPr sz="1700" b="1" i="0">
                <a:solidFill>
                  <a:srgbClr val="1F2937"/>
                </a:solidFill>
                <a:latin typeface="Calibri"/>
              </a:rPr>
              <a:t>Unclear result</a:t>
            </a:r>
          </a:p>
        </p:txBody>
      </p:sp>
      <p:sp>
        <p:nvSpPr>
          <p:cNvPr id="8" name="TextBox 7"/>
          <p:cNvSpPr txBox="1"/>
          <p:nvPr/>
        </p:nvSpPr>
        <p:spPr>
          <a:xfrm>
            <a:off x="777240" y="2606040"/>
            <a:ext cx="2308860" cy="2286000"/>
          </a:xfrm>
          <a:prstGeom prst="rect">
            <a:avLst/>
          </a:prstGeom>
          <a:noFill/>
        </p:spPr>
        <p:txBody>
          <a:bodyPr wrap="square">
            <a:spAutoFit/>
          </a:bodyPr>
          <a:lstStyle/>
          <a:p>
            <a:pPr>
              <a:spcAft>
                <a:spcPts val="600"/>
              </a:spcAft>
            </a:pPr>
            <a:r>
              <a:rPr sz="1400" b="0" i="0">
                <a:solidFill>
                  <a:srgbClr val="5B6573"/>
                </a:solidFill>
                <a:latin typeface="Calibri"/>
              </a:rPr>
              <a:t>Results ranged from passing (lower pyrolysis temperature) to cresols at 855 mg/L against a 200 limit. One pyridine result was "ND" at a reporting limit above the 5.0 limit.</a:t>
            </a:r>
          </a:p>
        </p:txBody>
      </p:sp>
      <p:sp>
        <p:nvSpPr>
          <p:cNvPr id="9" name="Rectangle 8"/>
          <p:cNvSpPr/>
          <p:nvPr/>
        </p:nvSpPr>
        <p:spPr>
          <a:xfrm>
            <a:off x="3406140" y="1828800"/>
            <a:ext cx="2583180" cy="3108960"/>
          </a:xfrm>
          <a:prstGeom prst="rect">
            <a:avLst/>
          </a:prstGeom>
          <a:solidFill>
            <a:srgbClr val="F4F5F7"/>
          </a:solidFill>
          <a:ln>
            <a:solidFill>
              <a:srgbClr val="D9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06140" y="1828800"/>
            <a:ext cx="2583180" cy="73152"/>
          </a:xfrm>
          <a:prstGeom prst="rect">
            <a:avLst/>
          </a:prstGeom>
          <a:solidFill>
            <a:srgbClr val="B43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3300" y="2057400"/>
            <a:ext cx="2308860" cy="457200"/>
          </a:xfrm>
          <a:prstGeom prst="rect">
            <a:avLst/>
          </a:prstGeom>
          <a:noFill/>
        </p:spPr>
        <p:txBody>
          <a:bodyPr wrap="square">
            <a:spAutoFit/>
          </a:bodyPr>
          <a:lstStyle/>
          <a:p>
            <a:pPr>
              <a:spcAft>
                <a:spcPts val="600"/>
              </a:spcAft>
            </a:pPr>
            <a:r>
              <a:rPr sz="1700" b="1" i="0">
                <a:solidFill>
                  <a:srgbClr val="1F2937"/>
                </a:solidFill>
                <a:latin typeface="Calibri"/>
              </a:rPr>
              <a:t>No rule on which result</a:t>
            </a:r>
          </a:p>
        </p:txBody>
      </p:sp>
      <p:sp>
        <p:nvSpPr>
          <p:cNvPr id="12" name="TextBox 11"/>
          <p:cNvSpPr txBox="1"/>
          <p:nvPr/>
        </p:nvSpPr>
        <p:spPr>
          <a:xfrm>
            <a:off x="3543300" y="2606040"/>
            <a:ext cx="2308860" cy="2286000"/>
          </a:xfrm>
          <a:prstGeom prst="rect">
            <a:avLst/>
          </a:prstGeom>
          <a:noFill/>
        </p:spPr>
        <p:txBody>
          <a:bodyPr wrap="square">
            <a:spAutoFit/>
          </a:bodyPr>
          <a:lstStyle/>
          <a:p>
            <a:pPr>
              <a:spcAft>
                <a:spcPts val="600"/>
              </a:spcAft>
            </a:pPr>
            <a:r>
              <a:rPr sz="1400" b="0" i="0">
                <a:solidFill>
                  <a:srgbClr val="5B6573"/>
                </a:solidFill>
                <a:latin typeface="Calibri"/>
              </a:rPr>
              <a:t>No agreed policy on which result sets the blend limit or why. The limit was set on one result, then doubled on a lower one.</a:t>
            </a:r>
          </a:p>
        </p:txBody>
      </p:sp>
      <p:sp>
        <p:nvSpPr>
          <p:cNvPr id="13" name="Rectangle 12"/>
          <p:cNvSpPr/>
          <p:nvPr/>
        </p:nvSpPr>
        <p:spPr>
          <a:xfrm>
            <a:off x="6172200" y="1828800"/>
            <a:ext cx="2583180" cy="3108960"/>
          </a:xfrm>
          <a:prstGeom prst="rect">
            <a:avLst/>
          </a:prstGeom>
          <a:solidFill>
            <a:srgbClr val="F4F5F7"/>
          </a:solidFill>
          <a:ln>
            <a:solidFill>
              <a:srgbClr val="D9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828800"/>
            <a:ext cx="2583180" cy="73152"/>
          </a:xfrm>
          <a:prstGeom prst="rect">
            <a:avLst/>
          </a:prstGeom>
          <a:solidFill>
            <a:srgbClr val="B43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2057400"/>
            <a:ext cx="2308860" cy="457200"/>
          </a:xfrm>
          <a:prstGeom prst="rect">
            <a:avLst/>
          </a:prstGeom>
          <a:noFill/>
        </p:spPr>
        <p:txBody>
          <a:bodyPr wrap="square">
            <a:spAutoFit/>
          </a:bodyPr>
          <a:lstStyle/>
          <a:p>
            <a:pPr>
              <a:spcAft>
                <a:spcPts val="600"/>
              </a:spcAft>
            </a:pPr>
            <a:r>
              <a:rPr sz="1700" b="1" i="0">
                <a:solidFill>
                  <a:srgbClr val="1F2937"/>
                </a:solidFill>
                <a:latin typeface="Calibri"/>
              </a:rPr>
              <a:t>No cross-team sign-off</a:t>
            </a:r>
          </a:p>
        </p:txBody>
      </p:sp>
      <p:sp>
        <p:nvSpPr>
          <p:cNvPr id="16" name="TextBox 15"/>
          <p:cNvSpPr txBox="1"/>
          <p:nvPr/>
        </p:nvSpPr>
        <p:spPr>
          <a:xfrm>
            <a:off x="6309360" y="2606040"/>
            <a:ext cx="2308860" cy="2286000"/>
          </a:xfrm>
          <a:prstGeom prst="rect">
            <a:avLst/>
          </a:prstGeom>
          <a:noFill/>
        </p:spPr>
        <p:txBody>
          <a:bodyPr wrap="square">
            <a:spAutoFit/>
          </a:bodyPr>
          <a:lstStyle/>
          <a:p>
            <a:pPr>
              <a:spcAft>
                <a:spcPts val="600"/>
              </a:spcAft>
            </a:pPr>
            <a:r>
              <a:rPr sz="1400" b="0" i="0">
                <a:solidFill>
                  <a:srgbClr val="5B6573"/>
                </a:solidFill>
                <a:latin typeface="Calibri"/>
              </a:rPr>
              <a:t>The blending plan went into use without review or sign-off from the other teams that hold part of the picture.</a:t>
            </a:r>
          </a:p>
        </p:txBody>
      </p:sp>
      <p:sp>
        <p:nvSpPr>
          <p:cNvPr id="17" name="Rectangle 16"/>
          <p:cNvSpPr/>
          <p:nvPr/>
        </p:nvSpPr>
        <p:spPr>
          <a:xfrm>
            <a:off x="8938260" y="1828800"/>
            <a:ext cx="2583180" cy="3108960"/>
          </a:xfrm>
          <a:prstGeom prst="rect">
            <a:avLst/>
          </a:prstGeom>
          <a:solidFill>
            <a:srgbClr val="F4F5F7"/>
          </a:solidFill>
          <a:ln>
            <a:solidFill>
              <a:srgbClr val="D9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38260" y="1828800"/>
            <a:ext cx="2583180" cy="73152"/>
          </a:xfrm>
          <a:prstGeom prst="rect">
            <a:avLst/>
          </a:prstGeom>
          <a:solidFill>
            <a:srgbClr val="B43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5420" y="2057400"/>
            <a:ext cx="2308860" cy="457200"/>
          </a:xfrm>
          <a:prstGeom prst="rect">
            <a:avLst/>
          </a:prstGeom>
          <a:noFill/>
        </p:spPr>
        <p:txBody>
          <a:bodyPr wrap="square">
            <a:spAutoFit/>
          </a:bodyPr>
          <a:lstStyle/>
          <a:p>
            <a:pPr>
              <a:spcAft>
                <a:spcPts val="600"/>
              </a:spcAft>
            </a:pPr>
            <a:r>
              <a:rPr sz="1700" b="1" i="0">
                <a:solidFill>
                  <a:srgbClr val="1F2937"/>
                </a:solidFill>
                <a:latin typeface="Calibri"/>
              </a:rPr>
              <a:t>No proof it works</a:t>
            </a:r>
          </a:p>
        </p:txBody>
      </p:sp>
      <p:sp>
        <p:nvSpPr>
          <p:cNvPr id="20" name="TextBox 19"/>
          <p:cNvSpPr txBox="1"/>
          <p:nvPr/>
        </p:nvSpPr>
        <p:spPr>
          <a:xfrm>
            <a:off x="9075420" y="2606040"/>
            <a:ext cx="2308860" cy="2286000"/>
          </a:xfrm>
          <a:prstGeom prst="rect">
            <a:avLst/>
          </a:prstGeom>
          <a:noFill/>
        </p:spPr>
        <p:txBody>
          <a:bodyPr wrap="square">
            <a:spAutoFit/>
          </a:bodyPr>
          <a:lstStyle/>
          <a:p>
            <a:pPr>
              <a:spcAft>
                <a:spcPts val="600"/>
              </a:spcAft>
            </a:pPr>
            <a:r>
              <a:rPr sz="1400" b="0" i="0">
                <a:solidFill>
                  <a:srgbClr val="5B6573"/>
                </a:solidFill>
                <a:latin typeface="Calibri"/>
              </a:rPr>
              <a:t>No testing of actual blends and no record tying each blend to the result behind it. The verifier has now asked exactly this (ISS-130).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B43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365760"/>
          </a:xfrm>
          <a:prstGeom prst="rect">
            <a:avLst/>
          </a:prstGeom>
          <a:noFill/>
        </p:spPr>
        <p:txBody>
          <a:bodyPr wrap="square">
            <a:spAutoFit/>
          </a:bodyPr>
          <a:lstStyle/>
          <a:p>
            <a:pPr>
              <a:spcAft>
                <a:spcPts val="600"/>
              </a:spcAft>
            </a:pPr>
            <a:r>
              <a:rPr sz="1300" b="1" i="0">
                <a:solidFill>
                  <a:srgbClr val="B43C2A"/>
                </a:solidFill>
                <a:latin typeface="Calibri"/>
              </a:rPr>
              <a:t>WHY IT HAPPENED</a:t>
            </a:r>
          </a:p>
        </p:txBody>
      </p:sp>
      <p:sp>
        <p:nvSpPr>
          <p:cNvPr id="4" name="TextBox 3"/>
          <p:cNvSpPr txBox="1"/>
          <p:nvPr/>
        </p:nvSpPr>
        <p:spPr>
          <a:xfrm>
            <a:off x="640080" y="731520"/>
            <a:ext cx="10972800" cy="822960"/>
          </a:xfrm>
          <a:prstGeom prst="rect">
            <a:avLst/>
          </a:prstGeom>
          <a:noFill/>
        </p:spPr>
        <p:txBody>
          <a:bodyPr wrap="square">
            <a:spAutoFit/>
          </a:bodyPr>
          <a:lstStyle/>
          <a:p>
            <a:pPr>
              <a:spcAft>
                <a:spcPts val="600"/>
              </a:spcAft>
            </a:pPr>
            <a:r>
              <a:rPr sz="3000" b="1" i="0">
                <a:solidFill>
                  <a:srgbClr val="1F2937"/>
                </a:solidFill>
                <a:latin typeface="Calibri"/>
              </a:rPr>
              <a:t>Each team held part of the picture</a:t>
            </a:r>
          </a:p>
        </p:txBody>
      </p:sp>
      <p:sp>
        <p:nvSpPr>
          <p:cNvPr id="5" name="Rectangle 4"/>
          <p:cNvSpPr/>
          <p:nvPr/>
        </p:nvSpPr>
        <p:spPr>
          <a:xfrm>
            <a:off x="640080" y="1828800"/>
            <a:ext cx="2029967" cy="2834640"/>
          </a:xfrm>
          <a:prstGeom prst="rect">
            <a:avLst/>
          </a:prstGeom>
          <a:solidFill>
            <a:srgbClr val="F4F5F7"/>
          </a:solidFill>
          <a:ln>
            <a:solidFill>
              <a:srgbClr val="D9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828800"/>
            <a:ext cx="2029967" cy="73152"/>
          </a:xfrm>
          <a:prstGeom prst="rect">
            <a:avLst/>
          </a:prstGeom>
          <a:solidFill>
            <a:srgbClr val="B43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57400"/>
            <a:ext cx="1755647" cy="457200"/>
          </a:xfrm>
          <a:prstGeom prst="rect">
            <a:avLst/>
          </a:prstGeom>
          <a:noFill/>
        </p:spPr>
        <p:txBody>
          <a:bodyPr wrap="square">
            <a:spAutoFit/>
          </a:bodyPr>
          <a:lstStyle/>
          <a:p>
            <a:pPr>
              <a:spcAft>
                <a:spcPts val="600"/>
              </a:spcAft>
            </a:pPr>
            <a:r>
              <a:rPr sz="1700" b="1" i="0">
                <a:solidFill>
                  <a:srgbClr val="1F2937"/>
                </a:solidFill>
                <a:latin typeface="Calibri"/>
              </a:rPr>
              <a:t>Lab</a:t>
            </a:r>
          </a:p>
        </p:txBody>
      </p:sp>
      <p:sp>
        <p:nvSpPr>
          <p:cNvPr id="8" name="TextBox 7"/>
          <p:cNvSpPr txBox="1"/>
          <p:nvPr/>
        </p:nvSpPr>
        <p:spPr>
          <a:xfrm>
            <a:off x="777240" y="2606040"/>
            <a:ext cx="1755647" cy="2011680"/>
          </a:xfrm>
          <a:prstGeom prst="rect">
            <a:avLst/>
          </a:prstGeom>
          <a:noFill/>
        </p:spPr>
        <p:txBody>
          <a:bodyPr wrap="square">
            <a:spAutoFit/>
          </a:bodyPr>
          <a:lstStyle/>
          <a:p>
            <a:pPr>
              <a:spcAft>
                <a:spcPts val="600"/>
              </a:spcAft>
            </a:pPr>
            <a:r>
              <a:rPr sz="1400" b="0" i="0">
                <a:solidFill>
                  <a:srgbClr val="5B6573"/>
                </a:solidFill>
                <a:latin typeface="Calibri"/>
              </a:rPr>
              <a:t>Test results, and what they can and can't show.</a:t>
            </a:r>
          </a:p>
        </p:txBody>
      </p:sp>
      <p:sp>
        <p:nvSpPr>
          <p:cNvPr id="9" name="Rectangle 8"/>
          <p:cNvSpPr/>
          <p:nvPr/>
        </p:nvSpPr>
        <p:spPr>
          <a:xfrm>
            <a:off x="2852928" y="1828800"/>
            <a:ext cx="2029967" cy="2834640"/>
          </a:xfrm>
          <a:prstGeom prst="rect">
            <a:avLst/>
          </a:prstGeom>
          <a:solidFill>
            <a:srgbClr val="F4F5F7"/>
          </a:solidFill>
          <a:ln>
            <a:solidFill>
              <a:srgbClr val="D9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852928" y="1828800"/>
            <a:ext cx="2029967" cy="73152"/>
          </a:xfrm>
          <a:prstGeom prst="rect">
            <a:avLst/>
          </a:prstGeom>
          <a:solidFill>
            <a:srgbClr val="B43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90088" y="2057400"/>
            <a:ext cx="1755647" cy="457200"/>
          </a:xfrm>
          <a:prstGeom prst="rect">
            <a:avLst/>
          </a:prstGeom>
          <a:noFill/>
        </p:spPr>
        <p:txBody>
          <a:bodyPr wrap="square">
            <a:spAutoFit/>
          </a:bodyPr>
          <a:lstStyle/>
          <a:p>
            <a:pPr>
              <a:spcAft>
                <a:spcPts val="600"/>
              </a:spcAft>
            </a:pPr>
            <a:r>
              <a:rPr sz="1700" b="1" i="0">
                <a:solidFill>
                  <a:srgbClr val="1F2937"/>
                </a:solidFill>
                <a:latin typeface="Calibri"/>
              </a:rPr>
              <a:t>Engineering</a:t>
            </a:r>
          </a:p>
        </p:txBody>
      </p:sp>
      <p:sp>
        <p:nvSpPr>
          <p:cNvPr id="12" name="TextBox 11"/>
          <p:cNvSpPr txBox="1"/>
          <p:nvPr/>
        </p:nvSpPr>
        <p:spPr>
          <a:xfrm>
            <a:off x="2990088" y="2606040"/>
            <a:ext cx="1755647" cy="2011680"/>
          </a:xfrm>
          <a:prstGeom prst="rect">
            <a:avLst/>
          </a:prstGeom>
          <a:noFill/>
        </p:spPr>
        <p:txBody>
          <a:bodyPr wrap="square">
            <a:spAutoFit/>
          </a:bodyPr>
          <a:lstStyle/>
          <a:p>
            <a:pPr>
              <a:spcAft>
                <a:spcPts val="600"/>
              </a:spcAft>
            </a:pPr>
            <a:r>
              <a:rPr sz="1400" b="0" i="0">
                <a:solidFill>
                  <a:srgbClr val="5B6573"/>
                </a:solidFill>
                <a:latin typeface="Calibri"/>
              </a:rPr>
              <a:t>Operating conditions that change the results.</a:t>
            </a:r>
          </a:p>
        </p:txBody>
      </p:sp>
      <p:sp>
        <p:nvSpPr>
          <p:cNvPr id="13" name="Rectangle 12"/>
          <p:cNvSpPr/>
          <p:nvPr/>
        </p:nvSpPr>
        <p:spPr>
          <a:xfrm>
            <a:off x="5065776" y="1828800"/>
            <a:ext cx="2029967" cy="2834640"/>
          </a:xfrm>
          <a:prstGeom prst="rect">
            <a:avLst/>
          </a:prstGeom>
          <a:solidFill>
            <a:srgbClr val="F4F5F7"/>
          </a:solidFill>
          <a:ln>
            <a:solidFill>
              <a:srgbClr val="D9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65776" y="1828800"/>
            <a:ext cx="2029967" cy="73152"/>
          </a:xfrm>
          <a:prstGeom prst="rect">
            <a:avLst/>
          </a:prstGeom>
          <a:solidFill>
            <a:srgbClr val="B43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2057400"/>
            <a:ext cx="1755647" cy="457200"/>
          </a:xfrm>
          <a:prstGeom prst="rect">
            <a:avLst/>
          </a:prstGeom>
          <a:noFill/>
        </p:spPr>
        <p:txBody>
          <a:bodyPr wrap="square">
            <a:spAutoFit/>
          </a:bodyPr>
          <a:lstStyle/>
          <a:p>
            <a:pPr>
              <a:spcAft>
                <a:spcPts val="600"/>
              </a:spcAft>
            </a:pPr>
            <a:r>
              <a:rPr sz="1700" b="1" i="0">
                <a:solidFill>
                  <a:srgbClr val="1F2937"/>
                </a:solidFill>
                <a:latin typeface="Calibri"/>
              </a:rPr>
              <a:t>Injection ops</a:t>
            </a:r>
          </a:p>
        </p:txBody>
      </p:sp>
      <p:sp>
        <p:nvSpPr>
          <p:cNvPr id="16" name="TextBox 15"/>
          <p:cNvSpPr txBox="1"/>
          <p:nvPr/>
        </p:nvSpPr>
        <p:spPr>
          <a:xfrm>
            <a:off x="5202936" y="2606040"/>
            <a:ext cx="1755647" cy="2011680"/>
          </a:xfrm>
          <a:prstGeom prst="rect">
            <a:avLst/>
          </a:prstGeom>
          <a:noFill/>
        </p:spPr>
        <p:txBody>
          <a:bodyPr wrap="square">
            <a:spAutoFit/>
          </a:bodyPr>
          <a:lstStyle/>
          <a:p>
            <a:pPr>
              <a:spcAft>
                <a:spcPts val="600"/>
              </a:spcAft>
            </a:pPr>
            <a:r>
              <a:rPr sz="1400" b="0" i="0">
                <a:solidFill>
                  <a:srgbClr val="5B6573"/>
                </a:solidFill>
                <a:latin typeface="Calibri"/>
              </a:rPr>
              <a:t>The blend plan and what actually went in.</a:t>
            </a:r>
          </a:p>
        </p:txBody>
      </p:sp>
      <p:sp>
        <p:nvSpPr>
          <p:cNvPr id="17" name="Rectangle 16"/>
          <p:cNvSpPr/>
          <p:nvPr/>
        </p:nvSpPr>
        <p:spPr>
          <a:xfrm>
            <a:off x="7278624" y="1828800"/>
            <a:ext cx="2029967" cy="2834640"/>
          </a:xfrm>
          <a:prstGeom prst="rect">
            <a:avLst/>
          </a:prstGeom>
          <a:solidFill>
            <a:srgbClr val="F4F5F7"/>
          </a:solidFill>
          <a:ln>
            <a:solidFill>
              <a:srgbClr val="D9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78624" y="1828800"/>
            <a:ext cx="2029967" cy="73152"/>
          </a:xfrm>
          <a:prstGeom prst="rect">
            <a:avLst/>
          </a:prstGeom>
          <a:solidFill>
            <a:srgbClr val="B43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15783" y="2057400"/>
            <a:ext cx="1755647" cy="457200"/>
          </a:xfrm>
          <a:prstGeom prst="rect">
            <a:avLst/>
          </a:prstGeom>
          <a:noFill/>
        </p:spPr>
        <p:txBody>
          <a:bodyPr wrap="square">
            <a:spAutoFit/>
          </a:bodyPr>
          <a:lstStyle/>
          <a:p>
            <a:pPr>
              <a:spcAft>
                <a:spcPts val="600"/>
              </a:spcAft>
            </a:pPr>
            <a:r>
              <a:rPr sz="1700" b="1" i="0">
                <a:solidFill>
                  <a:srgbClr val="1F2937"/>
                </a:solidFill>
                <a:latin typeface="Calibri"/>
              </a:rPr>
              <a:t>EHS / regulatory</a:t>
            </a:r>
          </a:p>
        </p:txBody>
      </p:sp>
      <p:sp>
        <p:nvSpPr>
          <p:cNvPr id="20" name="TextBox 19"/>
          <p:cNvSpPr txBox="1"/>
          <p:nvPr/>
        </p:nvSpPr>
        <p:spPr>
          <a:xfrm>
            <a:off x="7415783" y="2606040"/>
            <a:ext cx="1755647" cy="2011680"/>
          </a:xfrm>
          <a:prstGeom prst="rect">
            <a:avLst/>
          </a:prstGeom>
          <a:noFill/>
        </p:spPr>
        <p:txBody>
          <a:bodyPr wrap="square">
            <a:spAutoFit/>
          </a:bodyPr>
          <a:lstStyle/>
          <a:p>
            <a:pPr>
              <a:spcAft>
                <a:spcPts val="600"/>
              </a:spcAft>
            </a:pPr>
            <a:r>
              <a:rPr sz="1400" b="0" i="0">
                <a:solidFill>
                  <a:srgbClr val="5B6573"/>
                </a:solidFill>
                <a:latin typeface="Calibri"/>
              </a:rPr>
              <a:t>Permit terms and the hazardous-waste call.</a:t>
            </a:r>
          </a:p>
        </p:txBody>
      </p:sp>
      <p:sp>
        <p:nvSpPr>
          <p:cNvPr id="21" name="Rectangle 20"/>
          <p:cNvSpPr/>
          <p:nvPr/>
        </p:nvSpPr>
        <p:spPr>
          <a:xfrm>
            <a:off x="9491472" y="1828800"/>
            <a:ext cx="2029967" cy="2834640"/>
          </a:xfrm>
          <a:prstGeom prst="rect">
            <a:avLst/>
          </a:prstGeom>
          <a:solidFill>
            <a:srgbClr val="F4F5F7"/>
          </a:solidFill>
          <a:ln>
            <a:solidFill>
              <a:srgbClr val="D9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91472" y="1828800"/>
            <a:ext cx="2029967" cy="73152"/>
          </a:xfrm>
          <a:prstGeom prst="rect">
            <a:avLst/>
          </a:prstGeom>
          <a:solidFill>
            <a:srgbClr val="B43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28632" y="2057400"/>
            <a:ext cx="1755647" cy="457200"/>
          </a:xfrm>
          <a:prstGeom prst="rect">
            <a:avLst/>
          </a:prstGeom>
          <a:noFill/>
        </p:spPr>
        <p:txBody>
          <a:bodyPr wrap="square">
            <a:spAutoFit/>
          </a:bodyPr>
          <a:lstStyle/>
          <a:p>
            <a:pPr>
              <a:spcAft>
                <a:spcPts val="600"/>
              </a:spcAft>
            </a:pPr>
            <a:r>
              <a:rPr sz="1700" b="1" i="0">
                <a:solidFill>
                  <a:srgbClr val="1F2937"/>
                </a:solidFill>
                <a:latin typeface="Calibri"/>
              </a:rPr>
              <a:t>MRV</a:t>
            </a:r>
          </a:p>
        </p:txBody>
      </p:sp>
      <p:sp>
        <p:nvSpPr>
          <p:cNvPr id="24" name="TextBox 23"/>
          <p:cNvSpPr txBox="1"/>
          <p:nvPr/>
        </p:nvSpPr>
        <p:spPr>
          <a:xfrm>
            <a:off x="9628632" y="2606040"/>
            <a:ext cx="1755647" cy="2011680"/>
          </a:xfrm>
          <a:prstGeom prst="rect">
            <a:avLst/>
          </a:prstGeom>
          <a:noFill/>
        </p:spPr>
        <p:txBody>
          <a:bodyPr wrap="square">
            <a:spAutoFit/>
          </a:bodyPr>
          <a:lstStyle/>
          <a:p>
            <a:pPr>
              <a:spcAft>
                <a:spcPts val="600"/>
              </a:spcAft>
            </a:pPr>
            <a:r>
              <a:rPr sz="1400" b="0" i="0">
                <a:solidFill>
                  <a:srgbClr val="5B6573"/>
                </a:solidFill>
                <a:latin typeface="Calibri"/>
              </a:rPr>
              <a:t>What the verifier needs to see.</a:t>
            </a:r>
          </a:p>
        </p:txBody>
      </p:sp>
      <p:sp>
        <p:nvSpPr>
          <p:cNvPr id="25" name="TextBox 24"/>
          <p:cNvSpPr txBox="1"/>
          <p:nvPr/>
        </p:nvSpPr>
        <p:spPr>
          <a:xfrm>
            <a:off x="640080" y="5029200"/>
            <a:ext cx="10881360" cy="914400"/>
          </a:xfrm>
          <a:prstGeom prst="rect">
            <a:avLst/>
          </a:prstGeom>
          <a:noFill/>
        </p:spPr>
        <p:txBody>
          <a:bodyPr wrap="square">
            <a:spAutoFit/>
          </a:bodyPr>
          <a:lstStyle/>
          <a:p>
            <a:pPr>
              <a:spcAft>
                <a:spcPts val="600"/>
              </a:spcAft>
            </a:pPr>
            <a:r>
              <a:rPr sz="2000" b="1" i="0">
                <a:solidFill>
                  <a:srgbClr val="B43C2A"/>
                </a:solidFill>
                <a:latin typeface="Calibri"/>
              </a:rPr>
              <a:t>There was no point where these came together before oil went into the well.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B43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365760"/>
          </a:xfrm>
          <a:prstGeom prst="rect">
            <a:avLst/>
          </a:prstGeom>
          <a:noFill/>
        </p:spPr>
        <p:txBody>
          <a:bodyPr wrap="square">
            <a:spAutoFit/>
          </a:bodyPr>
          <a:lstStyle/>
          <a:p>
            <a:pPr>
              <a:spcAft>
                <a:spcPts val="600"/>
              </a:spcAft>
            </a:pPr>
            <a:r>
              <a:rPr sz="1300" b="1" i="0">
                <a:solidFill>
                  <a:srgbClr val="B43C2A"/>
                </a:solidFill>
                <a:latin typeface="Calibri"/>
              </a:rPr>
              <a:t>THE COMMON THREAD</a:t>
            </a:r>
          </a:p>
        </p:txBody>
      </p:sp>
      <p:sp>
        <p:nvSpPr>
          <p:cNvPr id="4" name="TextBox 3"/>
          <p:cNvSpPr txBox="1"/>
          <p:nvPr/>
        </p:nvSpPr>
        <p:spPr>
          <a:xfrm>
            <a:off x="640080" y="731520"/>
            <a:ext cx="10972800" cy="822960"/>
          </a:xfrm>
          <a:prstGeom prst="rect">
            <a:avLst/>
          </a:prstGeom>
          <a:noFill/>
        </p:spPr>
        <p:txBody>
          <a:bodyPr wrap="square">
            <a:spAutoFit/>
          </a:bodyPr>
          <a:lstStyle/>
          <a:p>
            <a:pPr>
              <a:spcAft>
                <a:spcPts val="600"/>
              </a:spcAft>
            </a:pPr>
            <a:r>
              <a:rPr sz="3000" b="1" i="0">
                <a:solidFill>
                  <a:srgbClr val="1F2937"/>
                </a:solidFill>
                <a:latin typeface="Calibri"/>
              </a:rPr>
              <a:t>No one is clearly holding this</a:t>
            </a:r>
          </a:p>
        </p:txBody>
      </p:sp>
      <p:sp>
        <p:nvSpPr>
          <p:cNvPr id="5" name="TextBox 4"/>
          <p:cNvSpPr txBox="1"/>
          <p:nvPr/>
        </p:nvSpPr>
        <p:spPr>
          <a:xfrm>
            <a:off x="640080" y="1920240"/>
            <a:ext cx="10881360" cy="3200400"/>
          </a:xfrm>
          <a:prstGeom prst="rect">
            <a:avLst/>
          </a:prstGeom>
          <a:noFill/>
        </p:spPr>
        <p:txBody>
          <a:bodyPr wrap="square">
            <a:spAutoFit/>
          </a:bodyPr>
          <a:lstStyle/>
          <a:p>
            <a:pPr>
              <a:spcAft>
                <a:spcPts val="1200"/>
              </a:spcAft>
            </a:pPr>
            <a:r>
              <a:rPr sz="2200" b="0" i="0">
                <a:solidFill>
                  <a:srgbClr val="1F2937"/>
                </a:solidFill>
                <a:latin typeface="Calibri"/>
              </a:rPr>
              <a:t>Both times, a method went into use without:</a:t>
            </a:r>
          </a:p>
          <a:p>
            <a:pPr>
              <a:spcAft>
                <a:spcPts val="800"/>
              </a:spcAft>
            </a:pPr>
            <a:r>
              <a:rPr sz="2200" b="0" i="0">
                <a:solidFill>
                  <a:srgbClr val="1F2937"/>
                </a:solidFill>
                <a:latin typeface="Calibri"/>
              </a:rPr>
              <a:t>•  an agreed standard for proving it works</a:t>
            </a:r>
          </a:p>
          <a:p>
            <a:pPr>
              <a:spcAft>
                <a:spcPts val="800"/>
              </a:spcAft>
            </a:pPr>
            <a:r>
              <a:rPr sz="2200" b="0" i="0">
                <a:solidFill>
                  <a:srgbClr val="1F2937"/>
                </a:solidFill>
                <a:latin typeface="Calibri"/>
              </a:rPr>
              <a:t>•  review across the teams that hold the pieces</a:t>
            </a:r>
          </a:p>
          <a:p>
            <a:pPr>
              <a:spcAft>
                <a:spcPts val="2400"/>
              </a:spcAft>
            </a:pPr>
            <a:r>
              <a:rPr sz="2200" b="0" i="0">
                <a:solidFill>
                  <a:srgbClr val="1F2937"/>
                </a:solidFill>
                <a:latin typeface="Calibri"/>
              </a:rPr>
              <a:t>•  a clear owner for showing the site meets its permit</a:t>
            </a:r>
          </a:p>
          <a:p>
            <a:pPr>
              <a:spcAft>
                <a:spcPts val="600"/>
              </a:spcAft>
            </a:pPr>
            <a:r>
              <a:rPr sz="2200" b="1" i="0">
                <a:solidFill>
                  <a:srgbClr val="B43C2A"/>
                </a:solidFill>
                <a:latin typeface="Calibri"/>
              </a:rPr>
              <a:t>That gap is what we need to close, now.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B43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365760"/>
          </a:xfrm>
          <a:prstGeom prst="rect">
            <a:avLst/>
          </a:prstGeom>
          <a:noFill/>
        </p:spPr>
        <p:txBody>
          <a:bodyPr wrap="square">
            <a:spAutoFit/>
          </a:bodyPr>
          <a:lstStyle/>
          <a:p>
            <a:pPr>
              <a:spcAft>
                <a:spcPts val="600"/>
              </a:spcAft>
            </a:pPr>
            <a:r>
              <a:rPr sz="1300" b="1" i="0">
                <a:solidFill>
                  <a:srgbClr val="B43C2A"/>
                </a:solidFill>
                <a:latin typeface="Calibri"/>
              </a:rPr>
              <a:t>A STARTING POINT FOR DISCUSSION</a:t>
            </a:r>
          </a:p>
        </p:txBody>
      </p:sp>
      <p:sp>
        <p:nvSpPr>
          <p:cNvPr id="4" name="TextBox 3"/>
          <p:cNvSpPr txBox="1"/>
          <p:nvPr/>
        </p:nvSpPr>
        <p:spPr>
          <a:xfrm>
            <a:off x="640080" y="731520"/>
            <a:ext cx="10972800" cy="822960"/>
          </a:xfrm>
          <a:prstGeom prst="rect">
            <a:avLst/>
          </a:prstGeom>
          <a:noFill/>
        </p:spPr>
        <p:txBody>
          <a:bodyPr wrap="square">
            <a:spAutoFit/>
          </a:bodyPr>
          <a:lstStyle/>
          <a:p>
            <a:pPr>
              <a:spcAft>
                <a:spcPts val="600"/>
              </a:spcAft>
            </a:pPr>
            <a:r>
              <a:rPr sz="3000" b="1" i="0">
                <a:solidFill>
                  <a:srgbClr val="1F2937"/>
                </a:solidFill>
                <a:latin typeface="Calibri"/>
              </a:rPr>
              <a:t>Suggested: who could hold what</a:t>
            </a:r>
          </a:p>
        </p:txBody>
      </p:sp>
      <p:graphicFrame>
        <p:nvGraphicFramePr>
          <p:cNvPr id="5" name="Table 4"/>
          <p:cNvGraphicFramePr>
            <a:graphicFrameLocks noGrp="1"/>
          </p:cNvGraphicFramePr>
          <p:nvPr/>
        </p:nvGraphicFramePr>
        <p:xfrm>
          <a:off x="640080" y="1783080"/>
          <a:ext cx="10881360" cy="3401568"/>
        </p:xfrm>
        <a:graphic>
          <a:graphicData uri="http://schemas.openxmlformats.org/drawingml/2006/table">
            <a:tbl>
              <a:tblPr firstRow="1" bandRow="1">
                <a:tableStyleId>{5C22544A-7EE6-4342-B048-85BDC9FD1C3A}</a:tableStyleId>
              </a:tblPr>
              <a:tblGrid>
                <a:gridCol w="2377440"/>
                <a:gridCol w="8503920"/>
              </a:tblGrid>
              <a:tr h="566928">
                <a:tc>
                  <a:txBody>
                    <a:bodyPr/>
                    <a:lstStyle/>
                    <a:p>
                      <a:r>
                        <a:rPr sz="1700" b="1">
                          <a:solidFill>
                            <a:srgbClr val="FFFFFF"/>
                          </a:solidFill>
                          <a:latin typeface="Calibri"/>
                        </a:rPr>
                        <a:t>Team</a:t>
                      </a:r>
                    </a:p>
                  </a:txBody>
                  <a:tcPr marT="45720" marB="45720">
                    <a:solidFill>
                      <a:srgbClr val="1F2937"/>
                    </a:solidFill>
                  </a:tcPr>
                </a:tc>
                <a:tc>
                  <a:txBody>
                    <a:bodyPr/>
                    <a:lstStyle/>
                    <a:p>
                      <a:r>
                        <a:rPr sz="1700" b="1">
                          <a:solidFill>
                            <a:srgbClr val="FFFFFF"/>
                          </a:solidFill>
                          <a:latin typeface="Calibri"/>
                        </a:rPr>
                        <a:t>Could hold</a:t>
                      </a:r>
                    </a:p>
                  </a:txBody>
                  <a:tcPr marT="45720" marB="45720">
                    <a:solidFill>
                      <a:srgbClr val="1F2937"/>
                    </a:solidFill>
                  </a:tcPr>
                </a:tc>
              </a:tr>
              <a:tr h="566928">
                <a:tc>
                  <a:txBody>
                    <a:bodyPr/>
                    <a:lstStyle/>
                    <a:p>
                      <a:r>
                        <a:rPr sz="1700" b="1">
                          <a:solidFill>
                            <a:srgbClr val="1F2937"/>
                          </a:solidFill>
                          <a:latin typeface="Calibri"/>
                        </a:rPr>
                        <a:t>Operations</a:t>
                      </a:r>
                    </a:p>
                  </a:txBody>
                  <a:tcPr marT="45720" marB="45720">
                    <a:solidFill>
                      <a:srgbClr val="F4F5F7"/>
                    </a:solidFill>
                  </a:tcPr>
                </a:tc>
                <a:tc>
                  <a:txBody>
                    <a:bodyPr/>
                    <a:lstStyle/>
                    <a:p>
                      <a:r>
                        <a:rPr sz="1700" b="0">
                          <a:solidFill>
                            <a:srgbClr val="1F2937"/>
                          </a:solidFill>
                          <a:latin typeface="Calibri"/>
                        </a:rPr>
                        <a:t>Running the site so permit compliance can be shown to a third party. Owns the method and its records.</a:t>
                      </a:r>
                    </a:p>
                  </a:txBody>
                  <a:tcPr marT="45720" marB="45720">
                    <a:solidFill>
                      <a:srgbClr val="F4F5F7"/>
                    </a:solidFill>
                  </a:tcPr>
                </a:tc>
              </a:tr>
              <a:tr h="566928">
                <a:tc>
                  <a:txBody>
                    <a:bodyPr/>
                    <a:lstStyle/>
                    <a:p>
                      <a:r>
                        <a:rPr sz="1700" b="1">
                          <a:solidFill>
                            <a:srgbClr val="1F2937"/>
                          </a:solidFill>
                          <a:latin typeface="Calibri"/>
                        </a:rPr>
                        <a:t>Engineering</a:t>
                      </a:r>
                    </a:p>
                  </a:txBody>
                  <a:tcPr marT="45720" marB="45720">
                    <a:solidFill>
                      <a:srgbClr val="FFFFFF"/>
                    </a:solidFill>
                  </a:tcPr>
                </a:tc>
                <a:tc>
                  <a:txBody>
                    <a:bodyPr/>
                    <a:lstStyle/>
                    <a:p>
                      <a:r>
                        <a:rPr sz="1700" b="0">
                          <a:solidFill>
                            <a:srgbClr val="1F2937"/>
                          </a:solidFill>
                          <a:latin typeface="Calibri"/>
                        </a:rPr>
                        <a:t>The tools and process conditions operations needs to do that.</a:t>
                      </a:r>
                    </a:p>
                  </a:txBody>
                  <a:tcPr marT="45720" marB="45720">
                    <a:solidFill>
                      <a:srgbClr val="FFFFFF"/>
                    </a:solidFill>
                  </a:tcPr>
                </a:tc>
              </a:tr>
              <a:tr h="566928">
                <a:tc>
                  <a:txBody>
                    <a:bodyPr/>
                    <a:lstStyle/>
                    <a:p>
                      <a:r>
                        <a:rPr sz="1700" b="1">
                          <a:solidFill>
                            <a:srgbClr val="1F2937"/>
                          </a:solidFill>
                          <a:latin typeface="Calibri"/>
                        </a:rPr>
                        <a:t>Lab</a:t>
                      </a:r>
                    </a:p>
                  </a:txBody>
                  <a:tcPr marT="45720" marB="45720">
                    <a:solidFill>
                      <a:srgbClr val="F4F5F7"/>
                    </a:solidFill>
                  </a:tcPr>
                </a:tc>
                <a:tc>
                  <a:txBody>
                    <a:bodyPr/>
                    <a:lstStyle/>
                    <a:p>
                      <a:r>
                        <a:rPr sz="1700" b="0">
                          <a:solidFill>
                            <a:srgbClr val="1F2937"/>
                          </a:solidFill>
                          <a:latin typeface="Calibri"/>
                        </a:rPr>
                        <a:t>Test design, results, and what each result can and can't support.</a:t>
                      </a:r>
                    </a:p>
                  </a:txBody>
                  <a:tcPr marT="45720" marB="45720">
                    <a:solidFill>
                      <a:srgbClr val="F4F5F7"/>
                    </a:solidFill>
                  </a:tcPr>
                </a:tc>
              </a:tr>
              <a:tr h="566928">
                <a:tc>
                  <a:txBody>
                    <a:bodyPr/>
                    <a:lstStyle/>
                    <a:p>
                      <a:r>
                        <a:rPr sz="1700" b="1">
                          <a:solidFill>
                            <a:srgbClr val="1F2937"/>
                          </a:solidFill>
                          <a:latin typeface="Calibri"/>
                        </a:rPr>
                        <a:t>EHS / regulatory</a:t>
                      </a:r>
                    </a:p>
                  </a:txBody>
                  <a:tcPr marT="45720" marB="45720">
                    <a:solidFill>
                      <a:srgbClr val="FFFFFF"/>
                    </a:solidFill>
                  </a:tcPr>
                </a:tc>
                <a:tc>
                  <a:txBody>
                    <a:bodyPr/>
                    <a:lstStyle/>
                    <a:p>
                      <a:r>
                        <a:rPr sz="1700" b="0">
                          <a:solidFill>
                            <a:srgbClr val="1F2937"/>
                          </a:solidFill>
                          <a:latin typeface="Calibri"/>
                        </a:rPr>
                        <a:t>Reading the permit and hazardous-waste rules; confirming a method meets them.</a:t>
                      </a:r>
                    </a:p>
                  </a:txBody>
                  <a:tcPr marT="45720" marB="45720">
                    <a:solidFill>
                      <a:srgbClr val="FFFFFF"/>
                    </a:solidFill>
                  </a:tcPr>
                </a:tc>
              </a:tr>
              <a:tr h="566928">
                <a:tc>
                  <a:txBody>
                    <a:bodyPr/>
                    <a:lstStyle/>
                    <a:p>
                      <a:r>
                        <a:rPr sz="1700" b="1">
                          <a:solidFill>
                            <a:srgbClr val="1F2937"/>
                          </a:solidFill>
                          <a:latin typeface="Calibri"/>
                        </a:rPr>
                        <a:t>MRV</a:t>
                      </a:r>
                    </a:p>
                  </a:txBody>
                  <a:tcPr marT="45720" marB="45720">
                    <a:solidFill>
                      <a:srgbClr val="F4F5F7"/>
                    </a:solidFill>
                  </a:tcPr>
                </a:tc>
                <a:tc>
                  <a:txBody>
                    <a:bodyPr/>
                    <a:lstStyle/>
                    <a:p>
                      <a:r>
                        <a:rPr sz="1700" b="0">
                          <a:solidFill>
                            <a:srgbClr val="1F2937"/>
                          </a:solidFill>
                          <a:latin typeface="Calibri"/>
                        </a:rPr>
                        <a:t>Defining the evidence the verifier needs and presenting it.</a:t>
                      </a:r>
                    </a:p>
                  </a:txBody>
                  <a:tcPr marT="45720" marB="45720">
                    <a:solidFill>
                      <a:srgbClr val="F4F5F7"/>
                    </a:solidFill>
                  </a:tcPr>
                </a:tc>
              </a:tr>
            </a:tbl>
          </a:graphicData>
        </a:graphic>
      </p:graphicFrame>
      <p:sp>
        <p:nvSpPr>
          <p:cNvPr id="6" name="TextBox 5"/>
          <p:cNvSpPr txBox="1"/>
          <p:nvPr/>
        </p:nvSpPr>
        <p:spPr>
          <a:xfrm>
            <a:off x="640080" y="5852160"/>
            <a:ext cx="10881360" cy="457200"/>
          </a:xfrm>
          <a:prstGeom prst="rect">
            <a:avLst/>
          </a:prstGeom>
          <a:noFill/>
        </p:spPr>
        <p:txBody>
          <a:bodyPr wrap="square">
            <a:spAutoFit/>
          </a:bodyPr>
          <a:lstStyle/>
          <a:p>
            <a:pPr>
              <a:spcAft>
                <a:spcPts val="600"/>
              </a:spcAft>
            </a:pPr>
            <a:r>
              <a:rPr sz="1500" b="0" i="1">
                <a:solidFill>
                  <a:srgbClr val="5B6573"/>
                </a:solidFill>
                <a:latin typeface="Calibri"/>
              </a:rPr>
              <a:t>A proposal to react to, not a decision.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B43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365760"/>
          </a:xfrm>
          <a:prstGeom prst="rect">
            <a:avLst/>
          </a:prstGeom>
          <a:noFill/>
        </p:spPr>
        <p:txBody>
          <a:bodyPr wrap="square">
            <a:spAutoFit/>
          </a:bodyPr>
          <a:lstStyle/>
          <a:p>
            <a:pPr>
              <a:spcAft>
                <a:spcPts val="600"/>
              </a:spcAft>
            </a:pPr>
            <a:r>
              <a:rPr sz="1300" b="1" i="0">
                <a:solidFill>
                  <a:srgbClr val="B43C2A"/>
                </a:solidFill>
                <a:latin typeface="Calibri"/>
              </a:rPr>
              <a:t>GOING FORWARD</a:t>
            </a:r>
          </a:p>
        </p:txBody>
      </p:sp>
      <p:sp>
        <p:nvSpPr>
          <p:cNvPr id="4" name="TextBox 3"/>
          <p:cNvSpPr txBox="1"/>
          <p:nvPr/>
        </p:nvSpPr>
        <p:spPr>
          <a:xfrm>
            <a:off x="640080" y="731520"/>
            <a:ext cx="10972800" cy="822960"/>
          </a:xfrm>
          <a:prstGeom prst="rect">
            <a:avLst/>
          </a:prstGeom>
          <a:noFill/>
        </p:spPr>
        <p:txBody>
          <a:bodyPr wrap="square">
            <a:spAutoFit/>
          </a:bodyPr>
          <a:lstStyle/>
          <a:p>
            <a:pPr>
              <a:spcAft>
                <a:spcPts val="600"/>
              </a:spcAft>
            </a:pPr>
            <a:r>
              <a:rPr sz="3000" b="1" i="0">
                <a:solidFill>
                  <a:srgbClr val="1F2937"/>
                </a:solidFill>
                <a:latin typeface="Calibri"/>
              </a:rPr>
              <a:t>What we need to decide</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1000"/>
              </a:spcAft>
            </a:pPr>
            <a:r>
              <a:rPr sz="2100" b="0" i="0">
                <a:solidFill>
                  <a:srgbClr val="1F2937"/>
                </a:solidFill>
                <a:latin typeface="Calibri"/>
              </a:rPr>
              <a:t>•  Who owns showing that what goes down the well meets the permit.</a:t>
            </a:r>
          </a:p>
          <a:p>
            <a:pPr>
              <a:spcAft>
                <a:spcPts val="1000"/>
              </a:spcAft>
            </a:pPr>
            <a:r>
              <a:rPr sz="2100" b="0" i="0">
                <a:solidFill>
                  <a:srgbClr val="1F2937"/>
                </a:solidFill>
                <a:latin typeface="Calibri"/>
              </a:rPr>
              <a:t>•  What review and sign-off a new oil, blend or treatment needs before first injection.</a:t>
            </a:r>
          </a:p>
          <a:p>
            <a:pPr>
              <a:spcAft>
                <a:spcPts val="1000"/>
              </a:spcAft>
            </a:pPr>
            <a:r>
              <a:rPr sz="2100" b="0" i="0">
                <a:solidFill>
                  <a:srgbClr val="1F2937"/>
                </a:solidFill>
                <a:latin typeface="Calibri"/>
              </a:rPr>
              <a:t>•  A rule for which test results count, and how every result reaches the teams that need it.</a:t>
            </a:r>
          </a:p>
          <a:p>
            <a:pPr>
              <a:spcAft>
                <a:spcPts val="1000"/>
              </a:spcAft>
            </a:pPr>
            <a:r>
              <a:rPr sz="2100" b="0" i="0">
                <a:solidFill>
                  <a:srgbClr val="1F2937"/>
                </a:solidFill>
                <a:latin typeface="Calibri"/>
              </a:rPr>
              <a:t>•  For D-Series now: a testing plan, a record for each blend, and an answer to the verifier on ISS-130.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