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5" d="100"/>
          <a:sy n="115" d="100"/>
        </p:scale>
        <p:origin x="568"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0862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t>Quick framing: this is about MRV's role in moving fast on a protocol opening that Isometric just created in v1.3.</a:t>
            </a:r>
          </a:p>
          <a:p>
            <a:r>
              <a:rPr sz="1200" dirty="0"/>
              <a:t>I'll cover: (1) why the current eligible-biomass envelope is too narrow to scale into, (2) the new v1.3 language that widens the door, (3) the two paths to use that opening, (4) the mechanism we're proposing, and (5) how MRV gets it landed.</a:t>
            </a:r>
          </a:p>
          <a:p>
            <a:r>
              <a:rPr sz="1200" dirty="0"/>
              <a:t>This isn't supply chain forecasting — that's Antoinette's lane. This is the bureaucratic translation work needed to make the new module language operational.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t>Three numbers, each from a specific primary-source briefing I've read.</a:t>
            </a:r>
          </a:p>
          <a:p>
            <a:r>
              <a:rPr sz="1200" dirty="0"/>
              <a:t>LEFT — Charm offtake trajectory. Internal sourcing forecast. 2024 actual was about 1,000 MT. 2025 target is 3,000+. 2026 high-side forecast is up to 50,000 MT. That's a 50× growth curve in two years. The figures are from what Antoinette presented to Jefferson Conservation District on April 9. "Up to" — the 50K is the high-side estimate, not a commitment.</a:t>
            </a:r>
          </a:p>
          <a:p>
            <a:r>
              <a:rPr sz="1200" dirty="0"/>
              <a:t>CENTER — what one major Conservation District actually yields. JCD treats 300–500 acres per year. 25–30 tons per acre, of which 70–80% is pulpwood/firewood-quality (i.e., non-merchantable). Roughly 10,000 green tons per year of feedstock-eligible material. JCD is one of the larger CDs in the Front Range. So even saturating five JCD-equivalents would only cover the 2026 high-side.</a:t>
            </a:r>
          </a:p>
          <a:p>
            <a:r>
              <a:rPr sz="1200" dirty="0"/>
              <a:t>RIGHT — and this is the binding constraint. Antoinette has surveyed 7 contractors and 9 agencies; the furthest project anyone has on their books is Q1 2027. Grant-cycled work runs in 3–18 month windows. Nobody in this market signs 5-year supply commitments. That's why even if we had the funded acreage, we can't lock it in the way a megaton-scale offtake needs.</a:t>
            </a:r>
          </a:p>
          <a:p>
            <a:r>
              <a:rPr sz="1200" dirty="0"/>
              <a:t>The arithmetic forces the broader compliant universe — which is what v1.3's new language opens up.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The hinge of this whole memo is one phrase Isometric added in v1.3.</a:t>
            </a:r>
          </a:p>
          <a:p>
            <a:r>
              <a:rPr sz="1200"/>
              <a:t>Through v1.2.3, the wildfire-program exemption read "government managed or funded" — two narrow categories, only in the counterfactual section. v1.0 and v1.1 had no wildfire exemption at all.</a:t>
            </a:r>
          </a:p>
          <a:p>
            <a:r>
              <a:rPr sz="1200"/>
              <a:t>v1.3 made three changes: added "mandated," added "otherwise supported," and extended the exemption out of counterfactual-only to SC1.2 (forest carbon stocks) and SC1.3 (primary forest). All three help us. "Otherwise supported" is the load-bearing one.</a:t>
            </a:r>
          </a:p>
          <a:p>
            <a:r>
              <a:rPr sz="1200"/>
              <a:t>Isometric put it in deliberately. Our memo asks them to operationalize the language they themselves chose to add. That's a sturdier ask than re-litigating old text.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Two choices to access the broader feedstock universe v1.3 opened up.</a:t>
            </a:r>
          </a:p>
          <a:p>
            <a:r>
              <a:rPr sz="1200"/>
              <a:t>Path A: write a protocol amendment, push through Isometric's change process. Months at minimum, possibly quarters. Reopens parts of the module that have nothing to do with what we're trying to fix. Anyone reading "broader" as "looser" gets a fresh shot.</a:t>
            </a:r>
          </a:p>
          <a:p>
            <a:r>
              <a:rPr sz="1200"/>
              <a:t>Path B: take Isometric's own v1.3 language as written and propose a clean operational reading. Written interpretive guidance ask, not an amendment. Working session plus pilot evidence package plus written confirmation. Weeks, not quarters. No module text reopened. Clean precedent extensible to other states.</a:t>
            </a:r>
          </a:p>
          <a:p>
            <a:r>
              <a:rPr sz="1200"/>
              <a:t>MRV's job is the bureaucratic mobilization to make Path B real. That's what the guidance memo 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Three pieces, in sequence.</a:t>
            </a:r>
          </a:p>
          <a:p>
            <a:r>
              <a:rPr sz="1200"/>
              <a:t>One — documented government guidance for the project to align to. In Colorado that's CSFS prescriptions and assessments, CWPPs, Forest Action Plan priority maps, hazard zone designations. Other states have their own analogs. No documented guidance, no exemption.</a:t>
            </a:r>
          </a:p>
          <a:p>
            <a:r>
              <a:rPr sz="1200"/>
              <a:t>Two — a credentialed forester makes the substantive judgment that the treatment aligns with that guidance. Credential definition is broad enough to cover state-licensed RPFs, SAF Certified Foresters, agency staff, qualified-degree professionals — but the bar is real.</a:t>
            </a:r>
          </a:p>
          <a:p>
            <a:r>
              <a:rPr sz="1200"/>
              <a:t>Three — the forester's attestation becomes the operational evidence that the treatment qualifies under v1.3's "managed or otherwise supported" language. Attestation lives in the feedstock record alongside chain-of-custody.</a:t>
            </a:r>
          </a:p>
          <a:p>
            <a:r>
              <a:rPr sz="1200"/>
              <a:t>The point: substantive judgment is made by the right professional, on documented public guidance, and the artifact is auditable.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Four-step bureaucratic rollout, not a research project.</a:t>
            </a:r>
          </a:p>
          <a:p>
            <a:r>
              <a:rPr sz="1200"/>
              <a:t>Step 1 — guidance memo to Isometric science team. Drafted, in review.</a:t>
            </a:r>
          </a:p>
          <a:p>
            <a:r>
              <a:rPr sz="1200"/>
              <a:t>Step 2 — working session. Directional alignment with Isometric on the framework. No commitments, no module text changes.</a:t>
            </a:r>
          </a:p>
          <a:p>
            <a:r>
              <a:rPr sz="1200"/>
              <a:t>Step 3 — pilot evidence package. One supplier, one treatment area, full chain-of-custody and forester attestation. Converts the abstract ask into a concrete artifact Isometric can react to.</a:t>
            </a:r>
          </a:p>
          <a:p>
            <a:r>
              <a:rPr sz="1200"/>
              <a:t>Step 4 — written confirmation. Isometric confirms the package satisfies the module. That confirmation becomes Charm's template for every subsequent compliant project — Colorado and elsewhere.</a:t>
            </a:r>
          </a:p>
          <a:p>
            <a:r>
              <a:rPr sz="1200"/>
              <a:t>The whole sequence is weeks, not quarters. That's what the protocol opening makes possible. MRV's job is to run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1A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0" y="0"/>
            <a:ext cx="73152" cy="6858000"/>
          </a:xfrm>
          <a:prstGeom prst="rect">
            <a:avLst/>
          </a:prstGeom>
          <a:solidFill>
            <a:srgbClr val="2E5C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640080"/>
            <a:ext cx="3291840" cy="365760"/>
          </a:xfrm>
          <a:prstGeom prst="rect">
            <a:avLst/>
          </a:prstGeom>
          <a:noFill/>
        </p:spPr>
        <p:txBody>
          <a:bodyPr wrap="square" lIns="0" tIns="0" rIns="0" bIns="0" anchor="t">
            <a:spAutoFit/>
          </a:bodyPr>
          <a:lstStyle/>
          <a:p>
            <a:pPr algn="l"/>
            <a:r>
              <a:rPr sz="1100" b="1" i="0">
                <a:solidFill>
                  <a:srgbClr val="2E5CB8"/>
                </a:solidFill>
                <a:latin typeface="Calibri"/>
              </a:rPr>
              <a:t>CHARM INDUSTRIAL · MRV</a:t>
            </a:r>
          </a:p>
        </p:txBody>
      </p:sp>
      <p:sp>
        <p:nvSpPr>
          <p:cNvPr id="5" name="TextBox 4"/>
          <p:cNvSpPr txBox="1"/>
          <p:nvPr/>
        </p:nvSpPr>
        <p:spPr>
          <a:xfrm>
            <a:off x="640080" y="6126480"/>
            <a:ext cx="3291840" cy="365760"/>
          </a:xfrm>
          <a:prstGeom prst="rect">
            <a:avLst/>
          </a:prstGeom>
          <a:noFill/>
        </p:spPr>
        <p:txBody>
          <a:bodyPr wrap="square" lIns="0" tIns="0" rIns="0" bIns="0" anchor="t">
            <a:spAutoFit/>
          </a:bodyPr>
          <a:lstStyle/>
          <a:p>
            <a:pPr algn="l"/>
            <a:r>
              <a:rPr sz="1100" b="0" i="0">
                <a:solidFill>
                  <a:srgbClr val="B0B8C8"/>
                </a:solidFill>
                <a:latin typeface="Calibri"/>
              </a:rPr>
              <a:t>2026-05-13</a:t>
            </a:r>
          </a:p>
        </p:txBody>
      </p:sp>
      <p:sp>
        <p:nvSpPr>
          <p:cNvPr id="6" name="TextBox 5"/>
          <p:cNvSpPr txBox="1"/>
          <p:nvPr/>
        </p:nvSpPr>
        <p:spPr>
          <a:xfrm>
            <a:off x="4754880" y="2286000"/>
            <a:ext cx="7132320" cy="914400"/>
          </a:xfrm>
          <a:prstGeom prst="rect">
            <a:avLst/>
          </a:prstGeom>
          <a:noFill/>
        </p:spPr>
        <p:txBody>
          <a:bodyPr wrap="square" lIns="0" tIns="0" rIns="0" bIns="0" anchor="t">
            <a:spAutoFit/>
          </a:bodyPr>
          <a:lstStyle/>
          <a:p>
            <a:pPr algn="l"/>
            <a:r>
              <a:rPr sz="1400" b="1" i="0">
                <a:solidFill>
                  <a:srgbClr val="2E5CB8"/>
                </a:solidFill>
                <a:latin typeface="Calibri"/>
              </a:rPr>
              <a:t>WHY &amp; WHAT</a:t>
            </a:r>
          </a:p>
        </p:txBody>
      </p:sp>
      <p:sp>
        <p:nvSpPr>
          <p:cNvPr id="7" name="TextBox 6"/>
          <p:cNvSpPr txBox="1"/>
          <p:nvPr/>
        </p:nvSpPr>
        <p:spPr>
          <a:xfrm>
            <a:off x="4754880" y="2743200"/>
            <a:ext cx="7132320" cy="1645920"/>
          </a:xfrm>
          <a:prstGeom prst="rect">
            <a:avLst/>
          </a:prstGeom>
          <a:noFill/>
        </p:spPr>
        <p:txBody>
          <a:bodyPr wrap="square" lIns="0" tIns="0" rIns="0" bIns="0" anchor="t">
            <a:spAutoFit/>
          </a:bodyPr>
          <a:lstStyle/>
          <a:p>
            <a:pPr algn="l"/>
            <a:r>
              <a:rPr sz="6400" b="1" i="0">
                <a:solidFill>
                  <a:srgbClr val="1A233A"/>
                </a:solidFill>
                <a:latin typeface="Calibri"/>
              </a:rPr>
              <a:t>Forestry Brief</a:t>
            </a:r>
          </a:p>
        </p:txBody>
      </p:sp>
      <p:sp>
        <p:nvSpPr>
          <p:cNvPr id="8" name="TextBox 7"/>
          <p:cNvSpPr txBox="1"/>
          <p:nvPr/>
        </p:nvSpPr>
        <p:spPr>
          <a:xfrm>
            <a:off x="4754880" y="4206240"/>
            <a:ext cx="7132320" cy="914400"/>
          </a:xfrm>
          <a:prstGeom prst="rect">
            <a:avLst/>
          </a:prstGeom>
          <a:noFill/>
        </p:spPr>
        <p:txBody>
          <a:bodyPr wrap="square" lIns="0" tIns="0" rIns="0" bIns="0" anchor="t">
            <a:spAutoFit/>
          </a:bodyPr>
          <a:lstStyle/>
          <a:p>
            <a:pPr algn="l"/>
            <a:r>
              <a:rPr sz="2000" b="0" i="0">
                <a:solidFill>
                  <a:srgbClr val="6B7282"/>
                </a:solidFill>
                <a:latin typeface="Calibri"/>
              </a:rPr>
              <a:t>Mobilizing around new v1.3 module language to unlock compliant biomass</a:t>
            </a:r>
          </a:p>
        </p:txBody>
      </p:sp>
      <p:sp>
        <p:nvSpPr>
          <p:cNvPr id="9" name="TextBox 8"/>
          <p:cNvSpPr txBox="1"/>
          <p:nvPr/>
        </p:nvSpPr>
        <p:spPr>
          <a:xfrm>
            <a:off x="4754880" y="6035040"/>
            <a:ext cx="7132320" cy="365760"/>
          </a:xfrm>
          <a:prstGeom prst="rect">
            <a:avLst/>
          </a:prstGeom>
          <a:noFill/>
        </p:spPr>
        <p:txBody>
          <a:bodyPr wrap="square" lIns="0" tIns="0" rIns="0" bIns="0" anchor="t">
            <a:spAutoFit/>
          </a:bodyPr>
          <a:lstStyle/>
          <a:p>
            <a:pPr algn="l"/>
            <a:r>
              <a:rPr sz="1200" b="0" i="0">
                <a:solidFill>
                  <a:srgbClr val="6B7282"/>
                </a:solidFill>
                <a:latin typeface="Calibri"/>
              </a:rPr>
              <a:t>Max Lavine · Carbon Protocol &amp; Verification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10972800" cy="365760"/>
          </a:xfrm>
          <a:prstGeom prst="rect">
            <a:avLst/>
          </a:prstGeom>
          <a:noFill/>
        </p:spPr>
        <p:txBody>
          <a:bodyPr wrap="square" lIns="0" tIns="0" rIns="0" bIns="0" anchor="t">
            <a:spAutoFit/>
          </a:bodyPr>
          <a:lstStyle/>
          <a:p>
            <a:pPr algn="l"/>
            <a:r>
              <a:rPr sz="1100" b="1" i="0">
                <a:solidFill>
                  <a:srgbClr val="2E5CB8"/>
                </a:solidFill>
                <a:latin typeface="Calibri"/>
              </a:rPr>
              <a:t>THE PROBLEM</a:t>
            </a:r>
          </a:p>
        </p:txBody>
      </p:sp>
      <p:sp>
        <p:nvSpPr>
          <p:cNvPr id="3" name="TextBox 2"/>
          <p:cNvSpPr txBox="1"/>
          <p:nvPr/>
        </p:nvSpPr>
        <p:spPr>
          <a:xfrm>
            <a:off x="457200" y="868680"/>
            <a:ext cx="11247120" cy="914400"/>
          </a:xfrm>
          <a:prstGeom prst="rect">
            <a:avLst/>
          </a:prstGeom>
          <a:noFill/>
        </p:spPr>
        <p:txBody>
          <a:bodyPr wrap="square" lIns="0" tIns="0" rIns="0" bIns="0" anchor="t">
            <a:spAutoFit/>
          </a:bodyPr>
          <a:lstStyle/>
          <a:p>
            <a:pPr algn="l"/>
            <a:r>
              <a:rPr sz="3400" b="1" i="0">
                <a:solidFill>
                  <a:srgbClr val="1A233A"/>
                </a:solidFill>
                <a:latin typeface="Calibri"/>
              </a:rPr>
              <a:t>Grant-cycled supply can't keep pace with scale-up.</a:t>
            </a:r>
          </a:p>
        </p:txBody>
      </p:sp>
      <p:cxnSp>
        <p:nvCxnSpPr>
          <p:cNvPr id="4" name="Connector 3"/>
          <p:cNvCxnSpPr/>
          <p:nvPr/>
        </p:nvCxnSpPr>
        <p:spPr>
          <a:xfrm>
            <a:off x="457200" y="1874519"/>
            <a:ext cx="11247120" cy="0"/>
          </a:xfrm>
          <a:prstGeom prst="line">
            <a:avLst/>
          </a:prstGeom>
          <a:ln w="15875">
            <a:solidFill>
              <a:srgbClr val="CCD2E0"/>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2286000"/>
            <a:ext cx="3657600" cy="2560320"/>
          </a:xfrm>
          <a:prstGeom prst="rect">
            <a:avLst/>
          </a:prstGeom>
          <a:solidFill>
            <a:srgbClr val="EFF3FA"/>
          </a:solidFill>
          <a:ln w="9525">
            <a:solidFill>
              <a:srgbClr val="2E5C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468880"/>
            <a:ext cx="3200400" cy="320040"/>
          </a:xfrm>
          <a:prstGeom prst="rect">
            <a:avLst/>
          </a:prstGeom>
          <a:noFill/>
        </p:spPr>
        <p:txBody>
          <a:bodyPr wrap="square" lIns="0" tIns="0" rIns="0" bIns="0" anchor="t">
            <a:spAutoFit/>
          </a:bodyPr>
          <a:lstStyle/>
          <a:p>
            <a:pPr algn="l"/>
            <a:r>
              <a:rPr sz="1000" b="1" i="0">
                <a:solidFill>
                  <a:srgbClr val="2E5CB8"/>
                </a:solidFill>
                <a:latin typeface="Calibri"/>
              </a:rPr>
              <a:t>CHARM OFFTAKE TRAJECTORY</a:t>
            </a:r>
          </a:p>
        </p:txBody>
      </p:sp>
      <p:sp>
        <p:nvSpPr>
          <p:cNvPr id="7" name="TextBox 6"/>
          <p:cNvSpPr txBox="1"/>
          <p:nvPr/>
        </p:nvSpPr>
        <p:spPr>
          <a:xfrm>
            <a:off x="685800" y="2880360"/>
            <a:ext cx="3200400" cy="731520"/>
          </a:xfrm>
          <a:prstGeom prst="rect">
            <a:avLst/>
          </a:prstGeom>
          <a:noFill/>
        </p:spPr>
        <p:txBody>
          <a:bodyPr wrap="square" lIns="0" tIns="0" rIns="0" bIns="0" anchor="t">
            <a:spAutoFit/>
          </a:bodyPr>
          <a:lstStyle/>
          <a:p>
            <a:pPr algn="l"/>
            <a:r>
              <a:rPr sz="3600" b="1" i="0">
                <a:solidFill>
                  <a:srgbClr val="1A233A"/>
                </a:solidFill>
                <a:latin typeface="Calibri"/>
              </a:rPr>
              <a:t>1K → 3K → ~50K</a:t>
            </a:r>
          </a:p>
        </p:txBody>
      </p:sp>
      <p:sp>
        <p:nvSpPr>
          <p:cNvPr id="8" name="TextBox 7"/>
          <p:cNvSpPr txBox="1"/>
          <p:nvPr/>
        </p:nvSpPr>
        <p:spPr>
          <a:xfrm>
            <a:off x="685800" y="3657600"/>
            <a:ext cx="3200400" cy="365760"/>
          </a:xfrm>
          <a:prstGeom prst="rect">
            <a:avLst/>
          </a:prstGeom>
          <a:noFill/>
        </p:spPr>
        <p:txBody>
          <a:bodyPr wrap="square" lIns="0" tIns="0" rIns="0" bIns="0" anchor="t">
            <a:spAutoFit/>
          </a:bodyPr>
          <a:lstStyle/>
          <a:p>
            <a:pPr algn="l"/>
            <a:r>
              <a:rPr sz="1200" b="0" i="0">
                <a:solidFill>
                  <a:srgbClr val="141414"/>
                </a:solidFill>
                <a:latin typeface="Calibri"/>
              </a:rPr>
              <a:t>MT biomass · 2024 → 2025 → 2026 (high-side)</a:t>
            </a:r>
          </a:p>
        </p:txBody>
      </p:sp>
      <p:sp>
        <p:nvSpPr>
          <p:cNvPr id="9" name="TextBox 8"/>
          <p:cNvSpPr txBox="1"/>
          <p:nvPr/>
        </p:nvSpPr>
        <p:spPr>
          <a:xfrm>
            <a:off x="685800" y="4114800"/>
            <a:ext cx="3200400" cy="548640"/>
          </a:xfrm>
          <a:prstGeom prst="rect">
            <a:avLst/>
          </a:prstGeom>
          <a:noFill/>
        </p:spPr>
        <p:txBody>
          <a:bodyPr wrap="square" lIns="0" tIns="0" rIns="0" bIns="0" anchor="t">
            <a:spAutoFit/>
          </a:bodyPr>
          <a:lstStyle/>
          <a:p>
            <a:pPr algn="l"/>
            <a:r>
              <a:rPr sz="1100" b="0" i="0">
                <a:solidFill>
                  <a:srgbClr val="6B7282"/>
                </a:solidFill>
                <a:latin typeface="Calibri"/>
              </a:rPr>
              <a:t>50× growth in two years. Single-supplier and grant-cycle dependencies break at this scale.</a:t>
            </a:r>
          </a:p>
        </p:txBody>
      </p:sp>
      <p:sp>
        <p:nvSpPr>
          <p:cNvPr id="10" name="Rectangle 9"/>
          <p:cNvSpPr/>
          <p:nvPr/>
        </p:nvSpPr>
        <p:spPr>
          <a:xfrm>
            <a:off x="4251960" y="2286000"/>
            <a:ext cx="3657600" cy="2560320"/>
          </a:xfrm>
          <a:prstGeom prst="rect">
            <a:avLst/>
          </a:prstGeom>
          <a:solidFill>
            <a:srgbClr val="EFF3FA"/>
          </a:solidFill>
          <a:ln w="9525">
            <a:solidFill>
              <a:srgbClr val="2E5C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2468880"/>
            <a:ext cx="3200400" cy="320040"/>
          </a:xfrm>
          <a:prstGeom prst="rect">
            <a:avLst/>
          </a:prstGeom>
          <a:noFill/>
        </p:spPr>
        <p:txBody>
          <a:bodyPr wrap="square" lIns="0" tIns="0" rIns="0" bIns="0" anchor="t">
            <a:spAutoFit/>
          </a:bodyPr>
          <a:lstStyle/>
          <a:p>
            <a:pPr algn="l"/>
            <a:r>
              <a:rPr sz="1000" b="1" i="0">
                <a:solidFill>
                  <a:srgbClr val="2E5CB8"/>
                </a:solidFill>
                <a:latin typeface="Calibri"/>
              </a:rPr>
              <a:t>PER-CD ANNUAL YIELD</a:t>
            </a:r>
          </a:p>
        </p:txBody>
      </p:sp>
      <p:sp>
        <p:nvSpPr>
          <p:cNvPr id="12" name="TextBox 11"/>
          <p:cNvSpPr txBox="1"/>
          <p:nvPr/>
        </p:nvSpPr>
        <p:spPr>
          <a:xfrm>
            <a:off x="4480560" y="2880360"/>
            <a:ext cx="3200400" cy="731520"/>
          </a:xfrm>
          <a:prstGeom prst="rect">
            <a:avLst/>
          </a:prstGeom>
          <a:noFill/>
        </p:spPr>
        <p:txBody>
          <a:bodyPr wrap="square" lIns="0" tIns="0" rIns="0" bIns="0" anchor="t">
            <a:spAutoFit/>
          </a:bodyPr>
          <a:lstStyle/>
          <a:p>
            <a:pPr algn="l"/>
            <a:r>
              <a:rPr sz="4400" b="1" i="0">
                <a:solidFill>
                  <a:srgbClr val="1A233A"/>
                </a:solidFill>
                <a:latin typeface="Calibri"/>
              </a:rPr>
              <a:t>~10,000</a:t>
            </a:r>
          </a:p>
        </p:txBody>
      </p:sp>
      <p:sp>
        <p:nvSpPr>
          <p:cNvPr id="13" name="TextBox 12"/>
          <p:cNvSpPr txBox="1"/>
          <p:nvPr/>
        </p:nvSpPr>
        <p:spPr>
          <a:xfrm>
            <a:off x="4480560" y="3657600"/>
            <a:ext cx="3200400" cy="365760"/>
          </a:xfrm>
          <a:prstGeom prst="rect">
            <a:avLst/>
          </a:prstGeom>
          <a:noFill/>
        </p:spPr>
        <p:txBody>
          <a:bodyPr wrap="square" lIns="0" tIns="0" rIns="0" bIns="0" anchor="t">
            <a:spAutoFit/>
          </a:bodyPr>
          <a:lstStyle/>
          <a:p>
            <a:pPr algn="l"/>
            <a:r>
              <a:rPr sz="1200" b="0" i="0">
                <a:solidFill>
                  <a:srgbClr val="141414"/>
                </a:solidFill>
                <a:latin typeface="Calibri"/>
              </a:rPr>
              <a:t>green MT/yr · Jefferson Conservation District</a:t>
            </a:r>
          </a:p>
        </p:txBody>
      </p:sp>
      <p:sp>
        <p:nvSpPr>
          <p:cNvPr id="14" name="TextBox 13"/>
          <p:cNvSpPr txBox="1"/>
          <p:nvPr/>
        </p:nvSpPr>
        <p:spPr>
          <a:xfrm>
            <a:off x="4480560" y="4114800"/>
            <a:ext cx="3200400" cy="548640"/>
          </a:xfrm>
          <a:prstGeom prst="rect">
            <a:avLst/>
          </a:prstGeom>
          <a:noFill/>
        </p:spPr>
        <p:txBody>
          <a:bodyPr wrap="square" lIns="0" tIns="0" rIns="0" bIns="0" anchor="t">
            <a:spAutoFit/>
          </a:bodyPr>
          <a:lstStyle/>
          <a:p>
            <a:pPr algn="l"/>
            <a:r>
              <a:rPr sz="1100" b="0" i="0">
                <a:solidFill>
                  <a:srgbClr val="6B7282"/>
                </a:solidFill>
                <a:latin typeface="Calibri"/>
              </a:rPr>
              <a:t>Non-merchantable yield from one major CD's 300–500 acres/yr treatment program.</a:t>
            </a:r>
          </a:p>
        </p:txBody>
      </p:sp>
      <p:sp>
        <p:nvSpPr>
          <p:cNvPr id="15" name="Rectangle 14"/>
          <p:cNvSpPr/>
          <p:nvPr/>
        </p:nvSpPr>
        <p:spPr>
          <a:xfrm>
            <a:off x="8046720" y="2286000"/>
            <a:ext cx="3657600" cy="2560320"/>
          </a:xfrm>
          <a:prstGeom prst="rect">
            <a:avLst/>
          </a:prstGeom>
          <a:solidFill>
            <a:srgbClr val="FDF1E6"/>
          </a:solidFill>
          <a:ln w="12700">
            <a:solidFill>
              <a:srgbClr val="E877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2468880"/>
            <a:ext cx="3200400" cy="320040"/>
          </a:xfrm>
          <a:prstGeom prst="rect">
            <a:avLst/>
          </a:prstGeom>
          <a:noFill/>
        </p:spPr>
        <p:txBody>
          <a:bodyPr wrap="square" lIns="0" tIns="0" rIns="0" bIns="0" anchor="t">
            <a:spAutoFit/>
          </a:bodyPr>
          <a:lstStyle/>
          <a:p>
            <a:pPr algn="l"/>
            <a:r>
              <a:rPr sz="1000" b="1" i="0">
                <a:solidFill>
                  <a:srgbClr val="E87722"/>
                </a:solidFill>
                <a:latin typeface="Calibri"/>
              </a:rPr>
              <a:t>FURTHEST-VISIBLE PROJECT</a:t>
            </a:r>
          </a:p>
        </p:txBody>
      </p:sp>
      <p:sp>
        <p:nvSpPr>
          <p:cNvPr id="17" name="TextBox 16"/>
          <p:cNvSpPr txBox="1"/>
          <p:nvPr/>
        </p:nvSpPr>
        <p:spPr>
          <a:xfrm>
            <a:off x="8275320" y="2880360"/>
            <a:ext cx="3200400" cy="731520"/>
          </a:xfrm>
          <a:prstGeom prst="rect">
            <a:avLst/>
          </a:prstGeom>
          <a:noFill/>
        </p:spPr>
        <p:txBody>
          <a:bodyPr wrap="square" lIns="0" tIns="0" rIns="0" bIns="0" anchor="t">
            <a:spAutoFit/>
          </a:bodyPr>
          <a:lstStyle/>
          <a:p>
            <a:pPr algn="l"/>
            <a:r>
              <a:rPr sz="4400" b="1" i="0">
                <a:solidFill>
                  <a:srgbClr val="1A233A"/>
                </a:solidFill>
                <a:latin typeface="Calibri"/>
              </a:rPr>
              <a:t>Q1 2027</a:t>
            </a:r>
          </a:p>
        </p:txBody>
      </p:sp>
      <p:sp>
        <p:nvSpPr>
          <p:cNvPr id="18" name="TextBox 17"/>
          <p:cNvSpPr txBox="1"/>
          <p:nvPr/>
        </p:nvSpPr>
        <p:spPr>
          <a:xfrm>
            <a:off x="8275320" y="3657600"/>
            <a:ext cx="3200400" cy="365760"/>
          </a:xfrm>
          <a:prstGeom prst="rect">
            <a:avLst/>
          </a:prstGeom>
          <a:noFill/>
        </p:spPr>
        <p:txBody>
          <a:bodyPr wrap="square" lIns="0" tIns="0" rIns="0" bIns="0" anchor="t">
            <a:spAutoFit/>
          </a:bodyPr>
          <a:lstStyle/>
          <a:p>
            <a:pPr algn="l"/>
            <a:r>
              <a:rPr sz="1200" b="0" i="0">
                <a:solidFill>
                  <a:srgbClr val="141414"/>
                </a:solidFill>
                <a:latin typeface="Calibri"/>
              </a:rPr>
              <a:t>across 7 contractors · 9 agencies surveyed</a:t>
            </a:r>
          </a:p>
        </p:txBody>
      </p:sp>
      <p:sp>
        <p:nvSpPr>
          <p:cNvPr id="19" name="TextBox 18"/>
          <p:cNvSpPr txBox="1"/>
          <p:nvPr/>
        </p:nvSpPr>
        <p:spPr>
          <a:xfrm>
            <a:off x="8275320" y="4114800"/>
            <a:ext cx="3200400" cy="507831"/>
          </a:xfrm>
          <a:prstGeom prst="rect">
            <a:avLst/>
          </a:prstGeom>
          <a:noFill/>
        </p:spPr>
        <p:txBody>
          <a:bodyPr wrap="square" lIns="0" tIns="0" rIns="0" bIns="0" anchor="t">
            <a:spAutoFit/>
          </a:bodyPr>
          <a:lstStyle/>
          <a:p>
            <a:pPr algn="l"/>
            <a:r>
              <a:rPr sz="1100" b="0" i="0" dirty="0">
                <a:solidFill>
                  <a:srgbClr val="6B7282"/>
                </a:solidFill>
                <a:latin typeface="Calibri"/>
              </a:rPr>
              <a:t>Grant-cycle visibility is the binding constraint. </a:t>
            </a:r>
            <a:r>
              <a:rPr lang="en-US" sz="1100" b="0" i="0" dirty="0">
                <a:solidFill>
                  <a:srgbClr val="6B7282"/>
                </a:solidFill>
                <a:latin typeface="Calibri"/>
              </a:rPr>
              <a:t>3-18 month norm. </a:t>
            </a:r>
            <a:r>
              <a:rPr sz="1100" b="0" i="0" dirty="0">
                <a:solidFill>
                  <a:srgbClr val="6B7282"/>
                </a:solidFill>
                <a:latin typeface="Calibri"/>
              </a:rPr>
              <a:t>No 5-yr supply commitments exist in this market.</a:t>
            </a:r>
          </a:p>
        </p:txBody>
      </p:sp>
      <p:sp>
        <p:nvSpPr>
          <p:cNvPr id="20" name="TextBox 19"/>
          <p:cNvSpPr txBox="1"/>
          <p:nvPr/>
        </p:nvSpPr>
        <p:spPr>
          <a:xfrm>
            <a:off x="457200" y="5074920"/>
            <a:ext cx="11247120" cy="548640"/>
          </a:xfrm>
          <a:prstGeom prst="rect">
            <a:avLst/>
          </a:prstGeom>
          <a:noFill/>
        </p:spPr>
        <p:txBody>
          <a:bodyPr wrap="square" lIns="0" tIns="0" rIns="0" bIns="0" anchor="t">
            <a:spAutoFit/>
          </a:bodyPr>
          <a:lstStyle/>
          <a:p>
            <a:pPr algn="l"/>
            <a:r>
              <a:rPr sz="2000" b="1" i="0">
                <a:solidFill>
                  <a:srgbClr val="1A233A"/>
                </a:solidFill>
                <a:latin typeface="Calibri"/>
              </a:rPr>
              <a:t>The compliant universe Charm can see is too narrow and too short-dated for its growth curve.</a:t>
            </a:r>
          </a:p>
        </p:txBody>
      </p:sp>
      <p:sp>
        <p:nvSpPr>
          <p:cNvPr id="21" name="TextBox 20"/>
          <p:cNvSpPr txBox="1"/>
          <p:nvPr/>
        </p:nvSpPr>
        <p:spPr>
          <a:xfrm>
            <a:off x="457200" y="5989320"/>
            <a:ext cx="11247120" cy="320040"/>
          </a:xfrm>
          <a:prstGeom prst="rect">
            <a:avLst/>
          </a:prstGeom>
          <a:noFill/>
        </p:spPr>
        <p:txBody>
          <a:bodyPr wrap="square" lIns="0" tIns="0" rIns="0" bIns="0" anchor="t">
            <a:spAutoFit/>
          </a:bodyPr>
          <a:lstStyle/>
          <a:p>
            <a:pPr algn="l"/>
            <a:r>
              <a:rPr sz="900" b="0" i="1">
                <a:solidFill>
                  <a:srgbClr val="6B7282"/>
                </a:solidFill>
                <a:latin typeface="Calibri"/>
              </a:rPr>
              <a:t>Sources: Charm sourcing forecast &amp; Jefferson CD operations briefing (Slack #forestry, 2026-04-09); CO Front Range market memo, A. Wilson (Slack #forestry, 2026-04-21).</a:t>
            </a:r>
          </a:p>
        </p:txBody>
      </p:sp>
      <p:sp>
        <p:nvSpPr>
          <p:cNvPr id="22" name="TextBox 21"/>
          <p:cNvSpPr txBox="1"/>
          <p:nvPr/>
        </p:nvSpPr>
        <p:spPr>
          <a:xfrm>
            <a:off x="457200" y="6446520"/>
            <a:ext cx="7315200" cy="274320"/>
          </a:xfrm>
          <a:prstGeom prst="rect">
            <a:avLst/>
          </a:prstGeom>
          <a:noFill/>
        </p:spPr>
        <p:txBody>
          <a:bodyPr wrap="square" lIns="0" tIns="0" rIns="0" bIns="0" anchor="t">
            <a:spAutoFit/>
          </a:bodyPr>
          <a:lstStyle/>
          <a:p>
            <a:pPr algn="l"/>
            <a:r>
              <a:rPr sz="1000" b="0" i="0">
                <a:solidFill>
                  <a:srgbClr val="6B7282"/>
                </a:solidFill>
                <a:latin typeface="Calibri"/>
              </a:rPr>
              <a:t>Forestry Brief — Why &amp; What</a:t>
            </a:r>
          </a:p>
        </p:txBody>
      </p:sp>
      <p:sp>
        <p:nvSpPr>
          <p:cNvPr id="23" name="TextBox 22"/>
          <p:cNvSpPr txBox="1"/>
          <p:nvPr/>
        </p:nvSpPr>
        <p:spPr>
          <a:xfrm>
            <a:off x="10972800" y="6446520"/>
            <a:ext cx="822960" cy="274320"/>
          </a:xfrm>
          <a:prstGeom prst="rect">
            <a:avLst/>
          </a:prstGeom>
          <a:noFill/>
        </p:spPr>
        <p:txBody>
          <a:bodyPr wrap="square" lIns="0" tIns="0" rIns="0" bIns="0" anchor="t">
            <a:spAutoFit/>
          </a:bodyPr>
          <a:lstStyle/>
          <a:p>
            <a:pPr algn="r"/>
            <a:r>
              <a:rPr sz="1000" b="0" i="0">
                <a:solidFill>
                  <a:srgbClr val="6B7282"/>
                </a:solidFill>
                <a:latin typeface="Calibri"/>
              </a:rPr>
              <a:t>2 / 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10972800" cy="365760"/>
          </a:xfrm>
          <a:prstGeom prst="rect">
            <a:avLst/>
          </a:prstGeom>
          <a:noFill/>
        </p:spPr>
        <p:txBody>
          <a:bodyPr wrap="square" lIns="0" tIns="0" rIns="0" bIns="0" anchor="t">
            <a:spAutoFit/>
          </a:bodyPr>
          <a:lstStyle/>
          <a:p>
            <a:pPr algn="l"/>
            <a:r>
              <a:rPr sz="1100" b="1" i="0">
                <a:solidFill>
                  <a:srgbClr val="2E5CB8"/>
                </a:solidFill>
                <a:latin typeface="Calibri"/>
              </a:rPr>
              <a:t>THE OPENING</a:t>
            </a:r>
          </a:p>
        </p:txBody>
      </p:sp>
      <p:sp>
        <p:nvSpPr>
          <p:cNvPr id="3" name="TextBox 2"/>
          <p:cNvSpPr txBox="1"/>
          <p:nvPr/>
        </p:nvSpPr>
        <p:spPr>
          <a:xfrm>
            <a:off x="457200" y="868680"/>
            <a:ext cx="11247120" cy="914400"/>
          </a:xfrm>
          <a:prstGeom prst="rect">
            <a:avLst/>
          </a:prstGeom>
          <a:noFill/>
        </p:spPr>
        <p:txBody>
          <a:bodyPr wrap="square" lIns="0" tIns="0" rIns="0" bIns="0" anchor="t">
            <a:spAutoFit/>
          </a:bodyPr>
          <a:lstStyle/>
          <a:p>
            <a:pPr algn="l"/>
            <a:r>
              <a:rPr sz="3400" b="1" i="0">
                <a:solidFill>
                  <a:srgbClr val="1A233A"/>
                </a:solidFill>
                <a:latin typeface="Calibri"/>
              </a:rPr>
              <a:t>v1.3 widened the door.</a:t>
            </a:r>
          </a:p>
        </p:txBody>
      </p:sp>
      <p:cxnSp>
        <p:nvCxnSpPr>
          <p:cNvPr id="4" name="Connector 3"/>
          <p:cNvCxnSpPr/>
          <p:nvPr/>
        </p:nvCxnSpPr>
        <p:spPr>
          <a:xfrm>
            <a:off x="457200" y="1874519"/>
            <a:ext cx="11247120" cy="0"/>
          </a:xfrm>
          <a:prstGeom prst="line">
            <a:avLst/>
          </a:prstGeom>
          <a:ln w="15875">
            <a:solidFill>
              <a:srgbClr val="CCD2E0"/>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2286000"/>
            <a:ext cx="5486400" cy="2377440"/>
          </a:xfrm>
          <a:prstGeom prst="rect">
            <a:avLst/>
          </a:prstGeom>
          <a:solidFill>
            <a:srgbClr val="FAFBFD"/>
          </a:solidFill>
          <a:ln w="6350">
            <a:solidFill>
              <a:srgbClr val="6B72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468880"/>
            <a:ext cx="5029200" cy="365760"/>
          </a:xfrm>
          <a:prstGeom prst="rect">
            <a:avLst/>
          </a:prstGeom>
          <a:noFill/>
        </p:spPr>
        <p:txBody>
          <a:bodyPr wrap="square" lIns="0" tIns="0" rIns="0" bIns="0" anchor="t">
            <a:spAutoFit/>
          </a:bodyPr>
          <a:lstStyle/>
          <a:p>
            <a:pPr algn="l"/>
            <a:r>
              <a:rPr sz="1100" b="1" i="0">
                <a:solidFill>
                  <a:srgbClr val="6B7282"/>
                </a:solidFill>
                <a:latin typeface="Calibri"/>
              </a:rPr>
              <a:t>v1.2 (PRIOR)</a:t>
            </a:r>
          </a:p>
        </p:txBody>
      </p:sp>
      <p:sp>
        <p:nvSpPr>
          <p:cNvPr id="7" name="TextBox 6"/>
          <p:cNvSpPr txBox="1"/>
          <p:nvPr/>
        </p:nvSpPr>
        <p:spPr>
          <a:xfrm>
            <a:off x="685800" y="2834640"/>
            <a:ext cx="5029200" cy="1645920"/>
          </a:xfrm>
          <a:prstGeom prst="rect">
            <a:avLst/>
          </a:prstGeom>
          <a:noFill/>
        </p:spPr>
        <p:txBody>
          <a:bodyPr wrap="square" lIns="0" tIns="0" rIns="0" bIns="0" anchor="t">
            <a:spAutoFit/>
          </a:bodyPr>
          <a:lstStyle/>
          <a:p>
            <a:pPr algn="l"/>
            <a:r>
              <a:rPr sz="2200" b="0" i="1">
                <a:solidFill>
                  <a:srgbClr val="1A233A"/>
                </a:solidFill>
                <a:latin typeface="Calibri"/>
              </a:rPr>
              <a:t>"government managed or funded
wildfire mitigation"</a:t>
            </a:r>
          </a:p>
        </p:txBody>
      </p:sp>
      <p:sp>
        <p:nvSpPr>
          <p:cNvPr id="8" name="TextBox 7"/>
          <p:cNvSpPr txBox="1"/>
          <p:nvPr/>
        </p:nvSpPr>
        <p:spPr>
          <a:xfrm>
            <a:off x="685800" y="4206240"/>
            <a:ext cx="5029200" cy="365760"/>
          </a:xfrm>
          <a:prstGeom prst="rect">
            <a:avLst/>
          </a:prstGeom>
          <a:noFill/>
        </p:spPr>
        <p:txBody>
          <a:bodyPr wrap="square" lIns="0" tIns="0" rIns="0" bIns="0" anchor="t">
            <a:spAutoFit/>
          </a:bodyPr>
          <a:lstStyle/>
          <a:p>
            <a:pPr algn="l"/>
            <a:r>
              <a:rPr sz="1200" b="0" i="0">
                <a:solidFill>
                  <a:srgbClr val="6B7282"/>
                </a:solidFill>
                <a:latin typeface="Calibri"/>
              </a:rPr>
              <a:t>Two categories. Counterfactual section only.</a:t>
            </a:r>
          </a:p>
        </p:txBody>
      </p:sp>
      <p:sp>
        <p:nvSpPr>
          <p:cNvPr id="9" name="Rectangle 8"/>
          <p:cNvSpPr/>
          <p:nvPr/>
        </p:nvSpPr>
        <p:spPr>
          <a:xfrm>
            <a:off x="6263640" y="2286000"/>
            <a:ext cx="5486400" cy="2377440"/>
          </a:xfrm>
          <a:prstGeom prst="rect">
            <a:avLst/>
          </a:prstGeom>
          <a:solidFill>
            <a:srgbClr val="ECF1FA"/>
          </a:solidFill>
          <a:ln w="15875">
            <a:solidFill>
              <a:srgbClr val="2E5C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2468880"/>
            <a:ext cx="5029200" cy="365760"/>
          </a:xfrm>
          <a:prstGeom prst="rect">
            <a:avLst/>
          </a:prstGeom>
          <a:noFill/>
        </p:spPr>
        <p:txBody>
          <a:bodyPr wrap="square" lIns="0" tIns="0" rIns="0" bIns="0" anchor="t">
            <a:spAutoFit/>
          </a:bodyPr>
          <a:lstStyle/>
          <a:p>
            <a:pPr algn="l"/>
            <a:r>
              <a:rPr sz="1100" b="1" i="0">
                <a:solidFill>
                  <a:srgbClr val="2E5CB8"/>
                </a:solidFill>
                <a:latin typeface="Calibri"/>
              </a:rPr>
              <a:t>v1.3 (CURRENT)</a:t>
            </a:r>
          </a:p>
        </p:txBody>
      </p:sp>
      <p:sp>
        <p:nvSpPr>
          <p:cNvPr id="11" name="TextBox 10"/>
          <p:cNvSpPr txBox="1"/>
          <p:nvPr/>
        </p:nvSpPr>
        <p:spPr>
          <a:xfrm>
            <a:off x="6492240" y="2834640"/>
            <a:ext cx="5029200" cy="1645920"/>
          </a:xfrm>
          <a:prstGeom prst="rect">
            <a:avLst/>
          </a:prstGeom>
          <a:noFill/>
        </p:spPr>
        <p:txBody>
          <a:bodyPr wrap="square" lIns="0" tIns="0" rIns="0" bIns="0">
            <a:spAutoFit/>
          </a:bodyPr>
          <a:lstStyle/>
          <a:p>
            <a:r>
              <a:rPr sz="2200" b="0" i="1">
                <a:solidFill>
                  <a:srgbClr val="1A233A"/>
                </a:solidFill>
                <a:latin typeface="Calibri"/>
              </a:rPr>
              <a:t>"government </a:t>
            </a:r>
            <a:r>
              <a:rPr sz="2200" b="1" i="1">
                <a:solidFill>
                  <a:srgbClr val="1A233A"/>
                </a:solidFill>
                <a:latin typeface="Calibri"/>
              </a:rPr>
              <a:t>mandated, managed</a:t>
            </a:r>
            <a:r>
              <a:rPr sz="2200" b="0" i="1">
                <a:solidFill>
                  <a:srgbClr val="1A233A"/>
                </a:solidFill>
                <a:latin typeface="Calibri"/>
              </a:rPr>
              <a:t> or </a:t>
            </a:r>
            <a:r>
              <a:rPr sz="2200" b="1" i="1">
                <a:solidFill>
                  <a:srgbClr val="E87722"/>
                </a:solidFill>
                <a:latin typeface="Calibri"/>
              </a:rPr>
              <a:t>otherwise supported</a:t>
            </a:r>
          </a:p>
          <a:p>
            <a:pPr algn="l"/>
            <a:r>
              <a:rPr sz="2200" b="0" i="1">
                <a:solidFill>
                  <a:srgbClr val="1A233A"/>
                </a:solidFill>
                <a:latin typeface="Calibri"/>
              </a:rPr>
              <a:t>wildfire mitigation program"</a:t>
            </a:r>
          </a:p>
        </p:txBody>
      </p:sp>
      <p:sp>
        <p:nvSpPr>
          <p:cNvPr id="12" name="TextBox 11"/>
          <p:cNvSpPr txBox="1"/>
          <p:nvPr/>
        </p:nvSpPr>
        <p:spPr>
          <a:xfrm>
            <a:off x="6492240" y="4206240"/>
            <a:ext cx="5029200" cy="365760"/>
          </a:xfrm>
          <a:prstGeom prst="rect">
            <a:avLst/>
          </a:prstGeom>
          <a:noFill/>
        </p:spPr>
        <p:txBody>
          <a:bodyPr wrap="square" lIns="0" tIns="0" rIns="0" bIns="0" anchor="t">
            <a:spAutoFit/>
          </a:bodyPr>
          <a:lstStyle/>
          <a:p>
            <a:pPr algn="l"/>
            <a:r>
              <a:rPr sz="1200" b="0" i="0">
                <a:solidFill>
                  <a:srgbClr val="6B7282"/>
                </a:solidFill>
                <a:latin typeface="Calibri"/>
              </a:rPr>
              <a:t>Three categories. Now in SC1.2, SC1.3, and CC2.</a:t>
            </a:r>
          </a:p>
        </p:txBody>
      </p:sp>
      <p:sp>
        <p:nvSpPr>
          <p:cNvPr id="13" name="TextBox 12"/>
          <p:cNvSpPr txBox="1"/>
          <p:nvPr/>
        </p:nvSpPr>
        <p:spPr>
          <a:xfrm>
            <a:off x="457200" y="4937760"/>
            <a:ext cx="11247120" cy="548640"/>
          </a:xfrm>
          <a:prstGeom prst="rect">
            <a:avLst/>
          </a:prstGeom>
          <a:noFill/>
        </p:spPr>
        <p:txBody>
          <a:bodyPr wrap="square" lIns="0" tIns="0" rIns="0" bIns="0" anchor="t">
            <a:spAutoFit/>
          </a:bodyPr>
          <a:lstStyle/>
          <a:p>
            <a:pPr algn="l"/>
            <a:r>
              <a:rPr sz="2200" b="1" i="0">
                <a:solidFill>
                  <a:srgbClr val="1A233A"/>
                </a:solidFill>
                <a:latin typeface="Calibri"/>
              </a:rPr>
              <a:t>New language. New universe of eligible projects.</a:t>
            </a:r>
          </a:p>
        </p:txBody>
      </p:sp>
      <p:sp>
        <p:nvSpPr>
          <p:cNvPr id="14" name="TextBox 13"/>
          <p:cNvSpPr txBox="1"/>
          <p:nvPr/>
        </p:nvSpPr>
        <p:spPr>
          <a:xfrm>
            <a:off x="457200" y="5577840"/>
            <a:ext cx="11247120" cy="457200"/>
          </a:xfrm>
          <a:prstGeom prst="rect">
            <a:avLst/>
          </a:prstGeom>
          <a:noFill/>
        </p:spPr>
        <p:txBody>
          <a:bodyPr wrap="square" lIns="0" tIns="0" rIns="0" bIns="0" anchor="t">
            <a:spAutoFit/>
          </a:bodyPr>
          <a:lstStyle/>
          <a:p>
            <a:pPr algn="l"/>
            <a:r>
              <a:rPr sz="1600" b="0" i="0">
                <a:solidFill>
                  <a:srgbClr val="6B7282"/>
                </a:solidFill>
                <a:latin typeface="Calibri"/>
              </a:rPr>
              <a:t>Isometric chose to add "otherwise supported." Charm asks them to live up to it.</a:t>
            </a:r>
          </a:p>
        </p:txBody>
      </p:sp>
      <p:sp>
        <p:nvSpPr>
          <p:cNvPr id="15" name="TextBox 14"/>
          <p:cNvSpPr txBox="1"/>
          <p:nvPr/>
        </p:nvSpPr>
        <p:spPr>
          <a:xfrm>
            <a:off x="457200" y="6126480"/>
            <a:ext cx="11247120" cy="228600"/>
          </a:xfrm>
          <a:prstGeom prst="rect">
            <a:avLst/>
          </a:prstGeom>
          <a:noFill/>
        </p:spPr>
        <p:txBody>
          <a:bodyPr wrap="square" lIns="0" tIns="0" rIns="0" bIns="0" anchor="t">
            <a:spAutoFit/>
          </a:bodyPr>
          <a:lstStyle/>
          <a:p>
            <a:pPr algn="l"/>
            <a:r>
              <a:rPr sz="900" b="0" i="1">
                <a:solidFill>
                  <a:srgbClr val="6B7282"/>
                </a:solidFill>
                <a:latin typeface="Calibri"/>
              </a:rPr>
              <a:t>Source: Biomass Feedstock Accounting Module v1.2.3 → v1.3.0 (Isometric registry, read 2026-05-13).</a:t>
            </a:r>
          </a:p>
        </p:txBody>
      </p:sp>
      <p:sp>
        <p:nvSpPr>
          <p:cNvPr id="16" name="TextBox 15"/>
          <p:cNvSpPr txBox="1"/>
          <p:nvPr/>
        </p:nvSpPr>
        <p:spPr>
          <a:xfrm>
            <a:off x="457200" y="6446520"/>
            <a:ext cx="7315200" cy="274320"/>
          </a:xfrm>
          <a:prstGeom prst="rect">
            <a:avLst/>
          </a:prstGeom>
          <a:noFill/>
        </p:spPr>
        <p:txBody>
          <a:bodyPr wrap="square" lIns="0" tIns="0" rIns="0" bIns="0" anchor="t">
            <a:spAutoFit/>
          </a:bodyPr>
          <a:lstStyle/>
          <a:p>
            <a:pPr algn="l"/>
            <a:r>
              <a:rPr sz="1000" b="0" i="0">
                <a:solidFill>
                  <a:srgbClr val="6B7282"/>
                </a:solidFill>
                <a:latin typeface="Calibri"/>
              </a:rPr>
              <a:t>Forestry Brief — Why &amp; What</a:t>
            </a:r>
          </a:p>
        </p:txBody>
      </p:sp>
      <p:sp>
        <p:nvSpPr>
          <p:cNvPr id="17" name="TextBox 16"/>
          <p:cNvSpPr txBox="1"/>
          <p:nvPr/>
        </p:nvSpPr>
        <p:spPr>
          <a:xfrm>
            <a:off x="10972800" y="6446520"/>
            <a:ext cx="822960" cy="274320"/>
          </a:xfrm>
          <a:prstGeom prst="rect">
            <a:avLst/>
          </a:prstGeom>
          <a:noFill/>
        </p:spPr>
        <p:txBody>
          <a:bodyPr wrap="square" lIns="0" tIns="0" rIns="0" bIns="0" anchor="t">
            <a:spAutoFit/>
          </a:bodyPr>
          <a:lstStyle/>
          <a:p>
            <a:pPr algn="r"/>
            <a:r>
              <a:rPr sz="1000" b="0" i="0">
                <a:solidFill>
                  <a:srgbClr val="6B7282"/>
                </a:solidFill>
                <a:latin typeface="Calibri"/>
              </a:rPr>
              <a:t>3 / 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10972800" cy="365760"/>
          </a:xfrm>
          <a:prstGeom prst="rect">
            <a:avLst/>
          </a:prstGeom>
          <a:noFill/>
        </p:spPr>
        <p:txBody>
          <a:bodyPr wrap="square" lIns="0" tIns="0" rIns="0" bIns="0" anchor="t">
            <a:spAutoFit/>
          </a:bodyPr>
          <a:lstStyle/>
          <a:p>
            <a:pPr algn="l"/>
            <a:r>
              <a:rPr sz="1100" b="1" i="0">
                <a:solidFill>
                  <a:srgbClr val="2E5CB8"/>
                </a:solidFill>
                <a:latin typeface="Calibri"/>
              </a:rPr>
              <a:t>THE APPROACH</a:t>
            </a:r>
          </a:p>
        </p:txBody>
      </p:sp>
      <p:sp>
        <p:nvSpPr>
          <p:cNvPr id="3" name="TextBox 2"/>
          <p:cNvSpPr txBox="1"/>
          <p:nvPr/>
        </p:nvSpPr>
        <p:spPr>
          <a:xfrm>
            <a:off x="457200" y="868680"/>
            <a:ext cx="11247120" cy="914400"/>
          </a:xfrm>
          <a:prstGeom prst="rect">
            <a:avLst/>
          </a:prstGeom>
          <a:noFill/>
        </p:spPr>
        <p:txBody>
          <a:bodyPr wrap="square" lIns="0" tIns="0" rIns="0" bIns="0" anchor="t">
            <a:spAutoFit/>
          </a:bodyPr>
          <a:lstStyle/>
          <a:p>
            <a:pPr algn="l"/>
            <a:r>
              <a:rPr sz="3400" b="1" i="0">
                <a:solidFill>
                  <a:srgbClr val="1A233A"/>
                </a:solidFill>
                <a:latin typeface="Calibri"/>
              </a:rPr>
              <a:t>Two ways to mobilize. We picked the fast one.</a:t>
            </a:r>
          </a:p>
        </p:txBody>
      </p:sp>
      <p:cxnSp>
        <p:nvCxnSpPr>
          <p:cNvPr id="4" name="Connector 3"/>
          <p:cNvCxnSpPr/>
          <p:nvPr/>
        </p:nvCxnSpPr>
        <p:spPr>
          <a:xfrm>
            <a:off x="457200" y="1874519"/>
            <a:ext cx="11247120" cy="0"/>
          </a:xfrm>
          <a:prstGeom prst="line">
            <a:avLst/>
          </a:prstGeom>
          <a:ln w="15875">
            <a:solidFill>
              <a:srgbClr val="CCD2E0"/>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2286000"/>
            <a:ext cx="5394960" cy="3657600"/>
          </a:xfrm>
          <a:prstGeom prst="rect">
            <a:avLst/>
          </a:prstGeom>
          <a:solidFill>
            <a:srgbClr val="FAFBFD"/>
          </a:solidFill>
          <a:ln w="6350">
            <a:solidFill>
              <a:srgbClr val="6B72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31520" y="2560320"/>
            <a:ext cx="640080" cy="640080"/>
          </a:xfrm>
          <a:prstGeom prst="ellipse">
            <a:avLst/>
          </a:prstGeom>
          <a:solidFill>
            <a:srgbClr val="B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578608"/>
            <a:ext cx="640080" cy="640080"/>
          </a:xfrm>
          <a:prstGeom prst="rect">
            <a:avLst/>
          </a:prstGeom>
          <a:noFill/>
        </p:spPr>
        <p:txBody>
          <a:bodyPr wrap="square" lIns="0" tIns="0" rIns="0" bIns="0" anchor="ctr">
            <a:spAutoFit/>
          </a:bodyPr>
          <a:lstStyle/>
          <a:p>
            <a:pPr algn="ctr"/>
            <a:r>
              <a:rPr sz="2800" b="1" i="0">
                <a:solidFill>
                  <a:srgbClr val="FFFFFF"/>
                </a:solidFill>
                <a:latin typeface="Calibri"/>
              </a:rPr>
              <a:t>✕</a:t>
            </a:r>
          </a:p>
        </p:txBody>
      </p:sp>
      <p:sp>
        <p:nvSpPr>
          <p:cNvPr id="8" name="TextBox 7"/>
          <p:cNvSpPr txBox="1"/>
          <p:nvPr/>
        </p:nvSpPr>
        <p:spPr>
          <a:xfrm>
            <a:off x="1554480" y="2606040"/>
            <a:ext cx="3657600" cy="365760"/>
          </a:xfrm>
          <a:prstGeom prst="rect">
            <a:avLst/>
          </a:prstGeom>
          <a:noFill/>
        </p:spPr>
        <p:txBody>
          <a:bodyPr wrap="square" lIns="0" tIns="0" rIns="0" bIns="0" anchor="t">
            <a:spAutoFit/>
          </a:bodyPr>
          <a:lstStyle/>
          <a:p>
            <a:pPr algn="l"/>
            <a:r>
              <a:rPr sz="1100" b="1" i="0">
                <a:solidFill>
                  <a:srgbClr val="B03030"/>
                </a:solidFill>
                <a:latin typeface="Calibri"/>
              </a:rPr>
              <a:t>PATH A</a:t>
            </a:r>
          </a:p>
        </p:txBody>
      </p:sp>
      <p:sp>
        <p:nvSpPr>
          <p:cNvPr id="9" name="TextBox 8"/>
          <p:cNvSpPr txBox="1"/>
          <p:nvPr/>
        </p:nvSpPr>
        <p:spPr>
          <a:xfrm>
            <a:off x="1554480" y="2971800"/>
            <a:ext cx="3657600" cy="548640"/>
          </a:xfrm>
          <a:prstGeom prst="rect">
            <a:avLst/>
          </a:prstGeom>
          <a:noFill/>
        </p:spPr>
        <p:txBody>
          <a:bodyPr wrap="square" lIns="0" tIns="0" rIns="0" bIns="0" anchor="t">
            <a:spAutoFit/>
          </a:bodyPr>
          <a:lstStyle/>
          <a:p>
            <a:pPr algn="l"/>
            <a:r>
              <a:rPr sz="2200" b="1" i="0">
                <a:solidFill>
                  <a:srgbClr val="1A233A"/>
                </a:solidFill>
                <a:latin typeface="Calibri"/>
              </a:rPr>
              <a:t>Push a protocol change</a:t>
            </a:r>
          </a:p>
        </p:txBody>
      </p:sp>
      <p:sp>
        <p:nvSpPr>
          <p:cNvPr id="10" name="TextBox 9"/>
          <p:cNvSpPr txBox="1"/>
          <p:nvPr/>
        </p:nvSpPr>
        <p:spPr>
          <a:xfrm>
            <a:off x="914400" y="3840480"/>
            <a:ext cx="4297680" cy="411480"/>
          </a:xfrm>
          <a:prstGeom prst="rect">
            <a:avLst/>
          </a:prstGeom>
          <a:noFill/>
        </p:spPr>
        <p:txBody>
          <a:bodyPr wrap="square" lIns="0" tIns="0" rIns="0" bIns="0" anchor="t">
            <a:spAutoFit/>
          </a:bodyPr>
          <a:lstStyle/>
          <a:p>
            <a:pPr algn="l"/>
            <a:r>
              <a:rPr sz="1400" b="0" i="0">
                <a:solidFill>
                  <a:srgbClr val="141414"/>
                </a:solidFill>
                <a:latin typeface="Calibri"/>
              </a:rPr>
              <a:t>— Months to quarters</a:t>
            </a:r>
          </a:p>
        </p:txBody>
      </p:sp>
      <p:sp>
        <p:nvSpPr>
          <p:cNvPr id="11" name="TextBox 10"/>
          <p:cNvSpPr txBox="1"/>
          <p:nvPr/>
        </p:nvSpPr>
        <p:spPr>
          <a:xfrm>
            <a:off x="914400" y="4297680"/>
            <a:ext cx="4297680" cy="411480"/>
          </a:xfrm>
          <a:prstGeom prst="rect">
            <a:avLst/>
          </a:prstGeom>
          <a:noFill/>
        </p:spPr>
        <p:txBody>
          <a:bodyPr wrap="square" lIns="0" tIns="0" rIns="0" bIns="0" anchor="t">
            <a:spAutoFit/>
          </a:bodyPr>
          <a:lstStyle/>
          <a:p>
            <a:pPr algn="l"/>
            <a:r>
              <a:rPr sz="1400" b="0" i="0">
                <a:solidFill>
                  <a:srgbClr val="141414"/>
                </a:solidFill>
                <a:latin typeface="Calibri"/>
              </a:rPr>
              <a:t>— Reopens unrelated module text</a:t>
            </a:r>
          </a:p>
        </p:txBody>
      </p:sp>
      <p:sp>
        <p:nvSpPr>
          <p:cNvPr id="12" name="TextBox 11"/>
          <p:cNvSpPr txBox="1"/>
          <p:nvPr/>
        </p:nvSpPr>
        <p:spPr>
          <a:xfrm>
            <a:off x="914400" y="4754880"/>
            <a:ext cx="4297680" cy="411480"/>
          </a:xfrm>
          <a:prstGeom prst="rect">
            <a:avLst/>
          </a:prstGeom>
          <a:noFill/>
        </p:spPr>
        <p:txBody>
          <a:bodyPr wrap="square" lIns="0" tIns="0" rIns="0" bIns="0" anchor="t">
            <a:spAutoFit/>
          </a:bodyPr>
          <a:lstStyle/>
          <a:p>
            <a:pPr algn="l"/>
            <a:r>
              <a:rPr sz="1400" b="0" i="0">
                <a:solidFill>
                  <a:srgbClr val="141414"/>
                </a:solidFill>
                <a:latin typeface="Calibri"/>
              </a:rPr>
              <a:t>— Headwinds from anyone reading "broader" as "looser"</a:t>
            </a:r>
          </a:p>
        </p:txBody>
      </p:sp>
      <p:sp>
        <p:nvSpPr>
          <p:cNvPr id="13" name="TextBox 12"/>
          <p:cNvSpPr txBox="1"/>
          <p:nvPr/>
        </p:nvSpPr>
        <p:spPr>
          <a:xfrm>
            <a:off x="914400" y="5212080"/>
            <a:ext cx="4297680" cy="411480"/>
          </a:xfrm>
          <a:prstGeom prst="rect">
            <a:avLst/>
          </a:prstGeom>
          <a:noFill/>
        </p:spPr>
        <p:txBody>
          <a:bodyPr wrap="square" lIns="0" tIns="0" rIns="0" bIns="0" anchor="t">
            <a:spAutoFit/>
          </a:bodyPr>
          <a:lstStyle/>
          <a:p>
            <a:pPr algn="l"/>
            <a:r>
              <a:rPr sz="1400" b="0" i="0">
                <a:solidFill>
                  <a:srgbClr val="141414"/>
                </a:solidFill>
                <a:latin typeface="Calibri"/>
              </a:rPr>
              <a:t>— Doesn't fit Charm's scale-up timeline</a:t>
            </a:r>
          </a:p>
        </p:txBody>
      </p:sp>
      <p:sp>
        <p:nvSpPr>
          <p:cNvPr id="14" name="Rectangle 13"/>
          <p:cNvSpPr/>
          <p:nvPr/>
        </p:nvSpPr>
        <p:spPr>
          <a:xfrm>
            <a:off x="6355080" y="2286000"/>
            <a:ext cx="5394960" cy="3657600"/>
          </a:xfrm>
          <a:prstGeom prst="rect">
            <a:avLst/>
          </a:prstGeom>
          <a:solidFill>
            <a:srgbClr val="ECF1FA"/>
          </a:solidFill>
          <a:ln w="15875">
            <a:solidFill>
              <a:srgbClr val="2E5C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629400" y="2560320"/>
            <a:ext cx="640080" cy="640080"/>
          </a:xfrm>
          <a:prstGeom prst="ellipse">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2578608"/>
            <a:ext cx="640080" cy="640080"/>
          </a:xfrm>
          <a:prstGeom prst="rect">
            <a:avLst/>
          </a:prstGeom>
          <a:noFill/>
        </p:spPr>
        <p:txBody>
          <a:bodyPr wrap="square" lIns="0" tIns="0" rIns="0" bIns="0" anchor="ctr">
            <a:spAutoFit/>
          </a:bodyPr>
          <a:lstStyle/>
          <a:p>
            <a:pPr algn="ctr"/>
            <a:r>
              <a:rPr sz="2800" b="1" i="0">
                <a:solidFill>
                  <a:srgbClr val="FFFFFF"/>
                </a:solidFill>
                <a:latin typeface="Calibri"/>
              </a:rPr>
              <a:t>✓</a:t>
            </a:r>
          </a:p>
        </p:txBody>
      </p:sp>
      <p:sp>
        <p:nvSpPr>
          <p:cNvPr id="17" name="TextBox 16"/>
          <p:cNvSpPr txBox="1"/>
          <p:nvPr/>
        </p:nvSpPr>
        <p:spPr>
          <a:xfrm>
            <a:off x="7452360" y="2606040"/>
            <a:ext cx="4114800" cy="365760"/>
          </a:xfrm>
          <a:prstGeom prst="rect">
            <a:avLst/>
          </a:prstGeom>
          <a:noFill/>
        </p:spPr>
        <p:txBody>
          <a:bodyPr wrap="square" lIns="0" tIns="0" rIns="0" bIns="0" anchor="t">
            <a:spAutoFit/>
          </a:bodyPr>
          <a:lstStyle/>
          <a:p>
            <a:pPr algn="l"/>
            <a:r>
              <a:rPr sz="1100" b="1" i="0">
                <a:solidFill>
                  <a:srgbClr val="2E8B57"/>
                </a:solidFill>
                <a:latin typeface="Calibri"/>
              </a:rPr>
              <a:t>PATH B</a:t>
            </a:r>
          </a:p>
        </p:txBody>
      </p:sp>
      <p:sp>
        <p:nvSpPr>
          <p:cNvPr id="18" name="TextBox 17"/>
          <p:cNvSpPr txBox="1"/>
          <p:nvPr/>
        </p:nvSpPr>
        <p:spPr>
          <a:xfrm>
            <a:off x="7452360" y="2971800"/>
            <a:ext cx="4114800" cy="548640"/>
          </a:xfrm>
          <a:prstGeom prst="rect">
            <a:avLst/>
          </a:prstGeom>
          <a:noFill/>
        </p:spPr>
        <p:txBody>
          <a:bodyPr wrap="square" lIns="0" tIns="0" rIns="0" bIns="0" anchor="t">
            <a:spAutoFit/>
          </a:bodyPr>
          <a:lstStyle/>
          <a:p>
            <a:pPr algn="l"/>
            <a:r>
              <a:rPr sz="2200" b="1" i="0">
                <a:solidFill>
                  <a:srgbClr val="1A233A"/>
                </a:solidFill>
                <a:latin typeface="Calibri"/>
              </a:rPr>
              <a:t>Operationalize v1.3 as written</a:t>
            </a:r>
          </a:p>
        </p:txBody>
      </p:sp>
      <p:sp>
        <p:nvSpPr>
          <p:cNvPr id="19" name="TextBox 18"/>
          <p:cNvSpPr txBox="1"/>
          <p:nvPr/>
        </p:nvSpPr>
        <p:spPr>
          <a:xfrm>
            <a:off x="6812280" y="3840480"/>
            <a:ext cx="4754880" cy="411480"/>
          </a:xfrm>
          <a:prstGeom prst="rect">
            <a:avLst/>
          </a:prstGeom>
          <a:noFill/>
        </p:spPr>
        <p:txBody>
          <a:bodyPr wrap="square" lIns="0" tIns="0" rIns="0" bIns="0" anchor="t">
            <a:spAutoFit/>
          </a:bodyPr>
          <a:lstStyle/>
          <a:p>
            <a:pPr algn="l"/>
            <a:r>
              <a:rPr sz="1400" b="0" i="0">
                <a:solidFill>
                  <a:srgbClr val="141414"/>
                </a:solidFill>
                <a:latin typeface="Calibri"/>
              </a:rPr>
              <a:t>— Weeks, not quarters</a:t>
            </a:r>
          </a:p>
        </p:txBody>
      </p:sp>
      <p:sp>
        <p:nvSpPr>
          <p:cNvPr id="20" name="TextBox 19"/>
          <p:cNvSpPr txBox="1"/>
          <p:nvPr/>
        </p:nvSpPr>
        <p:spPr>
          <a:xfrm>
            <a:off x="6812280" y="4297680"/>
            <a:ext cx="4754880" cy="411480"/>
          </a:xfrm>
          <a:prstGeom prst="rect">
            <a:avLst/>
          </a:prstGeom>
          <a:noFill/>
        </p:spPr>
        <p:txBody>
          <a:bodyPr wrap="square" lIns="0" tIns="0" rIns="0" bIns="0" anchor="t">
            <a:spAutoFit/>
          </a:bodyPr>
          <a:lstStyle/>
          <a:p>
            <a:pPr algn="l"/>
            <a:r>
              <a:rPr sz="1400" b="0" i="0">
                <a:solidFill>
                  <a:srgbClr val="141414"/>
                </a:solidFill>
                <a:latin typeface="Calibri"/>
              </a:rPr>
              <a:t>— No module changes</a:t>
            </a:r>
          </a:p>
        </p:txBody>
      </p:sp>
      <p:sp>
        <p:nvSpPr>
          <p:cNvPr id="21" name="TextBox 20"/>
          <p:cNvSpPr txBox="1"/>
          <p:nvPr/>
        </p:nvSpPr>
        <p:spPr>
          <a:xfrm>
            <a:off x="6812280" y="4754880"/>
            <a:ext cx="4754880" cy="411480"/>
          </a:xfrm>
          <a:prstGeom prst="rect">
            <a:avLst/>
          </a:prstGeom>
          <a:noFill/>
        </p:spPr>
        <p:txBody>
          <a:bodyPr wrap="square" lIns="0" tIns="0" rIns="0" bIns="0" anchor="t">
            <a:spAutoFit/>
          </a:bodyPr>
          <a:lstStyle/>
          <a:p>
            <a:pPr algn="l"/>
            <a:r>
              <a:rPr sz="1400" b="0" i="0">
                <a:solidFill>
                  <a:srgbClr val="141414"/>
                </a:solidFill>
                <a:latin typeface="Calibri"/>
              </a:rPr>
              <a:t>— Lands as clarification, not concession</a:t>
            </a:r>
          </a:p>
        </p:txBody>
      </p:sp>
      <p:sp>
        <p:nvSpPr>
          <p:cNvPr id="22" name="TextBox 21"/>
          <p:cNvSpPr txBox="1"/>
          <p:nvPr/>
        </p:nvSpPr>
        <p:spPr>
          <a:xfrm>
            <a:off x="6812280" y="5212080"/>
            <a:ext cx="4754880" cy="411480"/>
          </a:xfrm>
          <a:prstGeom prst="rect">
            <a:avLst/>
          </a:prstGeom>
          <a:noFill/>
        </p:spPr>
        <p:txBody>
          <a:bodyPr wrap="square" lIns="0" tIns="0" rIns="0" bIns="0" anchor="t">
            <a:spAutoFit/>
          </a:bodyPr>
          <a:lstStyle/>
          <a:p>
            <a:pPr algn="l"/>
            <a:r>
              <a:rPr sz="1400" b="0" i="0">
                <a:solidFill>
                  <a:srgbClr val="141414"/>
                </a:solidFill>
                <a:latin typeface="Calibri"/>
              </a:rPr>
              <a:t>— Clean precedent extensible to other states</a:t>
            </a:r>
          </a:p>
        </p:txBody>
      </p:sp>
      <p:sp>
        <p:nvSpPr>
          <p:cNvPr id="23" name="TextBox 22"/>
          <p:cNvSpPr txBox="1"/>
          <p:nvPr/>
        </p:nvSpPr>
        <p:spPr>
          <a:xfrm>
            <a:off x="457200" y="6446520"/>
            <a:ext cx="7315200" cy="274320"/>
          </a:xfrm>
          <a:prstGeom prst="rect">
            <a:avLst/>
          </a:prstGeom>
          <a:noFill/>
        </p:spPr>
        <p:txBody>
          <a:bodyPr wrap="square" lIns="0" tIns="0" rIns="0" bIns="0" anchor="t">
            <a:spAutoFit/>
          </a:bodyPr>
          <a:lstStyle/>
          <a:p>
            <a:pPr algn="l"/>
            <a:r>
              <a:rPr sz="1000" b="0" i="0">
                <a:solidFill>
                  <a:srgbClr val="6B7282"/>
                </a:solidFill>
                <a:latin typeface="Calibri"/>
              </a:rPr>
              <a:t>Forestry Brief — Why &amp; What</a:t>
            </a:r>
          </a:p>
        </p:txBody>
      </p:sp>
      <p:sp>
        <p:nvSpPr>
          <p:cNvPr id="24" name="TextBox 23"/>
          <p:cNvSpPr txBox="1"/>
          <p:nvPr/>
        </p:nvSpPr>
        <p:spPr>
          <a:xfrm>
            <a:off x="10972800" y="6446520"/>
            <a:ext cx="822960" cy="274320"/>
          </a:xfrm>
          <a:prstGeom prst="rect">
            <a:avLst/>
          </a:prstGeom>
          <a:noFill/>
        </p:spPr>
        <p:txBody>
          <a:bodyPr wrap="square" lIns="0" tIns="0" rIns="0" bIns="0" anchor="t">
            <a:spAutoFit/>
          </a:bodyPr>
          <a:lstStyle/>
          <a:p>
            <a:pPr algn="r"/>
            <a:r>
              <a:rPr sz="1000" b="0" i="0">
                <a:solidFill>
                  <a:srgbClr val="6B7282"/>
                </a:solidFill>
                <a:latin typeface="Calibri"/>
              </a:rPr>
              <a:t>4 / 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10972800" cy="365760"/>
          </a:xfrm>
          <a:prstGeom prst="rect">
            <a:avLst/>
          </a:prstGeom>
          <a:noFill/>
        </p:spPr>
        <p:txBody>
          <a:bodyPr wrap="square" lIns="0" tIns="0" rIns="0" bIns="0" anchor="t">
            <a:spAutoFit/>
          </a:bodyPr>
          <a:lstStyle/>
          <a:p>
            <a:pPr algn="l"/>
            <a:r>
              <a:rPr sz="1100" b="1" i="0">
                <a:solidFill>
                  <a:srgbClr val="2E5CB8"/>
                </a:solidFill>
                <a:latin typeface="Calibri"/>
              </a:rPr>
              <a:t>THE MECHANISM</a:t>
            </a:r>
          </a:p>
        </p:txBody>
      </p:sp>
      <p:sp>
        <p:nvSpPr>
          <p:cNvPr id="3" name="TextBox 2"/>
          <p:cNvSpPr txBox="1"/>
          <p:nvPr/>
        </p:nvSpPr>
        <p:spPr>
          <a:xfrm>
            <a:off x="457200" y="868680"/>
            <a:ext cx="11247120" cy="914400"/>
          </a:xfrm>
          <a:prstGeom prst="rect">
            <a:avLst/>
          </a:prstGeom>
          <a:noFill/>
        </p:spPr>
        <p:txBody>
          <a:bodyPr wrap="square" lIns="0" tIns="0" rIns="0" bIns="0" anchor="t">
            <a:spAutoFit/>
          </a:bodyPr>
          <a:lstStyle/>
          <a:p>
            <a:pPr algn="l"/>
            <a:r>
              <a:rPr sz="3400" b="1" i="0">
                <a:solidFill>
                  <a:srgbClr val="1A233A"/>
                </a:solidFill>
                <a:latin typeface="Calibri"/>
              </a:rPr>
              <a:t>What "otherwise supported" means in practice.</a:t>
            </a:r>
          </a:p>
        </p:txBody>
      </p:sp>
      <p:cxnSp>
        <p:nvCxnSpPr>
          <p:cNvPr id="4" name="Connector 3"/>
          <p:cNvCxnSpPr/>
          <p:nvPr/>
        </p:nvCxnSpPr>
        <p:spPr>
          <a:xfrm>
            <a:off x="457200" y="1874519"/>
            <a:ext cx="11247120" cy="0"/>
          </a:xfrm>
          <a:prstGeom prst="line">
            <a:avLst/>
          </a:prstGeom>
          <a:ln w="15875">
            <a:solidFill>
              <a:srgbClr val="CCD2E0"/>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2560320"/>
            <a:ext cx="3383280" cy="2377440"/>
          </a:xfrm>
          <a:prstGeom prst="rect">
            <a:avLst/>
          </a:prstGeom>
          <a:solidFill>
            <a:srgbClr val="EFF3FA"/>
          </a:solidFill>
          <a:ln w="6350">
            <a:solidFill>
              <a:srgbClr val="2E5C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743200"/>
            <a:ext cx="548640" cy="548640"/>
          </a:xfrm>
          <a:prstGeom prst="rect">
            <a:avLst/>
          </a:prstGeom>
          <a:noFill/>
        </p:spPr>
        <p:txBody>
          <a:bodyPr wrap="square" lIns="0" tIns="0" rIns="0" bIns="0" anchor="t">
            <a:spAutoFit/>
          </a:bodyPr>
          <a:lstStyle/>
          <a:p>
            <a:pPr algn="l"/>
            <a:r>
              <a:rPr sz="4200" b="1" i="0">
                <a:solidFill>
                  <a:srgbClr val="2E5CB8"/>
                </a:solidFill>
                <a:latin typeface="Calibri"/>
              </a:rPr>
              <a:t>1</a:t>
            </a:r>
          </a:p>
        </p:txBody>
      </p:sp>
      <p:sp>
        <p:nvSpPr>
          <p:cNvPr id="7" name="TextBox 6"/>
          <p:cNvSpPr txBox="1"/>
          <p:nvPr/>
        </p:nvSpPr>
        <p:spPr>
          <a:xfrm>
            <a:off x="640080" y="3474720"/>
            <a:ext cx="3017520" cy="457200"/>
          </a:xfrm>
          <a:prstGeom prst="rect">
            <a:avLst/>
          </a:prstGeom>
          <a:noFill/>
        </p:spPr>
        <p:txBody>
          <a:bodyPr wrap="square" lIns="0" tIns="0" rIns="0" bIns="0" anchor="t">
            <a:spAutoFit/>
          </a:bodyPr>
          <a:lstStyle/>
          <a:p>
            <a:pPr algn="l"/>
            <a:r>
              <a:rPr sz="1700" b="1" i="0">
                <a:solidFill>
                  <a:srgbClr val="1A233A"/>
                </a:solidFill>
                <a:latin typeface="Calibri"/>
              </a:rPr>
              <a:t>Documented state guidance</a:t>
            </a:r>
          </a:p>
        </p:txBody>
      </p:sp>
      <p:sp>
        <p:nvSpPr>
          <p:cNvPr id="8" name="TextBox 7"/>
          <p:cNvSpPr txBox="1"/>
          <p:nvPr/>
        </p:nvSpPr>
        <p:spPr>
          <a:xfrm>
            <a:off x="640080" y="3977640"/>
            <a:ext cx="3017520" cy="914400"/>
          </a:xfrm>
          <a:prstGeom prst="rect">
            <a:avLst/>
          </a:prstGeom>
          <a:noFill/>
        </p:spPr>
        <p:txBody>
          <a:bodyPr wrap="square" lIns="0" tIns="0" rIns="0" bIns="0" anchor="t">
            <a:spAutoFit/>
          </a:bodyPr>
          <a:lstStyle/>
          <a:p>
            <a:pPr algn="l"/>
            <a:r>
              <a:rPr sz="1200" b="0" i="0">
                <a:solidFill>
                  <a:srgbClr val="6B7282"/>
                </a:solidFill>
                <a:latin typeface="Calibri"/>
              </a:rPr>
              <a:t>CSFS prescriptions, CWPPs, hazard maps, Forest Action Plan priorities</a:t>
            </a:r>
          </a:p>
        </p:txBody>
      </p:sp>
      <p:sp>
        <p:nvSpPr>
          <p:cNvPr id="9" name="Right Arrow 8"/>
          <p:cNvSpPr/>
          <p:nvPr/>
        </p:nvSpPr>
        <p:spPr>
          <a:xfrm>
            <a:off x="3886200" y="3520440"/>
            <a:ext cx="457200" cy="457200"/>
          </a:xfrm>
          <a:prstGeom prst="rightArrow">
            <a:avLst/>
          </a:prstGeom>
          <a:solidFill>
            <a:srgbClr val="2E5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2560320"/>
            <a:ext cx="3383280" cy="2377440"/>
          </a:xfrm>
          <a:prstGeom prst="rect">
            <a:avLst/>
          </a:prstGeom>
          <a:solidFill>
            <a:srgbClr val="EFF3FA"/>
          </a:solidFill>
          <a:ln w="6350">
            <a:solidFill>
              <a:srgbClr val="2E5C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2743200"/>
            <a:ext cx="548640" cy="548640"/>
          </a:xfrm>
          <a:prstGeom prst="rect">
            <a:avLst/>
          </a:prstGeom>
          <a:noFill/>
        </p:spPr>
        <p:txBody>
          <a:bodyPr wrap="square" lIns="0" tIns="0" rIns="0" bIns="0" anchor="t">
            <a:spAutoFit/>
          </a:bodyPr>
          <a:lstStyle/>
          <a:p>
            <a:pPr algn="l"/>
            <a:r>
              <a:rPr sz="4200" b="1" i="0">
                <a:solidFill>
                  <a:srgbClr val="2E5CB8"/>
                </a:solidFill>
                <a:latin typeface="Calibri"/>
              </a:rPr>
              <a:t>2</a:t>
            </a:r>
          </a:p>
        </p:txBody>
      </p:sp>
      <p:sp>
        <p:nvSpPr>
          <p:cNvPr id="12" name="TextBox 11"/>
          <p:cNvSpPr txBox="1"/>
          <p:nvPr/>
        </p:nvSpPr>
        <p:spPr>
          <a:xfrm>
            <a:off x="4617720" y="3474720"/>
            <a:ext cx="3017520" cy="457200"/>
          </a:xfrm>
          <a:prstGeom prst="rect">
            <a:avLst/>
          </a:prstGeom>
          <a:noFill/>
        </p:spPr>
        <p:txBody>
          <a:bodyPr wrap="square" lIns="0" tIns="0" rIns="0" bIns="0" anchor="t">
            <a:spAutoFit/>
          </a:bodyPr>
          <a:lstStyle/>
          <a:p>
            <a:pPr algn="l"/>
            <a:r>
              <a:rPr sz="1700" b="1" i="0">
                <a:solidFill>
                  <a:srgbClr val="1A233A"/>
                </a:solidFill>
                <a:latin typeface="Calibri"/>
              </a:rPr>
              <a:t>Credentialed forester verifies</a:t>
            </a:r>
          </a:p>
        </p:txBody>
      </p:sp>
      <p:sp>
        <p:nvSpPr>
          <p:cNvPr id="13" name="TextBox 12"/>
          <p:cNvSpPr txBox="1"/>
          <p:nvPr/>
        </p:nvSpPr>
        <p:spPr>
          <a:xfrm>
            <a:off x="4617720" y="3977640"/>
            <a:ext cx="3017520" cy="914400"/>
          </a:xfrm>
          <a:prstGeom prst="rect">
            <a:avLst/>
          </a:prstGeom>
          <a:noFill/>
        </p:spPr>
        <p:txBody>
          <a:bodyPr wrap="square" lIns="0" tIns="0" rIns="0" bIns="0" anchor="t">
            <a:spAutoFit/>
          </a:bodyPr>
          <a:lstStyle/>
          <a:p>
            <a:pPr algn="l"/>
            <a:r>
              <a:rPr sz="1200" b="0" i="0">
                <a:solidFill>
                  <a:srgbClr val="6B7282"/>
                </a:solidFill>
                <a:latin typeface="Calibri"/>
              </a:rPr>
              <a:t>State license, SAF CF, agency staff, or qualifying degree — signs an attestation against the guidance</a:t>
            </a:r>
          </a:p>
        </p:txBody>
      </p:sp>
      <p:sp>
        <p:nvSpPr>
          <p:cNvPr id="14" name="Right Arrow 13"/>
          <p:cNvSpPr/>
          <p:nvPr/>
        </p:nvSpPr>
        <p:spPr>
          <a:xfrm>
            <a:off x="7863840" y="3520440"/>
            <a:ext cx="457200" cy="457200"/>
          </a:xfrm>
          <a:prstGeom prst="rightArrow">
            <a:avLst/>
          </a:prstGeom>
          <a:solidFill>
            <a:srgbClr val="2E5C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412480" y="2560320"/>
            <a:ext cx="3383280" cy="2377440"/>
          </a:xfrm>
          <a:prstGeom prst="rect">
            <a:avLst/>
          </a:prstGeom>
          <a:solidFill>
            <a:srgbClr val="ECF7EF"/>
          </a:solidFill>
          <a:ln w="95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0" y="2743200"/>
            <a:ext cx="548640" cy="548640"/>
          </a:xfrm>
          <a:prstGeom prst="rect">
            <a:avLst/>
          </a:prstGeom>
          <a:noFill/>
        </p:spPr>
        <p:txBody>
          <a:bodyPr wrap="square" lIns="0" tIns="0" rIns="0" bIns="0" anchor="t">
            <a:spAutoFit/>
          </a:bodyPr>
          <a:lstStyle/>
          <a:p>
            <a:pPr algn="l"/>
            <a:r>
              <a:rPr sz="4200" b="1" i="0">
                <a:solidFill>
                  <a:srgbClr val="2E8B57"/>
                </a:solidFill>
                <a:latin typeface="Calibri"/>
              </a:rPr>
              <a:t>3</a:t>
            </a:r>
          </a:p>
        </p:txBody>
      </p:sp>
      <p:sp>
        <p:nvSpPr>
          <p:cNvPr id="17" name="TextBox 16"/>
          <p:cNvSpPr txBox="1"/>
          <p:nvPr/>
        </p:nvSpPr>
        <p:spPr>
          <a:xfrm>
            <a:off x="8595360" y="3474720"/>
            <a:ext cx="3017520" cy="457200"/>
          </a:xfrm>
          <a:prstGeom prst="rect">
            <a:avLst/>
          </a:prstGeom>
          <a:noFill/>
        </p:spPr>
        <p:txBody>
          <a:bodyPr wrap="square" lIns="0" tIns="0" rIns="0" bIns="0" anchor="t">
            <a:spAutoFit/>
          </a:bodyPr>
          <a:lstStyle/>
          <a:p>
            <a:pPr algn="l"/>
            <a:r>
              <a:rPr sz="1700" b="1" i="0">
                <a:solidFill>
                  <a:srgbClr val="1A233A"/>
                </a:solidFill>
                <a:latin typeface="Calibri"/>
              </a:rPr>
              <a:t>Treatment qualifies</a:t>
            </a:r>
          </a:p>
        </p:txBody>
      </p:sp>
      <p:sp>
        <p:nvSpPr>
          <p:cNvPr id="18" name="TextBox 17"/>
          <p:cNvSpPr txBox="1"/>
          <p:nvPr/>
        </p:nvSpPr>
        <p:spPr>
          <a:xfrm>
            <a:off x="8595360" y="3977640"/>
            <a:ext cx="3017520" cy="914400"/>
          </a:xfrm>
          <a:prstGeom prst="rect">
            <a:avLst/>
          </a:prstGeom>
          <a:noFill/>
        </p:spPr>
        <p:txBody>
          <a:bodyPr wrap="square" lIns="0" tIns="0" rIns="0" bIns="0" anchor="t">
            <a:spAutoFit/>
          </a:bodyPr>
          <a:lstStyle/>
          <a:p>
            <a:pPr algn="l"/>
            <a:r>
              <a:rPr sz="1200" b="0" i="0">
                <a:solidFill>
                  <a:srgbClr val="6B7282"/>
                </a:solidFill>
                <a:latin typeface="Calibri"/>
              </a:rPr>
              <a:t>Counts as "managed or otherwise supported" under SC1.2, SC1.3, CC2</a:t>
            </a:r>
          </a:p>
        </p:txBody>
      </p:sp>
      <p:sp>
        <p:nvSpPr>
          <p:cNvPr id="19" name="TextBox 18"/>
          <p:cNvSpPr txBox="1"/>
          <p:nvPr/>
        </p:nvSpPr>
        <p:spPr>
          <a:xfrm>
            <a:off x="457200" y="5303520"/>
            <a:ext cx="11247120" cy="457200"/>
          </a:xfrm>
          <a:prstGeom prst="rect">
            <a:avLst/>
          </a:prstGeom>
          <a:noFill/>
        </p:spPr>
        <p:txBody>
          <a:bodyPr wrap="square" lIns="0" tIns="0" rIns="0" bIns="0" anchor="t">
            <a:spAutoFit/>
          </a:bodyPr>
          <a:lstStyle/>
          <a:p>
            <a:pPr algn="l"/>
            <a:r>
              <a:rPr sz="2000" b="1" i="0">
                <a:solidFill>
                  <a:srgbClr val="1A233A"/>
                </a:solidFill>
                <a:latin typeface="Calibri"/>
              </a:rPr>
              <a:t>Substantive bar · auditable artifact · portable across jurisdictions.</a:t>
            </a:r>
          </a:p>
        </p:txBody>
      </p:sp>
      <p:sp>
        <p:nvSpPr>
          <p:cNvPr id="20" name="TextBox 19"/>
          <p:cNvSpPr txBox="1"/>
          <p:nvPr/>
        </p:nvSpPr>
        <p:spPr>
          <a:xfrm>
            <a:off x="457200" y="5852160"/>
            <a:ext cx="11247120" cy="457200"/>
          </a:xfrm>
          <a:prstGeom prst="rect">
            <a:avLst/>
          </a:prstGeom>
          <a:noFill/>
        </p:spPr>
        <p:txBody>
          <a:bodyPr wrap="square" lIns="0" tIns="0" rIns="0" bIns="0" anchor="t">
            <a:spAutoFit/>
          </a:bodyPr>
          <a:lstStyle/>
          <a:p>
            <a:pPr algn="l"/>
            <a:r>
              <a:rPr sz="1400" b="0" i="0">
                <a:solidFill>
                  <a:srgbClr val="6B7282"/>
                </a:solidFill>
                <a:latin typeface="Calibri"/>
              </a:rPr>
              <a:t>The forester is the verification mechanism. Their attestation lives in the feedstock record.</a:t>
            </a:r>
          </a:p>
        </p:txBody>
      </p:sp>
      <p:sp>
        <p:nvSpPr>
          <p:cNvPr id="21" name="TextBox 20"/>
          <p:cNvSpPr txBox="1"/>
          <p:nvPr/>
        </p:nvSpPr>
        <p:spPr>
          <a:xfrm>
            <a:off x="457200" y="6446520"/>
            <a:ext cx="7315200" cy="274320"/>
          </a:xfrm>
          <a:prstGeom prst="rect">
            <a:avLst/>
          </a:prstGeom>
          <a:noFill/>
        </p:spPr>
        <p:txBody>
          <a:bodyPr wrap="square" lIns="0" tIns="0" rIns="0" bIns="0" anchor="t">
            <a:spAutoFit/>
          </a:bodyPr>
          <a:lstStyle/>
          <a:p>
            <a:pPr algn="l"/>
            <a:r>
              <a:rPr sz="1000" b="0" i="0">
                <a:solidFill>
                  <a:srgbClr val="6B7282"/>
                </a:solidFill>
                <a:latin typeface="Calibri"/>
              </a:rPr>
              <a:t>Forestry Brief — Why &amp; What</a:t>
            </a:r>
          </a:p>
        </p:txBody>
      </p:sp>
      <p:sp>
        <p:nvSpPr>
          <p:cNvPr id="22" name="TextBox 21"/>
          <p:cNvSpPr txBox="1"/>
          <p:nvPr/>
        </p:nvSpPr>
        <p:spPr>
          <a:xfrm>
            <a:off x="10972800" y="6446520"/>
            <a:ext cx="822960" cy="274320"/>
          </a:xfrm>
          <a:prstGeom prst="rect">
            <a:avLst/>
          </a:prstGeom>
          <a:noFill/>
        </p:spPr>
        <p:txBody>
          <a:bodyPr wrap="square" lIns="0" tIns="0" rIns="0" bIns="0" anchor="t">
            <a:spAutoFit/>
          </a:bodyPr>
          <a:lstStyle/>
          <a:p>
            <a:pPr algn="r"/>
            <a:r>
              <a:rPr sz="1000" b="0" i="0">
                <a:solidFill>
                  <a:srgbClr val="6B7282"/>
                </a:solidFill>
                <a:latin typeface="Calibri"/>
              </a:rPr>
              <a:t>5 / 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10972800" cy="365760"/>
          </a:xfrm>
          <a:prstGeom prst="rect">
            <a:avLst/>
          </a:prstGeom>
          <a:noFill/>
        </p:spPr>
        <p:txBody>
          <a:bodyPr wrap="square" lIns="0" tIns="0" rIns="0" bIns="0" anchor="t">
            <a:spAutoFit/>
          </a:bodyPr>
          <a:lstStyle/>
          <a:p>
            <a:pPr algn="l"/>
            <a:r>
              <a:rPr sz="1100" b="1" i="0">
                <a:solidFill>
                  <a:srgbClr val="2E5CB8"/>
                </a:solidFill>
                <a:latin typeface="Calibri"/>
              </a:rPr>
              <a:t>WHERE MRV TAKES IT</a:t>
            </a:r>
          </a:p>
        </p:txBody>
      </p:sp>
      <p:sp>
        <p:nvSpPr>
          <p:cNvPr id="3" name="TextBox 2"/>
          <p:cNvSpPr txBox="1"/>
          <p:nvPr/>
        </p:nvSpPr>
        <p:spPr>
          <a:xfrm>
            <a:off x="457200" y="868680"/>
            <a:ext cx="11247120" cy="914400"/>
          </a:xfrm>
          <a:prstGeom prst="rect">
            <a:avLst/>
          </a:prstGeom>
          <a:noFill/>
        </p:spPr>
        <p:txBody>
          <a:bodyPr wrap="square" lIns="0" tIns="0" rIns="0" bIns="0" anchor="t">
            <a:spAutoFit/>
          </a:bodyPr>
          <a:lstStyle/>
          <a:p>
            <a:pPr algn="l"/>
            <a:r>
              <a:rPr sz="3400" b="1" i="0">
                <a:solidFill>
                  <a:srgbClr val="1A233A"/>
                </a:solidFill>
                <a:latin typeface="Calibri"/>
              </a:rPr>
              <a:t>Weeks to template — not a protocol cycle.</a:t>
            </a:r>
          </a:p>
        </p:txBody>
      </p:sp>
      <p:cxnSp>
        <p:nvCxnSpPr>
          <p:cNvPr id="4" name="Connector 3"/>
          <p:cNvCxnSpPr/>
          <p:nvPr/>
        </p:nvCxnSpPr>
        <p:spPr>
          <a:xfrm>
            <a:off x="457200" y="1874519"/>
            <a:ext cx="11247120" cy="0"/>
          </a:xfrm>
          <a:prstGeom prst="line">
            <a:avLst/>
          </a:prstGeom>
          <a:ln w="15875">
            <a:solidFill>
              <a:srgbClr val="CCD2E0"/>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2468880"/>
            <a:ext cx="2651760" cy="2468880"/>
          </a:xfrm>
          <a:prstGeom prst="rect">
            <a:avLst/>
          </a:prstGeom>
          <a:solidFill>
            <a:srgbClr val="EFF3FA"/>
          </a:solidFill>
          <a:ln w="9525">
            <a:solidFill>
              <a:srgbClr val="E877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2651760"/>
            <a:ext cx="1554480" cy="292608"/>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651760"/>
            <a:ext cx="1554480" cy="292608"/>
          </a:xfrm>
          <a:prstGeom prst="rect">
            <a:avLst/>
          </a:prstGeom>
          <a:noFill/>
        </p:spPr>
        <p:txBody>
          <a:bodyPr wrap="square" lIns="0" tIns="0" rIns="0" bIns="0" anchor="ctr">
            <a:spAutoFit/>
          </a:bodyPr>
          <a:lstStyle/>
          <a:p>
            <a:pPr algn="ctr"/>
            <a:r>
              <a:rPr sz="900" b="1" i="0">
                <a:solidFill>
                  <a:srgbClr val="FFFFFF"/>
                </a:solidFill>
                <a:latin typeface="Calibri"/>
              </a:rPr>
              <a:t>IN DRAFT</a:t>
            </a:r>
          </a:p>
        </p:txBody>
      </p:sp>
      <p:sp>
        <p:nvSpPr>
          <p:cNvPr id="8" name="TextBox 7"/>
          <p:cNvSpPr txBox="1"/>
          <p:nvPr/>
        </p:nvSpPr>
        <p:spPr>
          <a:xfrm>
            <a:off x="685800" y="3108960"/>
            <a:ext cx="2286000" cy="548640"/>
          </a:xfrm>
          <a:prstGeom prst="rect">
            <a:avLst/>
          </a:prstGeom>
          <a:noFill/>
        </p:spPr>
        <p:txBody>
          <a:bodyPr wrap="square" lIns="0" tIns="0" rIns="0" bIns="0" anchor="t">
            <a:spAutoFit/>
          </a:bodyPr>
          <a:lstStyle/>
          <a:p>
            <a:pPr algn="l"/>
            <a:r>
              <a:rPr sz="4000" b="1" i="0">
                <a:solidFill>
                  <a:srgbClr val="E87722"/>
                </a:solidFill>
                <a:latin typeface="Calibri"/>
              </a:rPr>
              <a:t>1</a:t>
            </a:r>
          </a:p>
        </p:txBody>
      </p:sp>
      <p:sp>
        <p:nvSpPr>
          <p:cNvPr id="9" name="TextBox 8"/>
          <p:cNvSpPr txBox="1"/>
          <p:nvPr/>
        </p:nvSpPr>
        <p:spPr>
          <a:xfrm>
            <a:off x="685800" y="3794760"/>
            <a:ext cx="2194560" cy="457200"/>
          </a:xfrm>
          <a:prstGeom prst="rect">
            <a:avLst/>
          </a:prstGeom>
          <a:noFill/>
        </p:spPr>
        <p:txBody>
          <a:bodyPr wrap="square" lIns="0" tIns="0" rIns="0" bIns="0" anchor="t">
            <a:spAutoFit/>
          </a:bodyPr>
          <a:lstStyle/>
          <a:p>
            <a:pPr algn="l"/>
            <a:r>
              <a:rPr sz="1600" b="1" i="0">
                <a:solidFill>
                  <a:srgbClr val="1A233A"/>
                </a:solidFill>
                <a:latin typeface="Calibri"/>
              </a:rPr>
              <a:t>Guidance memo</a:t>
            </a:r>
          </a:p>
        </p:txBody>
      </p:sp>
      <p:sp>
        <p:nvSpPr>
          <p:cNvPr id="10" name="TextBox 9"/>
          <p:cNvSpPr txBox="1"/>
          <p:nvPr/>
        </p:nvSpPr>
        <p:spPr>
          <a:xfrm>
            <a:off x="685800" y="4251960"/>
            <a:ext cx="2194560" cy="731520"/>
          </a:xfrm>
          <a:prstGeom prst="rect">
            <a:avLst/>
          </a:prstGeom>
          <a:noFill/>
        </p:spPr>
        <p:txBody>
          <a:bodyPr wrap="square" lIns="0" tIns="0" rIns="0" bIns="0" anchor="t">
            <a:spAutoFit/>
          </a:bodyPr>
          <a:lstStyle/>
          <a:p>
            <a:pPr algn="l"/>
            <a:r>
              <a:rPr sz="1100" b="0" i="0">
                <a:solidFill>
                  <a:srgbClr val="6B7282"/>
                </a:solidFill>
                <a:latin typeface="Calibri"/>
              </a:rPr>
              <a:t>Sent to Isometric science team — interpretive framework + proposed standard.</a:t>
            </a:r>
          </a:p>
        </p:txBody>
      </p:sp>
      <p:sp>
        <p:nvSpPr>
          <p:cNvPr id="11" name="Rectangle 10"/>
          <p:cNvSpPr/>
          <p:nvPr/>
        </p:nvSpPr>
        <p:spPr>
          <a:xfrm>
            <a:off x="3291840" y="2468880"/>
            <a:ext cx="2651760" cy="2468880"/>
          </a:xfrm>
          <a:prstGeom prst="rect">
            <a:avLst/>
          </a:prstGeom>
          <a:solidFill>
            <a:srgbClr val="EFF3FA"/>
          </a:solidFill>
          <a:ln w="9525">
            <a:solidFill>
              <a:srgbClr val="2E5C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520440" y="2651760"/>
            <a:ext cx="1554480" cy="292608"/>
          </a:xfrm>
          <a:prstGeom prst="rect">
            <a:avLst/>
          </a:prstGeom>
          <a:solidFill>
            <a:srgbClr val="2E5C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20440" y="2651760"/>
            <a:ext cx="1554480" cy="292608"/>
          </a:xfrm>
          <a:prstGeom prst="rect">
            <a:avLst/>
          </a:prstGeom>
          <a:noFill/>
        </p:spPr>
        <p:txBody>
          <a:bodyPr wrap="square" lIns="0" tIns="0" rIns="0" bIns="0" anchor="ctr">
            <a:spAutoFit/>
          </a:bodyPr>
          <a:lstStyle/>
          <a:p>
            <a:pPr algn="ctr"/>
            <a:r>
              <a:rPr sz="900" b="1" i="0">
                <a:solidFill>
                  <a:srgbClr val="FFFFFF"/>
                </a:solidFill>
                <a:latin typeface="Calibri"/>
              </a:rPr>
              <a:t>NEXT</a:t>
            </a:r>
          </a:p>
        </p:txBody>
      </p:sp>
      <p:sp>
        <p:nvSpPr>
          <p:cNvPr id="14" name="TextBox 13"/>
          <p:cNvSpPr txBox="1"/>
          <p:nvPr/>
        </p:nvSpPr>
        <p:spPr>
          <a:xfrm>
            <a:off x="3520440" y="3108960"/>
            <a:ext cx="2286000" cy="548640"/>
          </a:xfrm>
          <a:prstGeom prst="rect">
            <a:avLst/>
          </a:prstGeom>
          <a:noFill/>
        </p:spPr>
        <p:txBody>
          <a:bodyPr wrap="square" lIns="0" tIns="0" rIns="0" bIns="0" anchor="t">
            <a:spAutoFit/>
          </a:bodyPr>
          <a:lstStyle/>
          <a:p>
            <a:pPr algn="l"/>
            <a:r>
              <a:rPr sz="4000" b="1" i="0">
                <a:solidFill>
                  <a:srgbClr val="2E5CB8"/>
                </a:solidFill>
                <a:latin typeface="Calibri"/>
              </a:rPr>
              <a:t>2</a:t>
            </a:r>
          </a:p>
        </p:txBody>
      </p:sp>
      <p:sp>
        <p:nvSpPr>
          <p:cNvPr id="15" name="TextBox 14"/>
          <p:cNvSpPr txBox="1"/>
          <p:nvPr/>
        </p:nvSpPr>
        <p:spPr>
          <a:xfrm>
            <a:off x="3520440" y="3794760"/>
            <a:ext cx="2194560" cy="457200"/>
          </a:xfrm>
          <a:prstGeom prst="rect">
            <a:avLst/>
          </a:prstGeom>
          <a:noFill/>
        </p:spPr>
        <p:txBody>
          <a:bodyPr wrap="square" lIns="0" tIns="0" rIns="0" bIns="0" anchor="t">
            <a:spAutoFit/>
          </a:bodyPr>
          <a:lstStyle/>
          <a:p>
            <a:pPr algn="l"/>
            <a:r>
              <a:rPr sz="1600" b="1" i="0">
                <a:solidFill>
                  <a:srgbClr val="1A233A"/>
                </a:solidFill>
                <a:latin typeface="Calibri"/>
              </a:rPr>
              <a:t>Working session</a:t>
            </a:r>
          </a:p>
        </p:txBody>
      </p:sp>
      <p:sp>
        <p:nvSpPr>
          <p:cNvPr id="16" name="TextBox 15"/>
          <p:cNvSpPr txBox="1"/>
          <p:nvPr/>
        </p:nvSpPr>
        <p:spPr>
          <a:xfrm>
            <a:off x="3520440" y="4251960"/>
            <a:ext cx="2194560" cy="731520"/>
          </a:xfrm>
          <a:prstGeom prst="rect">
            <a:avLst/>
          </a:prstGeom>
          <a:noFill/>
        </p:spPr>
        <p:txBody>
          <a:bodyPr wrap="square" lIns="0" tIns="0" rIns="0" bIns="0" anchor="t">
            <a:spAutoFit/>
          </a:bodyPr>
          <a:lstStyle/>
          <a:p>
            <a:pPr algn="l"/>
            <a:r>
              <a:rPr sz="1100" b="0" i="0">
                <a:solidFill>
                  <a:srgbClr val="6B7282"/>
                </a:solidFill>
                <a:latin typeface="Calibri"/>
              </a:rPr>
              <a:t>Align on framework directionally. No commitments, no module changes.</a:t>
            </a:r>
          </a:p>
        </p:txBody>
      </p:sp>
      <p:sp>
        <p:nvSpPr>
          <p:cNvPr id="17" name="Rectangle 16"/>
          <p:cNvSpPr/>
          <p:nvPr/>
        </p:nvSpPr>
        <p:spPr>
          <a:xfrm>
            <a:off x="6126480" y="2468880"/>
            <a:ext cx="2651760" cy="2468880"/>
          </a:xfrm>
          <a:prstGeom prst="rect">
            <a:avLst/>
          </a:prstGeom>
          <a:solidFill>
            <a:srgbClr val="EFF3FA"/>
          </a:solidFill>
          <a:ln w="9525">
            <a:solidFill>
              <a:srgbClr val="6B72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55080" y="2651760"/>
            <a:ext cx="1554480" cy="292608"/>
          </a:xfrm>
          <a:prstGeom prst="rect">
            <a:avLst/>
          </a:prstGeom>
          <a:solidFill>
            <a:srgbClr val="6B7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651760"/>
            <a:ext cx="1554480" cy="292608"/>
          </a:xfrm>
          <a:prstGeom prst="rect">
            <a:avLst/>
          </a:prstGeom>
          <a:noFill/>
        </p:spPr>
        <p:txBody>
          <a:bodyPr wrap="square" lIns="0" tIns="0" rIns="0" bIns="0" anchor="ctr">
            <a:spAutoFit/>
          </a:bodyPr>
          <a:lstStyle/>
          <a:p>
            <a:pPr algn="ctr"/>
            <a:r>
              <a:rPr sz="900" b="1" i="0">
                <a:solidFill>
                  <a:srgbClr val="FFFFFF"/>
                </a:solidFill>
                <a:latin typeface="Calibri"/>
              </a:rPr>
              <a:t>AFTER ALIGNMENT</a:t>
            </a:r>
          </a:p>
        </p:txBody>
      </p:sp>
      <p:sp>
        <p:nvSpPr>
          <p:cNvPr id="20" name="TextBox 19"/>
          <p:cNvSpPr txBox="1"/>
          <p:nvPr/>
        </p:nvSpPr>
        <p:spPr>
          <a:xfrm>
            <a:off x="6355080" y="3108960"/>
            <a:ext cx="2286000" cy="548640"/>
          </a:xfrm>
          <a:prstGeom prst="rect">
            <a:avLst/>
          </a:prstGeom>
          <a:noFill/>
        </p:spPr>
        <p:txBody>
          <a:bodyPr wrap="square" lIns="0" tIns="0" rIns="0" bIns="0" anchor="t">
            <a:spAutoFit/>
          </a:bodyPr>
          <a:lstStyle/>
          <a:p>
            <a:pPr algn="l"/>
            <a:r>
              <a:rPr sz="4000" b="1" i="0">
                <a:solidFill>
                  <a:srgbClr val="6B7282"/>
                </a:solidFill>
                <a:latin typeface="Calibri"/>
              </a:rPr>
              <a:t>3</a:t>
            </a:r>
          </a:p>
        </p:txBody>
      </p:sp>
      <p:sp>
        <p:nvSpPr>
          <p:cNvPr id="21" name="TextBox 20"/>
          <p:cNvSpPr txBox="1"/>
          <p:nvPr/>
        </p:nvSpPr>
        <p:spPr>
          <a:xfrm>
            <a:off x="6355080" y="3794760"/>
            <a:ext cx="2194560" cy="457200"/>
          </a:xfrm>
          <a:prstGeom prst="rect">
            <a:avLst/>
          </a:prstGeom>
          <a:noFill/>
        </p:spPr>
        <p:txBody>
          <a:bodyPr wrap="square" lIns="0" tIns="0" rIns="0" bIns="0" anchor="t">
            <a:spAutoFit/>
          </a:bodyPr>
          <a:lstStyle/>
          <a:p>
            <a:pPr algn="l"/>
            <a:r>
              <a:rPr sz="1600" b="1" i="0">
                <a:solidFill>
                  <a:srgbClr val="1A233A"/>
                </a:solidFill>
                <a:latin typeface="Calibri"/>
              </a:rPr>
              <a:t>Pilot evidence package</a:t>
            </a:r>
          </a:p>
        </p:txBody>
      </p:sp>
      <p:sp>
        <p:nvSpPr>
          <p:cNvPr id="22" name="TextBox 21"/>
          <p:cNvSpPr txBox="1"/>
          <p:nvPr/>
        </p:nvSpPr>
        <p:spPr>
          <a:xfrm>
            <a:off x="6355080" y="4251960"/>
            <a:ext cx="2194560" cy="731520"/>
          </a:xfrm>
          <a:prstGeom prst="rect">
            <a:avLst/>
          </a:prstGeom>
          <a:noFill/>
        </p:spPr>
        <p:txBody>
          <a:bodyPr wrap="square" lIns="0" tIns="0" rIns="0" bIns="0" anchor="t">
            <a:spAutoFit/>
          </a:bodyPr>
          <a:lstStyle/>
          <a:p>
            <a:pPr algn="l"/>
            <a:r>
              <a:rPr sz="1100" b="0" i="0">
                <a:solidFill>
                  <a:srgbClr val="6B7282"/>
                </a:solidFill>
                <a:latin typeface="Calibri"/>
              </a:rPr>
              <a:t>One supplier, one treatment. Forester attestation + CoC for Isometric review.</a:t>
            </a:r>
          </a:p>
        </p:txBody>
      </p:sp>
      <p:sp>
        <p:nvSpPr>
          <p:cNvPr id="23" name="Rectangle 22"/>
          <p:cNvSpPr/>
          <p:nvPr/>
        </p:nvSpPr>
        <p:spPr>
          <a:xfrm>
            <a:off x="8961120" y="2468880"/>
            <a:ext cx="2651760" cy="2468880"/>
          </a:xfrm>
          <a:prstGeom prst="rect">
            <a:avLst/>
          </a:prstGeom>
          <a:solidFill>
            <a:srgbClr val="EFF3FA"/>
          </a:solidFill>
          <a:ln w="95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189720" y="2651760"/>
            <a:ext cx="1554480" cy="29260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89720" y="2651760"/>
            <a:ext cx="1554480" cy="292608"/>
          </a:xfrm>
          <a:prstGeom prst="rect">
            <a:avLst/>
          </a:prstGeom>
          <a:noFill/>
        </p:spPr>
        <p:txBody>
          <a:bodyPr wrap="square" lIns="0" tIns="0" rIns="0" bIns="0" anchor="ctr">
            <a:spAutoFit/>
          </a:bodyPr>
          <a:lstStyle/>
          <a:p>
            <a:pPr algn="ctr"/>
            <a:r>
              <a:rPr sz="900" b="1" i="0">
                <a:solidFill>
                  <a:srgbClr val="FFFFFF"/>
                </a:solidFill>
                <a:latin typeface="Calibri"/>
              </a:rPr>
              <a:t>OUTCOME</a:t>
            </a:r>
          </a:p>
        </p:txBody>
      </p:sp>
      <p:sp>
        <p:nvSpPr>
          <p:cNvPr id="26" name="TextBox 25"/>
          <p:cNvSpPr txBox="1"/>
          <p:nvPr/>
        </p:nvSpPr>
        <p:spPr>
          <a:xfrm>
            <a:off x="9189720" y="3108960"/>
            <a:ext cx="2286000" cy="548640"/>
          </a:xfrm>
          <a:prstGeom prst="rect">
            <a:avLst/>
          </a:prstGeom>
          <a:noFill/>
        </p:spPr>
        <p:txBody>
          <a:bodyPr wrap="square" lIns="0" tIns="0" rIns="0" bIns="0" anchor="t">
            <a:spAutoFit/>
          </a:bodyPr>
          <a:lstStyle/>
          <a:p>
            <a:pPr algn="l"/>
            <a:r>
              <a:rPr sz="4000" b="1" i="0">
                <a:solidFill>
                  <a:srgbClr val="2E8B57"/>
                </a:solidFill>
                <a:latin typeface="Calibri"/>
              </a:rPr>
              <a:t>4</a:t>
            </a:r>
          </a:p>
        </p:txBody>
      </p:sp>
      <p:sp>
        <p:nvSpPr>
          <p:cNvPr id="27" name="TextBox 26"/>
          <p:cNvSpPr txBox="1"/>
          <p:nvPr/>
        </p:nvSpPr>
        <p:spPr>
          <a:xfrm>
            <a:off x="9189720" y="3794760"/>
            <a:ext cx="2194560" cy="457200"/>
          </a:xfrm>
          <a:prstGeom prst="rect">
            <a:avLst/>
          </a:prstGeom>
          <a:noFill/>
        </p:spPr>
        <p:txBody>
          <a:bodyPr wrap="square" lIns="0" tIns="0" rIns="0" bIns="0" anchor="t">
            <a:spAutoFit/>
          </a:bodyPr>
          <a:lstStyle/>
          <a:p>
            <a:pPr algn="l"/>
            <a:r>
              <a:rPr sz="1600" b="1" i="0">
                <a:solidFill>
                  <a:srgbClr val="1A233A"/>
                </a:solidFill>
                <a:latin typeface="Calibri"/>
              </a:rPr>
              <a:t>Written confirmation</a:t>
            </a:r>
          </a:p>
        </p:txBody>
      </p:sp>
      <p:sp>
        <p:nvSpPr>
          <p:cNvPr id="28" name="TextBox 27"/>
          <p:cNvSpPr txBox="1"/>
          <p:nvPr/>
        </p:nvSpPr>
        <p:spPr>
          <a:xfrm>
            <a:off x="9189720" y="4251960"/>
            <a:ext cx="2194560" cy="731520"/>
          </a:xfrm>
          <a:prstGeom prst="rect">
            <a:avLst/>
          </a:prstGeom>
          <a:noFill/>
        </p:spPr>
        <p:txBody>
          <a:bodyPr wrap="square" lIns="0" tIns="0" rIns="0" bIns="0" anchor="t">
            <a:spAutoFit/>
          </a:bodyPr>
          <a:lstStyle/>
          <a:p>
            <a:pPr algn="l"/>
            <a:r>
              <a:rPr sz="1100" b="0" i="0">
                <a:solidFill>
                  <a:srgbClr val="6B7282"/>
                </a:solidFill>
                <a:latin typeface="Calibri"/>
              </a:rPr>
              <a:t>Template Charm reuses for every subsequent compliant project.</a:t>
            </a:r>
          </a:p>
        </p:txBody>
      </p:sp>
      <p:sp>
        <p:nvSpPr>
          <p:cNvPr id="29" name="TextBox 28"/>
          <p:cNvSpPr txBox="1"/>
          <p:nvPr/>
        </p:nvSpPr>
        <p:spPr>
          <a:xfrm>
            <a:off x="457200" y="5303520"/>
            <a:ext cx="11247120" cy="457200"/>
          </a:xfrm>
          <a:prstGeom prst="rect">
            <a:avLst/>
          </a:prstGeom>
          <a:noFill/>
        </p:spPr>
        <p:txBody>
          <a:bodyPr wrap="square" lIns="0" tIns="0" rIns="0" bIns="0" anchor="t">
            <a:spAutoFit/>
          </a:bodyPr>
          <a:lstStyle/>
          <a:p>
            <a:pPr algn="l"/>
            <a:r>
              <a:rPr sz="2000" b="1" i="0">
                <a:solidFill>
                  <a:srgbClr val="1A233A"/>
                </a:solidFill>
                <a:latin typeface="Calibri"/>
              </a:rPr>
              <a:t>MRV's job: turn new module language into operational reality.</a:t>
            </a:r>
          </a:p>
        </p:txBody>
      </p:sp>
      <p:sp>
        <p:nvSpPr>
          <p:cNvPr id="30" name="TextBox 29"/>
          <p:cNvSpPr txBox="1"/>
          <p:nvPr/>
        </p:nvSpPr>
        <p:spPr>
          <a:xfrm>
            <a:off x="457200" y="5852160"/>
            <a:ext cx="11247120" cy="457200"/>
          </a:xfrm>
          <a:prstGeom prst="rect">
            <a:avLst/>
          </a:prstGeom>
          <a:noFill/>
        </p:spPr>
        <p:txBody>
          <a:bodyPr wrap="square" lIns="0" tIns="0" rIns="0" bIns="0" anchor="t">
            <a:spAutoFit/>
          </a:bodyPr>
          <a:lstStyle/>
          <a:p>
            <a:pPr algn="l"/>
            <a:r>
              <a:rPr sz="1400" b="0" i="0">
                <a:solidFill>
                  <a:srgbClr val="6B7282"/>
                </a:solidFill>
                <a:latin typeface="Calibri"/>
              </a:rPr>
              <a:t>The output is a reusable template — every future compliant project files against the same evidence pattern.</a:t>
            </a:r>
          </a:p>
        </p:txBody>
      </p:sp>
      <p:sp>
        <p:nvSpPr>
          <p:cNvPr id="31" name="TextBox 30"/>
          <p:cNvSpPr txBox="1"/>
          <p:nvPr/>
        </p:nvSpPr>
        <p:spPr>
          <a:xfrm>
            <a:off x="457200" y="6446520"/>
            <a:ext cx="7315200" cy="274320"/>
          </a:xfrm>
          <a:prstGeom prst="rect">
            <a:avLst/>
          </a:prstGeom>
          <a:noFill/>
        </p:spPr>
        <p:txBody>
          <a:bodyPr wrap="square" lIns="0" tIns="0" rIns="0" bIns="0" anchor="t">
            <a:spAutoFit/>
          </a:bodyPr>
          <a:lstStyle/>
          <a:p>
            <a:pPr algn="l"/>
            <a:r>
              <a:rPr sz="1000" b="0" i="0">
                <a:solidFill>
                  <a:srgbClr val="6B7282"/>
                </a:solidFill>
                <a:latin typeface="Calibri"/>
              </a:rPr>
              <a:t>Forestry Brief — Why &amp; What</a:t>
            </a:r>
          </a:p>
        </p:txBody>
      </p:sp>
      <p:sp>
        <p:nvSpPr>
          <p:cNvPr id="32" name="TextBox 31"/>
          <p:cNvSpPr txBox="1"/>
          <p:nvPr/>
        </p:nvSpPr>
        <p:spPr>
          <a:xfrm>
            <a:off x="10972800" y="6446520"/>
            <a:ext cx="822960" cy="274320"/>
          </a:xfrm>
          <a:prstGeom prst="rect">
            <a:avLst/>
          </a:prstGeom>
          <a:noFill/>
        </p:spPr>
        <p:txBody>
          <a:bodyPr wrap="square" lIns="0" tIns="0" rIns="0" bIns="0" anchor="t">
            <a:spAutoFit/>
          </a:bodyPr>
          <a:lstStyle/>
          <a:p>
            <a:pPr algn="r"/>
            <a:r>
              <a:rPr sz="1000" b="0" i="0">
                <a:solidFill>
                  <a:srgbClr val="6B7282"/>
                </a:solidFill>
                <a:latin typeface="Calibri"/>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TotalTime>
  <Words>1489</Words>
  <Application>Microsoft Macintosh PowerPoint</Application>
  <PresentationFormat>Widescreen</PresentationFormat>
  <Paragraphs>120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Max Bernard Lavine</cp:lastModifiedBy>
  <cp:revision>2</cp:revision>
  <dcterms:created xsi:type="dcterms:W3CDTF">2013-01-27T09:14:16Z</dcterms:created>
  <dcterms:modified xsi:type="dcterms:W3CDTF">2026-05-13T19:18:12Z</dcterms:modified>
  <cp:category/>
</cp:coreProperties>
</file>