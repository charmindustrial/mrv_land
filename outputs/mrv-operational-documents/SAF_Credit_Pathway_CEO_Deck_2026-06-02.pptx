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6"/>
  </p:normalViewPr>
  <p:slideViewPr>
    <p:cSldViewPr snapToGrid="0" snapToObjects="1">
      <p:cViewPr varScale="1">
        <p:scale>
          <a:sx n="114" d="100"/>
          <a:sy n="114" d="100"/>
        </p:scale>
        <p:origin x="496"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endParaRPr/>
          </a:p>
        </p:txBody>
      </p:sp>
      <p:sp>
        <p:nvSpPr>
          <p:cNvPr id="3" name="TextBox 2"/>
          <p:cNvSpPr txBox="1"/>
          <p:nvPr/>
        </p:nvSpPr>
        <p:spPr>
          <a:xfrm>
            <a:off x="914400" y="1463040"/>
            <a:ext cx="10360152" cy="1280160"/>
          </a:xfrm>
          <a:prstGeom prst="rect">
            <a:avLst/>
          </a:prstGeom>
          <a:noFill/>
        </p:spPr>
        <p:txBody>
          <a:bodyPr wrap="square">
            <a:spAutoFit/>
          </a:bodyPr>
          <a:lstStyle/>
          <a:p>
            <a:pPr algn="ctr"/>
            <a:r>
              <a:rPr sz="4800" b="1" i="0">
                <a:solidFill>
                  <a:srgbClr val="FFFFFF"/>
                </a:solidFill>
                <a:latin typeface="Calibri"/>
              </a:rPr>
              <a:t>SAF Credit Generation</a:t>
            </a:r>
          </a:p>
        </p:txBody>
      </p:sp>
      <p:sp>
        <p:nvSpPr>
          <p:cNvPr id="4" name="TextBox 3"/>
          <p:cNvSpPr txBox="1"/>
          <p:nvPr/>
        </p:nvSpPr>
        <p:spPr>
          <a:xfrm>
            <a:off x="914400" y="2743200"/>
            <a:ext cx="10360152" cy="822960"/>
          </a:xfrm>
          <a:prstGeom prst="rect">
            <a:avLst/>
          </a:prstGeom>
          <a:noFill/>
        </p:spPr>
        <p:txBody>
          <a:bodyPr wrap="square">
            <a:spAutoFit/>
          </a:bodyPr>
          <a:lstStyle/>
          <a:p>
            <a:pPr algn="ctr"/>
            <a:r>
              <a:rPr sz="2800" b="0" i="0">
                <a:solidFill>
                  <a:srgbClr val="DCE6F1"/>
                </a:solidFill>
                <a:latin typeface="Calibri"/>
              </a:rPr>
              <a:t>Pathway Analysis and Recommendation</a:t>
            </a:r>
          </a:p>
        </p:txBody>
      </p:sp>
      <p:sp>
        <p:nvSpPr>
          <p:cNvPr id="5" name="TextBox 4"/>
          <p:cNvSpPr txBox="1"/>
          <p:nvPr/>
        </p:nvSpPr>
        <p:spPr>
          <a:xfrm>
            <a:off x="914400" y="4160520"/>
            <a:ext cx="10360152" cy="457200"/>
          </a:xfrm>
          <a:prstGeom prst="rect">
            <a:avLst/>
          </a:prstGeom>
          <a:noFill/>
        </p:spPr>
        <p:txBody>
          <a:bodyPr wrap="square">
            <a:spAutoFit/>
          </a:bodyPr>
          <a:lstStyle/>
          <a:p>
            <a:pPr algn="ctr"/>
            <a:r>
              <a:rPr sz="1500" b="0" i="1">
                <a:solidFill>
                  <a:srgbClr val="DCE6F1"/>
                </a:solidFill>
                <a:latin typeface="Calibri"/>
              </a:rPr>
              <a:t>Charm Industrial   |   Internal   |   June 2,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endParaRPr/>
          </a:p>
        </p:txBody>
      </p:sp>
      <p:sp>
        <p:nvSpPr>
          <p:cNvPr id="3" name="TextBox 2"/>
          <p:cNvSpPr txBox="1"/>
          <p:nvPr/>
        </p:nvSpPr>
        <p:spPr>
          <a:xfrm>
            <a:off x="320040" y="91440"/>
            <a:ext cx="11521440" cy="621792"/>
          </a:xfrm>
          <a:prstGeom prst="rect">
            <a:avLst/>
          </a:prstGeom>
          <a:noFill/>
        </p:spPr>
        <p:txBody>
          <a:bodyPr wrap="square">
            <a:spAutoFit/>
          </a:bodyPr>
          <a:lstStyle/>
          <a:p>
            <a:pPr algn="l"/>
            <a:r>
              <a:rPr sz="2400" b="1" i="0">
                <a:solidFill>
                  <a:srgbClr val="FFFFFF"/>
                </a:solidFill>
                <a:latin typeface="Calibri"/>
              </a:rPr>
              <a:t>The Opportunity</a:t>
            </a:r>
          </a:p>
        </p:txBody>
      </p:sp>
      <p:sp>
        <p:nvSpPr>
          <p:cNvPr id="4" name="TextBox 3"/>
          <p:cNvSpPr txBox="1"/>
          <p:nvPr/>
        </p:nvSpPr>
        <p:spPr>
          <a:xfrm>
            <a:off x="320040" y="1097280"/>
            <a:ext cx="11521440" cy="594360"/>
          </a:xfrm>
          <a:prstGeom prst="rect">
            <a:avLst/>
          </a:prstGeom>
          <a:noFill/>
        </p:spPr>
        <p:txBody>
          <a:bodyPr wrap="square">
            <a:spAutoFit/>
          </a:bodyPr>
          <a:lstStyle/>
          <a:p>
            <a:pPr algn="l"/>
            <a:r>
              <a:rPr sz="1400" b="0" i="0">
                <a:solidFill>
                  <a:srgbClr val="202020"/>
                </a:solidFill>
                <a:latin typeface="Calibri"/>
              </a:rPr>
              <a:t>Charm's bio-oil qualifies as a SAF feedstock at an FCC refinery, creating an opportunity to generate SAF credits alongside CDR credits from the same production process.</a:t>
            </a:r>
          </a:p>
        </p:txBody>
      </p:sp>
      <p:sp>
        <p:nvSpPr>
          <p:cNvPr id="5" name="Rectangle 4"/>
          <p:cNvSpPr/>
          <p:nvPr/>
        </p:nvSpPr>
        <p:spPr>
          <a:xfrm>
            <a:off x="320040" y="1920240"/>
            <a:ext cx="3749039" cy="41148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1">
                <a:solidFill>
                  <a:srgbClr val="FFFFFF"/>
                </a:solidFill>
                <a:latin typeface="Calibri"/>
              </a:rPr>
              <a:t>What we have</a:t>
            </a:r>
          </a:p>
        </p:txBody>
      </p:sp>
      <p:sp>
        <p:nvSpPr>
          <p:cNvPr id="6" name="Rectangle 5"/>
          <p:cNvSpPr/>
          <p:nvPr/>
        </p:nvSpPr>
        <p:spPr>
          <a:xfrm>
            <a:off x="320040" y="2331720"/>
            <a:ext cx="3749039" cy="118872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202020"/>
                </a:solidFill>
                <a:latin typeface="Calibri"/>
              </a:rPr>
              <a:t>Bio-oil with Isometric-validated Cradle-to-Gate CI and established upstream methodology</a:t>
            </a:r>
          </a:p>
        </p:txBody>
      </p:sp>
      <p:sp>
        <p:nvSpPr>
          <p:cNvPr id="7" name="Rectangle 6"/>
          <p:cNvSpPr/>
          <p:nvPr/>
        </p:nvSpPr>
        <p:spPr>
          <a:xfrm>
            <a:off x="4297679" y="1920240"/>
            <a:ext cx="3749039" cy="41148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1">
                <a:solidFill>
                  <a:srgbClr val="FFFFFF"/>
                </a:solidFill>
                <a:latin typeface="Calibri"/>
              </a:rPr>
              <a:t>What we want</a:t>
            </a:r>
          </a:p>
        </p:txBody>
      </p:sp>
      <p:sp>
        <p:nvSpPr>
          <p:cNvPr id="8" name="Rectangle 7"/>
          <p:cNvSpPr/>
          <p:nvPr/>
        </p:nvSpPr>
        <p:spPr>
          <a:xfrm>
            <a:off x="4297679" y="2331720"/>
            <a:ext cx="3749039" cy="1188720"/>
          </a:xfrm>
          <a:prstGeom prst="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202020"/>
                </a:solidFill>
                <a:latin typeface="Calibri"/>
              </a:rPr>
              <a:t>SAF credits for bio-oil used as refinery feedstock, with free biogenic allocation to SAF output</a:t>
            </a:r>
          </a:p>
        </p:txBody>
      </p:sp>
      <p:sp>
        <p:nvSpPr>
          <p:cNvPr id="9" name="Rectangle 8"/>
          <p:cNvSpPr/>
          <p:nvPr/>
        </p:nvSpPr>
        <p:spPr>
          <a:xfrm>
            <a:off x="8275319" y="1920240"/>
            <a:ext cx="3749039" cy="41148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1">
                <a:solidFill>
                  <a:srgbClr val="FFFFFF"/>
                </a:solidFill>
                <a:latin typeface="Calibri"/>
              </a:rPr>
              <a:t>The question</a:t>
            </a:r>
          </a:p>
        </p:txBody>
      </p:sp>
      <p:sp>
        <p:nvSpPr>
          <p:cNvPr id="10" name="Rectangle 9"/>
          <p:cNvSpPr/>
          <p:nvPr/>
        </p:nvSpPr>
        <p:spPr>
          <a:xfrm>
            <a:off x="8275319" y="2331720"/>
            <a:ext cx="3749039" cy="1188720"/>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202020"/>
                </a:solidFill>
                <a:latin typeface="Calibri"/>
              </a:rPr>
              <a:t>Which accounting pathway within the SFC MBM framework is viable for Charm?</a:t>
            </a:r>
          </a:p>
        </p:txBody>
      </p:sp>
      <p:sp>
        <p:nvSpPr>
          <p:cNvPr id="11" name="TextBox 10"/>
          <p:cNvSpPr txBox="1"/>
          <p:nvPr/>
        </p:nvSpPr>
        <p:spPr>
          <a:xfrm>
            <a:off x="320040" y="3749039"/>
            <a:ext cx="11521440" cy="777240"/>
          </a:xfrm>
          <a:prstGeom prst="rect">
            <a:avLst/>
          </a:prstGeom>
          <a:noFill/>
        </p:spPr>
        <p:txBody>
          <a:bodyPr wrap="square">
            <a:spAutoFit/>
          </a:bodyPr>
          <a:lstStyle/>
          <a:p>
            <a:pPr algn="l"/>
            <a:r>
              <a:rPr sz="1300" b="0" i="1">
                <a:solidFill>
                  <a:srgbClr val="707070"/>
                </a:solidFill>
                <a:latin typeface="Calibri"/>
              </a:rPr>
              <a:t>SFC MBM (SFC-SPEC-001) is the governing framework and 123 Carbon is the registry. SFC MBM names two certified pathways (ISCC, RSB) and includes a non-certified methodology track with specific criteria. All three were evaluated.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endParaRPr/>
          </a:p>
        </p:txBody>
      </p:sp>
      <p:sp>
        <p:nvSpPr>
          <p:cNvPr id="3" name="TextBox 2"/>
          <p:cNvSpPr txBox="1"/>
          <p:nvPr/>
        </p:nvSpPr>
        <p:spPr>
          <a:xfrm>
            <a:off x="320040" y="91440"/>
            <a:ext cx="11521440" cy="621792"/>
          </a:xfrm>
          <a:prstGeom prst="rect">
            <a:avLst/>
          </a:prstGeom>
          <a:noFill/>
        </p:spPr>
        <p:txBody>
          <a:bodyPr wrap="square">
            <a:spAutoFit/>
          </a:bodyPr>
          <a:lstStyle/>
          <a:p>
            <a:pPr algn="l"/>
            <a:r>
              <a:rPr sz="2400" b="1" i="0">
                <a:solidFill>
                  <a:srgbClr val="FFFFFF"/>
                </a:solidFill>
                <a:latin typeface="Calibri"/>
              </a:rPr>
              <a:t>The Framework: SFC MBM + 123 Carbon</a:t>
            </a:r>
          </a:p>
        </p:txBody>
      </p:sp>
      <p:sp>
        <p:nvSpPr>
          <p:cNvPr id="4" name="TextBox 3"/>
          <p:cNvSpPr txBox="1"/>
          <p:nvPr/>
        </p:nvSpPr>
        <p:spPr>
          <a:xfrm>
            <a:off x="320040" y="1051560"/>
            <a:ext cx="11521440" cy="548640"/>
          </a:xfrm>
          <a:prstGeom prst="rect">
            <a:avLst/>
          </a:prstGeom>
          <a:noFill/>
        </p:spPr>
        <p:txBody>
          <a:bodyPr wrap="square">
            <a:spAutoFit/>
          </a:bodyPr>
          <a:lstStyle/>
          <a:p>
            <a:pPr algn="l"/>
            <a:r>
              <a:rPr sz="1400" b="0" i="0">
                <a:solidFill>
                  <a:srgbClr val="202020"/>
                </a:solidFill>
                <a:latin typeface="Calibri"/>
              </a:rPr>
              <a:t>SFC-SPEC-001 (SFC MBM) is the standard under which SAF credits will be generated and registered. 123 Carbon is the registry. All viable credit pathways operate within this framework.</a:t>
            </a:r>
          </a:p>
        </p:txBody>
      </p:sp>
      <p:sp>
        <p:nvSpPr>
          <p:cNvPr id="5" name="Rectangle 4"/>
          <p:cNvSpPr/>
          <p:nvPr/>
        </p:nvSpPr>
        <p:spPr>
          <a:xfrm>
            <a:off x="320040" y="1737360"/>
            <a:ext cx="11521440" cy="38404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a:solidFill>
                  <a:srgbClr val="FFFFFF"/>
                </a:solidFill>
                <a:latin typeface="Calibri"/>
              </a:rPr>
              <a:t>Three pathways exist within SFC MBM:</a:t>
            </a:r>
          </a:p>
        </p:txBody>
      </p:sp>
      <p:sp>
        <p:nvSpPr>
          <p:cNvPr id="6" name="Rectangle 5"/>
          <p:cNvSpPr/>
          <p:nvPr/>
        </p:nvSpPr>
        <p:spPr>
          <a:xfrm>
            <a:off x="320040" y="2240280"/>
            <a:ext cx="2286000"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Named: ISCC Certification</a:t>
            </a:r>
          </a:p>
        </p:txBody>
      </p:sp>
      <p:sp>
        <p:nvSpPr>
          <p:cNvPr id="7" name="Rectangle 6"/>
          <p:cNvSpPr/>
          <p:nvPr/>
        </p:nvSpPr>
        <p:spPr>
          <a:xfrm>
            <a:off x="2651760" y="2240280"/>
            <a:ext cx="7772400" cy="1188720"/>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a:solidFill>
                  <a:srgbClr val="202020"/>
                </a:solidFill>
                <a:latin typeface="Calibri"/>
              </a:rPr>
              <a:t>ISCC certification satisfies SFC MBM requirements and guarantees 123C acceptance. Practical friction at Steps 4, 1, and 6 makes this operationally difficult.</a:t>
            </a:r>
          </a:p>
        </p:txBody>
      </p:sp>
      <p:sp>
        <p:nvSpPr>
          <p:cNvPr id="8" name="Rectangle 7"/>
          <p:cNvSpPr/>
          <p:nvPr/>
        </p:nvSpPr>
        <p:spPr>
          <a:xfrm>
            <a:off x="10469880" y="2240280"/>
            <a:ext cx="1371600" cy="1188720"/>
          </a:xfrm>
          <a:prstGeom prst="rect">
            <a:avLst/>
          </a:prstGeom>
          <a:solidFill>
            <a:srgbClr val="BF86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Calibri"/>
              </a:rPr>
              <a:t>High friction</a:t>
            </a:r>
          </a:p>
        </p:txBody>
      </p:sp>
      <p:sp>
        <p:nvSpPr>
          <p:cNvPr id="9" name="Rectangle 8"/>
          <p:cNvSpPr/>
          <p:nvPr/>
        </p:nvSpPr>
        <p:spPr>
          <a:xfrm>
            <a:off x="320040" y="3657600"/>
            <a:ext cx="2286000"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Named: RSB Certification</a:t>
            </a:r>
          </a:p>
        </p:txBody>
      </p:sp>
      <p:sp>
        <p:nvSpPr>
          <p:cNvPr id="10" name="Rectangle 9"/>
          <p:cNvSpPr/>
          <p:nvPr/>
        </p:nvSpPr>
        <p:spPr>
          <a:xfrm>
            <a:off x="2651760" y="3657600"/>
            <a:ext cx="7772400" cy="1188720"/>
          </a:xfrm>
          <a:prstGeom prst="rect">
            <a:avLst/>
          </a:prstGeom>
          <a:solidFill>
            <a:srgbClr val="FFD5D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a:solidFill>
                  <a:srgbClr val="202020"/>
                </a:solidFill>
                <a:latin typeface="Calibri"/>
              </a:rPr>
              <a:t>RSB certification satisfies SFC MBM requirements and guarantees 123C acceptance. GHG savings threshold fails at current bio-oil CI.</a:t>
            </a:r>
          </a:p>
        </p:txBody>
      </p:sp>
      <p:sp>
        <p:nvSpPr>
          <p:cNvPr id="11" name="Rectangle 10"/>
          <p:cNvSpPr/>
          <p:nvPr/>
        </p:nvSpPr>
        <p:spPr>
          <a:xfrm>
            <a:off x="10469880" y="3657600"/>
            <a:ext cx="1371600" cy="11887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Calibri"/>
              </a:rPr>
              <a:t>Fails GHG threshold</a:t>
            </a:r>
          </a:p>
        </p:txBody>
      </p:sp>
      <p:sp>
        <p:nvSpPr>
          <p:cNvPr id="12" name="Rectangle 11"/>
          <p:cNvSpPr/>
          <p:nvPr/>
        </p:nvSpPr>
        <p:spPr>
          <a:xfrm>
            <a:off x="320040" y="5074920"/>
            <a:ext cx="2286000"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Non-Certified Methodology</a:t>
            </a:r>
          </a:p>
        </p:txBody>
      </p:sp>
      <p:sp>
        <p:nvSpPr>
          <p:cNvPr id="13" name="Rectangle 12"/>
          <p:cNvSpPr/>
          <p:nvPr/>
        </p:nvSpPr>
        <p:spPr>
          <a:xfrm>
            <a:off x="2651760" y="5074920"/>
            <a:ext cx="7772400" cy="1188720"/>
          </a:xfrm>
          <a:prstGeom prst="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a:solidFill>
                  <a:srgbClr val="202020"/>
                </a:solidFill>
                <a:latin typeface="Calibri"/>
              </a:rPr>
              <a:t>SFC MBM includes a provision for non-certified methodologies meeting specific criteria. Criteria must first be clarified by 123C / SFC before methodology development can begin.</a:t>
            </a:r>
          </a:p>
        </p:txBody>
      </p:sp>
      <p:sp>
        <p:nvSpPr>
          <p:cNvPr id="14" name="Rectangle 13"/>
          <p:cNvSpPr/>
          <p:nvPr/>
        </p:nvSpPr>
        <p:spPr>
          <a:xfrm>
            <a:off x="10469880" y="5074920"/>
            <a:ext cx="1371600" cy="1188720"/>
          </a:xfrm>
          <a:prstGeom prst="rect">
            <a:avLst/>
          </a:prstGeom>
          <a:solidFill>
            <a:srgbClr val="175C2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Calibri"/>
              </a:rPr>
              <a:t>Recommended</a:t>
            </a:r>
          </a:p>
        </p:txBody>
      </p:sp>
      <p:sp>
        <p:nvSpPr>
          <p:cNvPr id="15" name="TextBox 14"/>
          <p:cNvSpPr txBox="1"/>
          <p:nvPr/>
        </p:nvSpPr>
        <p:spPr>
          <a:xfrm>
            <a:off x="320040" y="6492240"/>
            <a:ext cx="11521440" cy="292608"/>
          </a:xfrm>
          <a:prstGeom prst="rect">
            <a:avLst/>
          </a:prstGeom>
          <a:noFill/>
        </p:spPr>
        <p:txBody>
          <a:bodyPr wrap="square">
            <a:spAutoFit/>
          </a:bodyPr>
          <a:lstStyle/>
          <a:p>
            <a:pPr algn="l"/>
            <a:r>
              <a:rPr sz="1000" b="0" i="1">
                <a:solidFill>
                  <a:srgbClr val="707070"/>
                </a:solidFill>
                <a:latin typeface="Calibri"/>
              </a:rPr>
              <a:t>Full SCE (no framework, Charm manages registry internally) is evaluated separately as the least desirable alternative.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endParaRPr/>
          </a:p>
        </p:txBody>
      </p:sp>
      <p:sp>
        <p:nvSpPr>
          <p:cNvPr id="3" name="TextBox 2"/>
          <p:cNvSpPr txBox="1"/>
          <p:nvPr/>
        </p:nvSpPr>
        <p:spPr>
          <a:xfrm>
            <a:off x="320040" y="91440"/>
            <a:ext cx="11521440" cy="621792"/>
          </a:xfrm>
          <a:prstGeom prst="rect">
            <a:avLst/>
          </a:prstGeom>
          <a:noFill/>
        </p:spPr>
        <p:txBody>
          <a:bodyPr wrap="square">
            <a:spAutoFit/>
          </a:bodyPr>
          <a:lstStyle/>
          <a:p>
            <a:pPr algn="l"/>
            <a:r>
              <a:rPr sz="2400" b="1" i="0">
                <a:solidFill>
                  <a:srgbClr val="FFFFFF"/>
                </a:solidFill>
                <a:latin typeface="Calibri"/>
              </a:rPr>
              <a:t>The 14-Step Production System</a:t>
            </a:r>
          </a:p>
        </p:txBody>
      </p:sp>
      <p:sp>
        <p:nvSpPr>
          <p:cNvPr id="4" name="Rectangle 3"/>
          <p:cNvSpPr/>
          <p:nvPr/>
        </p:nvSpPr>
        <p:spPr>
          <a:xfrm>
            <a:off x="320040" y="1051560"/>
            <a:ext cx="457200"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1</a:t>
            </a:r>
          </a:p>
        </p:txBody>
      </p:sp>
      <p:sp>
        <p:nvSpPr>
          <p:cNvPr id="5" name="Rectangle 4"/>
          <p:cNvSpPr/>
          <p:nvPr/>
        </p:nvSpPr>
        <p:spPr>
          <a:xfrm>
            <a:off x="822960" y="1051560"/>
            <a:ext cx="5303520" cy="658368"/>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202020"/>
                </a:solidFill>
                <a:latin typeface="Calibri"/>
              </a:rPr>
              <a:t>Biomass sourcing and collection</a:t>
            </a:r>
          </a:p>
        </p:txBody>
      </p:sp>
      <p:sp>
        <p:nvSpPr>
          <p:cNvPr id="6" name="Rectangle 5"/>
          <p:cNvSpPr/>
          <p:nvPr/>
        </p:nvSpPr>
        <p:spPr>
          <a:xfrm>
            <a:off x="320040" y="1828800"/>
            <a:ext cx="457200"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2</a:t>
            </a:r>
          </a:p>
        </p:txBody>
      </p:sp>
      <p:sp>
        <p:nvSpPr>
          <p:cNvPr id="7" name="Rectangle 6"/>
          <p:cNvSpPr/>
          <p:nvPr/>
        </p:nvSpPr>
        <p:spPr>
          <a:xfrm>
            <a:off x="822960" y="1828800"/>
            <a:ext cx="5303520" cy="658368"/>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202020"/>
                </a:solidFill>
                <a:latin typeface="Calibri"/>
              </a:rPr>
              <a:t>Biomass transport to conversion site</a:t>
            </a:r>
          </a:p>
        </p:txBody>
      </p:sp>
      <p:sp>
        <p:nvSpPr>
          <p:cNvPr id="8" name="Rectangle 7"/>
          <p:cNvSpPr/>
          <p:nvPr/>
        </p:nvSpPr>
        <p:spPr>
          <a:xfrm>
            <a:off x="320040" y="2606039"/>
            <a:ext cx="457200"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3</a:t>
            </a:r>
          </a:p>
        </p:txBody>
      </p:sp>
      <p:sp>
        <p:nvSpPr>
          <p:cNvPr id="9" name="Rectangle 8"/>
          <p:cNvSpPr/>
          <p:nvPr/>
        </p:nvSpPr>
        <p:spPr>
          <a:xfrm>
            <a:off x="822960" y="2606039"/>
            <a:ext cx="5303520" cy="658368"/>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202020"/>
                </a:solidFill>
                <a:latin typeface="Calibri"/>
              </a:rPr>
              <a:t>Biomass conversion (pyrolysis)</a:t>
            </a:r>
          </a:p>
        </p:txBody>
      </p:sp>
      <p:sp>
        <p:nvSpPr>
          <p:cNvPr id="10" name="Rectangle 9"/>
          <p:cNvSpPr/>
          <p:nvPr/>
        </p:nvSpPr>
        <p:spPr>
          <a:xfrm>
            <a:off x="320040" y="3383279"/>
            <a:ext cx="457200"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4</a:t>
            </a:r>
          </a:p>
        </p:txBody>
      </p:sp>
      <p:sp>
        <p:nvSpPr>
          <p:cNvPr id="11" name="Rectangle 10"/>
          <p:cNvSpPr/>
          <p:nvPr/>
        </p:nvSpPr>
        <p:spPr>
          <a:xfrm>
            <a:off x="822960" y="3383279"/>
            <a:ext cx="5303520" cy="658368"/>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202020"/>
                </a:solidFill>
                <a:latin typeface="Calibri"/>
              </a:rPr>
              <a:t>Allocation of tree-to-gate emissions to co-products</a:t>
            </a:r>
          </a:p>
        </p:txBody>
      </p:sp>
      <p:sp>
        <p:nvSpPr>
          <p:cNvPr id="12" name="Rectangle 11"/>
          <p:cNvSpPr/>
          <p:nvPr/>
        </p:nvSpPr>
        <p:spPr>
          <a:xfrm>
            <a:off x="320040" y="4160520"/>
            <a:ext cx="457200"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5</a:t>
            </a:r>
          </a:p>
        </p:txBody>
      </p:sp>
      <p:sp>
        <p:nvSpPr>
          <p:cNvPr id="13" name="Rectangle 12"/>
          <p:cNvSpPr/>
          <p:nvPr/>
        </p:nvSpPr>
        <p:spPr>
          <a:xfrm>
            <a:off x="822960" y="4160520"/>
            <a:ext cx="5303520" cy="658368"/>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202020"/>
                </a:solidFill>
                <a:latin typeface="Calibri"/>
              </a:rPr>
              <a:t>Transport of bio-oil to refinery</a:t>
            </a:r>
          </a:p>
        </p:txBody>
      </p:sp>
      <p:sp>
        <p:nvSpPr>
          <p:cNvPr id="14" name="Rectangle 13"/>
          <p:cNvSpPr/>
          <p:nvPr/>
        </p:nvSpPr>
        <p:spPr>
          <a:xfrm>
            <a:off x="320040" y="4937760"/>
            <a:ext cx="457200"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6</a:t>
            </a:r>
          </a:p>
        </p:txBody>
      </p:sp>
      <p:sp>
        <p:nvSpPr>
          <p:cNvPr id="15" name="Rectangle 14"/>
          <p:cNvSpPr/>
          <p:nvPr/>
        </p:nvSpPr>
        <p:spPr>
          <a:xfrm>
            <a:off x="822960" y="4937760"/>
            <a:ext cx="5303520" cy="658368"/>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202020"/>
                </a:solidFill>
                <a:latin typeface="Calibri"/>
              </a:rPr>
              <a:t>Refinery co-processing into fuel co-products</a:t>
            </a:r>
          </a:p>
        </p:txBody>
      </p:sp>
      <p:sp>
        <p:nvSpPr>
          <p:cNvPr id="16" name="Rectangle 15"/>
          <p:cNvSpPr/>
          <p:nvPr/>
        </p:nvSpPr>
        <p:spPr>
          <a:xfrm>
            <a:off x="320040" y="5715000"/>
            <a:ext cx="457200"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7</a:t>
            </a:r>
          </a:p>
        </p:txBody>
      </p:sp>
      <p:sp>
        <p:nvSpPr>
          <p:cNvPr id="17" name="Rectangle 16"/>
          <p:cNvSpPr/>
          <p:nvPr/>
        </p:nvSpPr>
        <p:spPr>
          <a:xfrm>
            <a:off x="822960" y="5715000"/>
            <a:ext cx="5303520" cy="658368"/>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202020"/>
                </a:solidFill>
                <a:latin typeface="Calibri"/>
              </a:rPr>
              <a:t>Allocation of marginal refinery emissions to co-products</a:t>
            </a:r>
          </a:p>
        </p:txBody>
      </p:sp>
      <p:sp>
        <p:nvSpPr>
          <p:cNvPr id="18" name="Rectangle 17"/>
          <p:cNvSpPr/>
          <p:nvPr/>
        </p:nvSpPr>
        <p:spPr>
          <a:xfrm>
            <a:off x="6355079" y="1051560"/>
            <a:ext cx="457200"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8</a:t>
            </a:r>
          </a:p>
        </p:txBody>
      </p:sp>
      <p:sp>
        <p:nvSpPr>
          <p:cNvPr id="19" name="Rectangle 18"/>
          <p:cNvSpPr/>
          <p:nvPr/>
        </p:nvSpPr>
        <p:spPr>
          <a:xfrm>
            <a:off x="6857999" y="1051560"/>
            <a:ext cx="5303520" cy="658368"/>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202020"/>
                </a:solidFill>
                <a:latin typeface="Calibri"/>
              </a:rPr>
              <a:t>Allocation of biogenic carbon credit to fuel co-products</a:t>
            </a:r>
          </a:p>
        </p:txBody>
      </p:sp>
      <p:sp>
        <p:nvSpPr>
          <p:cNvPr id="20" name="Rectangle 19"/>
          <p:cNvSpPr/>
          <p:nvPr/>
        </p:nvSpPr>
        <p:spPr>
          <a:xfrm>
            <a:off x="6355079" y="1828800"/>
            <a:ext cx="457200"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9</a:t>
            </a:r>
          </a:p>
        </p:txBody>
      </p:sp>
      <p:sp>
        <p:nvSpPr>
          <p:cNvPr id="21" name="Rectangle 20"/>
          <p:cNvSpPr/>
          <p:nvPr/>
        </p:nvSpPr>
        <p:spPr>
          <a:xfrm>
            <a:off x="6857999" y="1828800"/>
            <a:ext cx="5303520" cy="658368"/>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202020"/>
                </a:solidFill>
                <a:latin typeface="Calibri"/>
              </a:rPr>
              <a:t>Transport of fuel(s) to blend point</a:t>
            </a:r>
          </a:p>
        </p:txBody>
      </p:sp>
      <p:sp>
        <p:nvSpPr>
          <p:cNvPr id="22" name="Rectangle 21"/>
          <p:cNvSpPr/>
          <p:nvPr/>
        </p:nvSpPr>
        <p:spPr>
          <a:xfrm>
            <a:off x="6355079" y="2606039"/>
            <a:ext cx="457200"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10</a:t>
            </a:r>
          </a:p>
        </p:txBody>
      </p:sp>
      <p:sp>
        <p:nvSpPr>
          <p:cNvPr id="23" name="Rectangle 22"/>
          <p:cNvSpPr/>
          <p:nvPr/>
        </p:nvSpPr>
        <p:spPr>
          <a:xfrm>
            <a:off x="6857999" y="2606039"/>
            <a:ext cx="5303520" cy="658368"/>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202020"/>
                </a:solidFill>
                <a:latin typeface="Calibri"/>
              </a:rPr>
              <a:t>Quantification of tree-to-wheel CI</a:t>
            </a:r>
          </a:p>
        </p:txBody>
      </p:sp>
      <p:sp>
        <p:nvSpPr>
          <p:cNvPr id="24" name="Rectangle 23"/>
          <p:cNvSpPr/>
          <p:nvPr/>
        </p:nvSpPr>
        <p:spPr>
          <a:xfrm>
            <a:off x="6355079" y="3383279"/>
            <a:ext cx="457200"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11</a:t>
            </a:r>
          </a:p>
        </p:txBody>
      </p:sp>
      <p:sp>
        <p:nvSpPr>
          <p:cNvPr id="25" name="Rectangle 24"/>
          <p:cNvSpPr/>
          <p:nvPr/>
        </p:nvSpPr>
        <p:spPr>
          <a:xfrm>
            <a:off x="6857999" y="3383279"/>
            <a:ext cx="5303520" cy="658368"/>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202020"/>
                </a:solidFill>
                <a:latin typeface="Calibri"/>
              </a:rPr>
              <a:t>Quantification of GHG reductions vs. fossil fuel baseline</a:t>
            </a:r>
          </a:p>
        </p:txBody>
      </p:sp>
      <p:sp>
        <p:nvSpPr>
          <p:cNvPr id="26" name="Rectangle 25"/>
          <p:cNvSpPr/>
          <p:nvPr/>
        </p:nvSpPr>
        <p:spPr>
          <a:xfrm>
            <a:off x="6355079" y="4160520"/>
            <a:ext cx="457200"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12</a:t>
            </a:r>
          </a:p>
        </p:txBody>
      </p:sp>
      <p:sp>
        <p:nvSpPr>
          <p:cNvPr id="27" name="Rectangle 26"/>
          <p:cNvSpPr/>
          <p:nvPr/>
        </p:nvSpPr>
        <p:spPr>
          <a:xfrm>
            <a:off x="6857999" y="4160520"/>
            <a:ext cx="5303520" cy="658368"/>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202020"/>
                </a:solidFill>
                <a:latin typeface="Calibri"/>
              </a:rPr>
              <a:t>Verification of quantified reductions</a:t>
            </a:r>
          </a:p>
        </p:txBody>
      </p:sp>
      <p:sp>
        <p:nvSpPr>
          <p:cNvPr id="28" name="Rectangle 27"/>
          <p:cNvSpPr/>
          <p:nvPr/>
        </p:nvSpPr>
        <p:spPr>
          <a:xfrm>
            <a:off x="6355079" y="4937760"/>
            <a:ext cx="457200"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13</a:t>
            </a:r>
          </a:p>
        </p:txBody>
      </p:sp>
      <p:sp>
        <p:nvSpPr>
          <p:cNvPr id="29" name="Rectangle 28"/>
          <p:cNvSpPr/>
          <p:nvPr/>
        </p:nvSpPr>
        <p:spPr>
          <a:xfrm>
            <a:off x="6857999" y="4937760"/>
            <a:ext cx="5303520" cy="658368"/>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202020"/>
                </a:solidFill>
                <a:latin typeface="Calibri"/>
              </a:rPr>
              <a:t>Credit issuance on a registry</a:t>
            </a:r>
          </a:p>
        </p:txBody>
      </p:sp>
      <p:sp>
        <p:nvSpPr>
          <p:cNvPr id="30" name="Rectangle 29"/>
          <p:cNvSpPr/>
          <p:nvPr/>
        </p:nvSpPr>
        <p:spPr>
          <a:xfrm>
            <a:off x="6355079" y="5715000"/>
            <a:ext cx="457200"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14</a:t>
            </a:r>
          </a:p>
        </p:txBody>
      </p:sp>
      <p:sp>
        <p:nvSpPr>
          <p:cNvPr id="31" name="Rectangle 30"/>
          <p:cNvSpPr/>
          <p:nvPr/>
        </p:nvSpPr>
        <p:spPr>
          <a:xfrm>
            <a:off x="6857999" y="5715000"/>
            <a:ext cx="5303520" cy="658368"/>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202020"/>
                </a:solidFill>
                <a:latin typeface="Calibri"/>
              </a:rPr>
              <a:t>Credit delivery, retirement, and integrity</a:t>
            </a:r>
          </a:p>
        </p:txBody>
      </p:sp>
      <p:sp>
        <p:nvSpPr>
          <p:cNvPr id="32" name="TextBox 31"/>
          <p:cNvSpPr txBox="1"/>
          <p:nvPr/>
        </p:nvSpPr>
        <p:spPr>
          <a:xfrm>
            <a:off x="320040" y="6492240"/>
            <a:ext cx="11521440" cy="292608"/>
          </a:xfrm>
          <a:prstGeom prst="rect">
            <a:avLst/>
          </a:prstGeom>
          <a:noFill/>
        </p:spPr>
        <p:txBody>
          <a:bodyPr wrap="square">
            <a:spAutoFit/>
          </a:bodyPr>
          <a:lstStyle/>
          <a:p>
            <a:pPr algn="l"/>
            <a:r>
              <a:rPr sz="1000" b="0" i="1">
                <a:solidFill>
                  <a:srgbClr val="707070"/>
                </a:solidFill>
                <a:latin typeface="Calibri"/>
              </a:rPr>
              <a:t>Steps 1-5 and 9: Isometric-validated, reused.   Steps 6-8: Novel development.   Steps 10-14: CI calc, stakeholder validation, 123C registry.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endParaRPr/>
          </a:p>
        </p:txBody>
      </p:sp>
      <p:sp>
        <p:nvSpPr>
          <p:cNvPr id="3" name="TextBox 2"/>
          <p:cNvSpPr txBox="1"/>
          <p:nvPr/>
        </p:nvSpPr>
        <p:spPr>
          <a:xfrm>
            <a:off x="320040" y="91440"/>
            <a:ext cx="11521440" cy="621792"/>
          </a:xfrm>
          <a:prstGeom prst="rect">
            <a:avLst/>
          </a:prstGeom>
          <a:noFill/>
        </p:spPr>
        <p:txBody>
          <a:bodyPr wrap="square">
            <a:spAutoFit/>
          </a:bodyPr>
          <a:lstStyle/>
          <a:p>
            <a:pPr algn="l"/>
            <a:r>
              <a:rPr sz="2400" b="1" i="0">
                <a:solidFill>
                  <a:srgbClr val="FFFFFF"/>
                </a:solidFill>
                <a:latin typeface="Calibri"/>
              </a:rPr>
              <a:t>CORSIA: Ruled Out Before the Framework Question</a:t>
            </a:r>
          </a:p>
        </p:txBody>
      </p:sp>
      <p:sp>
        <p:nvSpPr>
          <p:cNvPr id="4" name="TextBox 3"/>
          <p:cNvSpPr txBox="1"/>
          <p:nvPr/>
        </p:nvSpPr>
        <p:spPr>
          <a:xfrm>
            <a:off x="320040" y="1051560"/>
            <a:ext cx="11521440" cy="594360"/>
          </a:xfrm>
          <a:prstGeom prst="rect">
            <a:avLst/>
          </a:prstGeom>
          <a:noFill/>
        </p:spPr>
        <p:txBody>
          <a:bodyPr wrap="square">
            <a:spAutoFit/>
          </a:bodyPr>
          <a:lstStyle/>
          <a:p>
            <a:pPr algn="l"/>
            <a:r>
              <a:rPr sz="1300" b="0" i="0">
                <a:solidFill>
                  <a:srgbClr val="202020"/>
                </a:solidFill>
                <a:latin typeface="Calibri"/>
              </a:rPr>
              <a:t>CORSIA was evaluated as a potential pathway before settling on SFC MBM. It is ruled out regardless of framework because of a structural disqualifier.</a:t>
            </a:r>
          </a:p>
        </p:txBody>
      </p:sp>
      <p:sp>
        <p:nvSpPr>
          <p:cNvPr id="5" name="Rectangle 4"/>
          <p:cNvSpPr/>
          <p:nvPr/>
        </p:nvSpPr>
        <p:spPr>
          <a:xfrm>
            <a:off x="320040" y="1783080"/>
            <a:ext cx="11521440" cy="7498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FFFFFF"/>
                </a:solidFill>
                <a:latin typeface="Calibri"/>
              </a:rPr>
              <a:t>Step 8 — Disqualifying: Free allocation of biogenic carbon to SAF output is prohibited</a:t>
            </a:r>
          </a:p>
        </p:txBody>
      </p:sp>
      <p:sp>
        <p:nvSpPr>
          <p:cNvPr id="6" name="TextBox 5"/>
          <p:cNvSpPr txBox="1"/>
          <p:nvPr/>
        </p:nvSpPr>
        <p:spPr>
          <a:xfrm>
            <a:off x="320040" y="2651760"/>
            <a:ext cx="11521440" cy="1371600"/>
          </a:xfrm>
          <a:prstGeom prst="rect">
            <a:avLst/>
          </a:prstGeom>
          <a:noFill/>
        </p:spPr>
        <p:txBody>
          <a:bodyPr wrap="square">
            <a:spAutoFit/>
          </a:bodyPr>
          <a:lstStyle/>
          <a:p>
            <a:pPr algn="l"/>
            <a:r>
              <a:rPr sz="1400" b="0" i="0">
                <a:solidFill>
                  <a:srgbClr val="202020"/>
                </a:solidFill>
                <a:latin typeface="Calibri"/>
              </a:rPr>
              <a:t>CORSIA requires that the bio-based proportion of each refinery output is fixed by the process conversion factor. The operator cannot designate which output receives the biogenic credit. This makes the SAF credit economics unworkable.
This is a structural constraint, not a compliance gap. There is no workaround within CORSIA.</a:t>
            </a:r>
          </a:p>
        </p:txBody>
      </p:sp>
      <p:sp>
        <p:nvSpPr>
          <p:cNvPr id="7" name="Rectangle 6"/>
          <p:cNvSpPr/>
          <p:nvPr/>
        </p:nvSpPr>
        <p:spPr>
          <a:xfrm>
            <a:off x="320040" y="4160520"/>
            <a:ext cx="11521440"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Calibri"/>
              </a:rPr>
              <a:t>CORSIA and all CORSIA-adjacent schemes are excluded from further consideration.</a:t>
            </a:r>
          </a:p>
        </p:txBody>
      </p:sp>
      <p:sp>
        <p:nvSpPr>
          <p:cNvPr id="8" name="TextBox 7"/>
          <p:cNvSpPr txBox="1"/>
          <p:nvPr/>
        </p:nvSpPr>
        <p:spPr>
          <a:xfrm>
            <a:off x="320040" y="6492240"/>
            <a:ext cx="11521440" cy="292608"/>
          </a:xfrm>
          <a:prstGeom prst="rect">
            <a:avLst/>
          </a:prstGeom>
          <a:noFill/>
        </p:spPr>
        <p:txBody>
          <a:bodyPr wrap="square">
            <a:spAutoFit/>
          </a:bodyPr>
          <a:lstStyle/>
          <a:p>
            <a:pPr algn="l"/>
            <a:r>
              <a:rPr sz="1000" b="0" i="1">
                <a:solidFill>
                  <a:srgbClr val="707070"/>
                </a:solidFill>
                <a:latin typeface="Calibri"/>
              </a:rPr>
              <a:t>Color code:  Red = Disqualifying   Yellow = Friction   Green = Validated / Recommended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endParaRPr/>
          </a:p>
        </p:txBody>
      </p:sp>
      <p:sp>
        <p:nvSpPr>
          <p:cNvPr id="3" name="TextBox 2"/>
          <p:cNvSpPr txBox="1"/>
          <p:nvPr/>
        </p:nvSpPr>
        <p:spPr>
          <a:xfrm>
            <a:off x="320040" y="91440"/>
            <a:ext cx="11521440" cy="621792"/>
          </a:xfrm>
          <a:prstGeom prst="rect">
            <a:avLst/>
          </a:prstGeom>
          <a:noFill/>
        </p:spPr>
        <p:txBody>
          <a:bodyPr wrap="square">
            <a:spAutoFit/>
          </a:bodyPr>
          <a:lstStyle/>
          <a:p>
            <a:pPr algn="l"/>
            <a:r>
              <a:rPr sz="2400" b="1" i="0">
                <a:solidFill>
                  <a:srgbClr val="FFFFFF"/>
                </a:solidFill>
                <a:latin typeface="Calibri"/>
              </a:rPr>
              <a:t>RSB + 123C: Named in SFC MBM — But Fails the GHG Threshold</a:t>
            </a:r>
          </a:p>
        </p:txBody>
      </p:sp>
      <p:sp>
        <p:nvSpPr>
          <p:cNvPr id="4" name="TextBox 3"/>
          <p:cNvSpPr txBox="1"/>
          <p:nvPr/>
        </p:nvSpPr>
        <p:spPr>
          <a:xfrm>
            <a:off x="320040" y="1005840"/>
            <a:ext cx="11521440" cy="457200"/>
          </a:xfrm>
          <a:prstGeom prst="rect">
            <a:avLst/>
          </a:prstGeom>
          <a:noFill/>
        </p:spPr>
        <p:txBody>
          <a:bodyPr wrap="square">
            <a:spAutoFit/>
          </a:bodyPr>
          <a:lstStyle/>
          <a:p>
            <a:pPr algn="l"/>
            <a:r>
              <a:rPr sz="1300" b="0" i="0">
                <a:solidFill>
                  <a:srgbClr val="202020"/>
                </a:solidFill>
                <a:latin typeface="Calibri"/>
              </a:rPr>
              <a:t>RSB certification is named in SFC MBM, which would guarantee 123C acceptance. But the GHG savings threshold is a disqualifying issue at Step 11, and two additional friction points compound the problem.</a:t>
            </a:r>
          </a:p>
        </p:txBody>
      </p:sp>
      <p:sp>
        <p:nvSpPr>
          <p:cNvPr id="5" name="Rectangle 4"/>
          <p:cNvSpPr/>
          <p:nvPr/>
        </p:nvSpPr>
        <p:spPr>
          <a:xfrm>
            <a:off x="320040" y="1600200"/>
            <a:ext cx="1097280" cy="150876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Step 11</a:t>
            </a:r>
          </a:p>
        </p:txBody>
      </p:sp>
      <p:sp>
        <p:nvSpPr>
          <p:cNvPr id="6" name="Rectangle 5"/>
          <p:cNvSpPr/>
          <p:nvPr/>
        </p:nvSpPr>
        <p:spPr>
          <a:xfrm>
            <a:off x="1463039" y="1600200"/>
            <a:ext cx="3383280" cy="38404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1">
                <a:solidFill>
                  <a:srgbClr val="FFFFFF"/>
                </a:solidFill>
                <a:latin typeface="Calibri"/>
              </a:rPr>
              <a:t>GHG savings threshold — Disqualifying</a:t>
            </a:r>
          </a:p>
        </p:txBody>
      </p:sp>
      <p:sp>
        <p:nvSpPr>
          <p:cNvPr id="7" name="Rectangle 6"/>
          <p:cNvSpPr/>
          <p:nvPr/>
        </p:nvSpPr>
        <p:spPr>
          <a:xfrm>
            <a:off x="1463039" y="1984248"/>
            <a:ext cx="10725912" cy="1124712"/>
          </a:xfrm>
          <a:prstGeom prst="rect">
            <a:avLst/>
          </a:prstGeom>
          <a:solidFill>
            <a:srgbClr val="FFD5D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a:solidFill>
                  <a:srgbClr val="202020"/>
                </a:solidFill>
                <a:latin typeface="Calibri"/>
              </a:rPr>
              <a:t>RSB Principle 3b requires &gt;=65% savings vs. 90 gCO2e/MJ fossil comparator (&lt;=31.5 gCO2e/MJ). Transitional pathway to 2035: &gt;=50% savings (&lt;=45.0 gCO2e/MJ). Charm WODO CI 2025: 0.8 tCO2e/t bio-oil = 45.3 gCO2e/MJ upstream assuming SAF LHV of 43,200 MJ/t. 0.3 gCO2e/MJ above the transitional threshold before refinery marginal emissions or downstream transport.</a:t>
            </a:r>
          </a:p>
        </p:txBody>
      </p:sp>
      <p:sp>
        <p:nvSpPr>
          <p:cNvPr id="8" name="Rectangle 7"/>
          <p:cNvSpPr/>
          <p:nvPr/>
        </p:nvSpPr>
        <p:spPr>
          <a:xfrm>
            <a:off x="320040" y="3246120"/>
            <a:ext cx="1097280"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Step 4</a:t>
            </a:r>
          </a:p>
        </p:txBody>
      </p:sp>
      <p:sp>
        <p:nvSpPr>
          <p:cNvPr id="9" name="Rectangle 8"/>
          <p:cNvSpPr/>
          <p:nvPr/>
        </p:nvSpPr>
        <p:spPr>
          <a:xfrm>
            <a:off x="1463039" y="3246120"/>
            <a:ext cx="3383280" cy="384048"/>
          </a:xfrm>
          <a:prstGeom prst="rect">
            <a:avLst/>
          </a:prstGeom>
          <a:solidFill>
            <a:srgbClr val="BF86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1">
                <a:solidFill>
                  <a:srgbClr val="FFFFFF"/>
                </a:solidFill>
                <a:latin typeface="Calibri"/>
              </a:rPr>
              <a:t>Economic allocation — Compounding</a:t>
            </a:r>
          </a:p>
        </p:txBody>
      </p:sp>
      <p:sp>
        <p:nvSpPr>
          <p:cNvPr id="10" name="Rectangle 9"/>
          <p:cNvSpPr/>
          <p:nvPr/>
        </p:nvSpPr>
        <p:spPr>
          <a:xfrm>
            <a:off x="1463039" y="3630168"/>
            <a:ext cx="10725912" cy="62179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a:solidFill>
                  <a:srgbClr val="202020"/>
                </a:solidFill>
                <a:latin typeface="Calibri"/>
              </a:rPr>
              <a:t>RSB mandates economic allocation. Bio-oil commands a much higher market price than biochar, so economic allocation likely assigns MORE emissions to bio-oil — making the Step 11 problem worse, not better.</a:t>
            </a:r>
          </a:p>
        </p:txBody>
      </p:sp>
      <p:sp>
        <p:nvSpPr>
          <p:cNvPr id="11" name="Rectangle 10"/>
          <p:cNvSpPr/>
          <p:nvPr/>
        </p:nvSpPr>
        <p:spPr>
          <a:xfrm>
            <a:off x="320040" y="4389120"/>
            <a:ext cx="1097280" cy="105156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Step 1</a:t>
            </a:r>
          </a:p>
        </p:txBody>
      </p:sp>
      <p:sp>
        <p:nvSpPr>
          <p:cNvPr id="12" name="Rectangle 11"/>
          <p:cNvSpPr/>
          <p:nvPr/>
        </p:nvSpPr>
        <p:spPr>
          <a:xfrm>
            <a:off x="1463039" y="4389120"/>
            <a:ext cx="3383280" cy="384048"/>
          </a:xfrm>
          <a:prstGeom prst="rect">
            <a:avLst/>
          </a:prstGeom>
          <a:solidFill>
            <a:srgbClr val="BF86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1">
                <a:solidFill>
                  <a:srgbClr val="FFFFFF"/>
                </a:solidFill>
                <a:latin typeface="Calibri"/>
              </a:rPr>
              <a:t>Supply chain certification burden — Friction</a:t>
            </a:r>
          </a:p>
        </p:txBody>
      </p:sp>
      <p:sp>
        <p:nvSpPr>
          <p:cNvPr id="13" name="Rectangle 12"/>
          <p:cNvSpPr/>
          <p:nvPr/>
        </p:nvSpPr>
        <p:spPr>
          <a:xfrm>
            <a:off x="1463039" y="4773168"/>
            <a:ext cx="10725912" cy="66751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a:solidFill>
                  <a:srgbClr val="202020"/>
                </a:solidFill>
                <a:latin typeface="Calibri"/>
              </a:rPr>
              <a:t>RSB (or FSC — to be confirmed) certification required for every biomass First Gathering Point. RSB guidance may allow FSC as an alternative, as ISCC does; this should be clarified against the RSB standard before assuming full RSB certification is required throughout.</a:t>
            </a:r>
          </a:p>
        </p:txBody>
      </p:sp>
      <p:sp>
        <p:nvSpPr>
          <p:cNvPr id="14" name="TextBox 13"/>
          <p:cNvSpPr txBox="1"/>
          <p:nvPr/>
        </p:nvSpPr>
        <p:spPr>
          <a:xfrm>
            <a:off x="320040" y="6492240"/>
            <a:ext cx="11521440" cy="292608"/>
          </a:xfrm>
          <a:prstGeom prst="rect">
            <a:avLst/>
          </a:prstGeom>
          <a:noFill/>
        </p:spPr>
        <p:txBody>
          <a:bodyPr wrap="square">
            <a:spAutoFit/>
          </a:bodyPr>
          <a:lstStyle/>
          <a:p>
            <a:pPr algn="l"/>
            <a:r>
              <a:rPr sz="1000" b="0" i="1">
                <a:solidFill>
                  <a:srgbClr val="707070"/>
                </a:solidFill>
                <a:latin typeface="Calibri"/>
              </a:rPr>
              <a:t>Color code:  Red = Disqualifying   Yellow = Friction   Green = Validated / Recommended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endParaRPr/>
          </a:p>
        </p:txBody>
      </p:sp>
      <p:sp>
        <p:nvSpPr>
          <p:cNvPr id="3" name="TextBox 2"/>
          <p:cNvSpPr txBox="1"/>
          <p:nvPr/>
        </p:nvSpPr>
        <p:spPr>
          <a:xfrm>
            <a:off x="320040" y="91440"/>
            <a:ext cx="11521440" cy="621792"/>
          </a:xfrm>
          <a:prstGeom prst="rect">
            <a:avLst/>
          </a:prstGeom>
          <a:noFill/>
        </p:spPr>
        <p:txBody>
          <a:bodyPr wrap="square">
            <a:spAutoFit/>
          </a:bodyPr>
          <a:lstStyle/>
          <a:p>
            <a:pPr algn="l"/>
            <a:r>
              <a:rPr sz="2400" b="1" i="0">
                <a:solidFill>
                  <a:srgbClr val="FFFFFF"/>
                </a:solidFill>
                <a:latin typeface="Calibri"/>
              </a:rPr>
              <a:t>ISCC + 123C: Named in SFC MBM — But Significant Friction at Multiple Steps</a:t>
            </a:r>
          </a:p>
        </p:txBody>
      </p:sp>
      <p:sp>
        <p:nvSpPr>
          <p:cNvPr id="4" name="TextBox 3"/>
          <p:cNvSpPr txBox="1"/>
          <p:nvPr/>
        </p:nvSpPr>
        <p:spPr>
          <a:xfrm>
            <a:off x="320040" y="1005840"/>
            <a:ext cx="11521440" cy="457200"/>
          </a:xfrm>
          <a:prstGeom prst="rect">
            <a:avLst/>
          </a:prstGeom>
          <a:noFill/>
        </p:spPr>
        <p:txBody>
          <a:bodyPr wrap="square">
            <a:spAutoFit/>
          </a:bodyPr>
          <a:lstStyle/>
          <a:p>
            <a:pPr algn="l"/>
            <a:r>
              <a:rPr sz="1300" b="0" i="0">
                <a:solidFill>
                  <a:srgbClr val="202020"/>
                </a:solidFill>
                <a:latin typeface="Calibri"/>
              </a:rPr>
              <a:t>ISCC certification is named in SFC MBM, which would guarantee 123C acceptance. But three steps in the system chain create meaningful friction.</a:t>
            </a:r>
          </a:p>
        </p:txBody>
      </p:sp>
      <p:sp>
        <p:nvSpPr>
          <p:cNvPr id="5" name="Rectangle 4"/>
          <p:cNvSpPr/>
          <p:nvPr/>
        </p:nvSpPr>
        <p:spPr>
          <a:xfrm>
            <a:off x="320040" y="1600200"/>
            <a:ext cx="1097280" cy="105156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Step 4</a:t>
            </a:r>
          </a:p>
        </p:txBody>
      </p:sp>
      <p:sp>
        <p:nvSpPr>
          <p:cNvPr id="6" name="Rectangle 5"/>
          <p:cNvSpPr/>
          <p:nvPr/>
        </p:nvSpPr>
        <p:spPr>
          <a:xfrm>
            <a:off x="1463039" y="1600200"/>
            <a:ext cx="3383280" cy="384048"/>
          </a:xfrm>
          <a:prstGeom prst="rect">
            <a:avLst/>
          </a:prstGeom>
          <a:solidFill>
            <a:srgbClr val="BF86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1">
                <a:solidFill>
                  <a:srgbClr val="FFFFFF"/>
                </a:solidFill>
                <a:latin typeface="Calibri"/>
              </a:rPr>
              <a:t>Allocation conflict</a:t>
            </a:r>
          </a:p>
        </p:txBody>
      </p:sp>
      <p:sp>
        <p:nvSpPr>
          <p:cNvPr id="7" name="Rectangle 6"/>
          <p:cNvSpPr/>
          <p:nvPr/>
        </p:nvSpPr>
        <p:spPr>
          <a:xfrm>
            <a:off x="1463039" y="1984248"/>
            <a:ext cx="10725912" cy="66751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a:solidFill>
                  <a:srgbClr val="202020"/>
                </a:solidFill>
                <a:latin typeface="Calibri"/>
              </a:rPr>
              <a:t>ISCC PLUS V3.4.2 states energy allocation should always be used when the main product is used energetically. Charm uses carbon-mass-balance (a form of mass allocation). Auditor challenge risk at certification.</a:t>
            </a:r>
          </a:p>
        </p:txBody>
      </p:sp>
      <p:sp>
        <p:nvSpPr>
          <p:cNvPr id="8" name="Rectangle 7"/>
          <p:cNvSpPr/>
          <p:nvPr/>
        </p:nvSpPr>
        <p:spPr>
          <a:xfrm>
            <a:off x="320040" y="2788920"/>
            <a:ext cx="1097280" cy="132588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Step 1</a:t>
            </a:r>
          </a:p>
        </p:txBody>
      </p:sp>
      <p:sp>
        <p:nvSpPr>
          <p:cNvPr id="9" name="Rectangle 8"/>
          <p:cNvSpPr/>
          <p:nvPr/>
        </p:nvSpPr>
        <p:spPr>
          <a:xfrm>
            <a:off x="1463039" y="2788920"/>
            <a:ext cx="3383280" cy="384048"/>
          </a:xfrm>
          <a:prstGeom prst="rect">
            <a:avLst/>
          </a:prstGeom>
          <a:solidFill>
            <a:srgbClr val="BF86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1">
                <a:solidFill>
                  <a:srgbClr val="FFFFFF"/>
                </a:solidFill>
                <a:latin typeface="Calibri"/>
              </a:rPr>
              <a:t>Supply chain certification burden</a:t>
            </a:r>
          </a:p>
        </p:txBody>
      </p:sp>
      <p:sp>
        <p:nvSpPr>
          <p:cNvPr id="10" name="Rectangle 9"/>
          <p:cNvSpPr/>
          <p:nvPr/>
        </p:nvSpPr>
        <p:spPr>
          <a:xfrm>
            <a:off x="1463039" y="3172968"/>
            <a:ext cx="10725912" cy="94183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a:solidFill>
                  <a:srgbClr val="202020"/>
                </a:solidFill>
                <a:latin typeface="Calibri"/>
              </a:rPr>
              <a:t>Every First Gathering Point must be ISCC certified (or upstream forest must be FSC Forest Management certified). Charm wildfire-reduction whole logs likely classify as forestry primary product, triggering the full Level A risk assessment and certification chain. How Isometric's independent forester carve-out maps to ISCC requirements is not established.</a:t>
            </a:r>
          </a:p>
        </p:txBody>
      </p:sp>
      <p:sp>
        <p:nvSpPr>
          <p:cNvPr id="11" name="Rectangle 10"/>
          <p:cNvSpPr/>
          <p:nvPr/>
        </p:nvSpPr>
        <p:spPr>
          <a:xfrm>
            <a:off x="320040" y="4251960"/>
            <a:ext cx="1097280" cy="7772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Step 6</a:t>
            </a:r>
          </a:p>
        </p:txBody>
      </p:sp>
      <p:sp>
        <p:nvSpPr>
          <p:cNvPr id="12" name="Rectangle 11"/>
          <p:cNvSpPr/>
          <p:nvPr/>
        </p:nvSpPr>
        <p:spPr>
          <a:xfrm>
            <a:off x="1463039" y="4251960"/>
            <a:ext cx="3383280" cy="384048"/>
          </a:xfrm>
          <a:prstGeom prst="rect">
            <a:avLst/>
          </a:prstGeom>
          <a:solidFill>
            <a:srgbClr val="BF86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1">
                <a:solidFill>
                  <a:srgbClr val="FFFFFF"/>
                </a:solidFill>
                <a:latin typeface="Calibri"/>
              </a:rPr>
              <a:t>Refinery certification</a:t>
            </a:r>
          </a:p>
        </p:txBody>
      </p:sp>
      <p:sp>
        <p:nvSpPr>
          <p:cNvPr id="13" name="Rectangle 12"/>
          <p:cNvSpPr/>
          <p:nvPr/>
        </p:nvSpPr>
        <p:spPr>
          <a:xfrm>
            <a:off x="1463039" y="4636008"/>
            <a:ext cx="10725912" cy="39319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a:solidFill>
                  <a:srgbClr val="202020"/>
                </a:solidFill>
                <a:latin typeface="Calibri"/>
              </a:rPr>
              <a:t>The FCC refinery must also be ISCC certified. Charm does not control this.</a:t>
            </a:r>
          </a:p>
        </p:txBody>
      </p:sp>
      <p:sp>
        <p:nvSpPr>
          <p:cNvPr id="14" name="TextBox 13"/>
          <p:cNvSpPr txBox="1"/>
          <p:nvPr/>
        </p:nvSpPr>
        <p:spPr>
          <a:xfrm>
            <a:off x="320040" y="5212080"/>
            <a:ext cx="11521440" cy="502920"/>
          </a:xfrm>
          <a:prstGeom prst="rect">
            <a:avLst/>
          </a:prstGeom>
          <a:noFill/>
        </p:spPr>
        <p:txBody>
          <a:bodyPr wrap="square">
            <a:spAutoFit/>
          </a:bodyPr>
          <a:lstStyle/>
          <a:p>
            <a:pPr algn="l"/>
            <a:r>
              <a:rPr sz="1000" b="0" i="1">
                <a:solidFill>
                  <a:srgbClr val="707070"/>
                </a:solidFill>
                <a:latin typeface="Calibri"/>
              </a:rPr>
              <a:t>Note: ISCC PLUS has no minimum GHG savings threshold (quantification is voluntary). Favorable for CI, but ISCC PLUS functions primarily as a sustainability certification, not a GHG methodology.</a:t>
            </a:r>
          </a:p>
        </p:txBody>
      </p:sp>
      <p:sp>
        <p:nvSpPr>
          <p:cNvPr id="15" name="TextBox 14"/>
          <p:cNvSpPr txBox="1"/>
          <p:nvPr/>
        </p:nvSpPr>
        <p:spPr>
          <a:xfrm>
            <a:off x="320040" y="6492240"/>
            <a:ext cx="11521440" cy="292608"/>
          </a:xfrm>
          <a:prstGeom prst="rect">
            <a:avLst/>
          </a:prstGeom>
          <a:noFill/>
        </p:spPr>
        <p:txBody>
          <a:bodyPr wrap="square">
            <a:spAutoFit/>
          </a:bodyPr>
          <a:lstStyle/>
          <a:p>
            <a:pPr algn="l"/>
            <a:r>
              <a:rPr sz="1000" b="0" i="1">
                <a:solidFill>
                  <a:srgbClr val="707070"/>
                </a:solidFill>
                <a:latin typeface="Calibri"/>
              </a:rPr>
              <a:t>Color code:  Red = Disqualifying   Yellow = Friction   Green = Validated / Recommended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endParaRPr/>
          </a:p>
        </p:txBody>
      </p:sp>
      <p:sp>
        <p:nvSpPr>
          <p:cNvPr id="3" name="TextBox 2"/>
          <p:cNvSpPr txBox="1"/>
          <p:nvPr/>
        </p:nvSpPr>
        <p:spPr>
          <a:xfrm>
            <a:off x="320040" y="91440"/>
            <a:ext cx="11521440" cy="621792"/>
          </a:xfrm>
          <a:prstGeom prst="rect">
            <a:avLst/>
          </a:prstGeom>
          <a:noFill/>
        </p:spPr>
        <p:txBody>
          <a:bodyPr wrap="square">
            <a:spAutoFit/>
          </a:bodyPr>
          <a:lstStyle/>
          <a:p>
            <a:pPr algn="l"/>
            <a:r>
              <a:rPr sz="2400" b="1" i="0">
                <a:solidFill>
                  <a:srgbClr val="FFFFFF"/>
                </a:solidFill>
                <a:latin typeface="Calibri"/>
              </a:rPr>
              <a:t>Recommended: Non-Certified Methodology Track Under SFC MBM</a:t>
            </a:r>
          </a:p>
        </p:txBody>
      </p:sp>
      <p:sp>
        <p:nvSpPr>
          <p:cNvPr id="4" name="TextBox 3"/>
          <p:cNvSpPr txBox="1"/>
          <p:nvPr/>
        </p:nvSpPr>
        <p:spPr>
          <a:xfrm>
            <a:off x="320040" y="1005840"/>
            <a:ext cx="11521440" cy="594360"/>
          </a:xfrm>
          <a:prstGeom prst="rect">
            <a:avLst/>
          </a:prstGeom>
          <a:noFill/>
        </p:spPr>
        <p:txBody>
          <a:bodyPr wrap="square">
            <a:spAutoFit/>
          </a:bodyPr>
          <a:lstStyle/>
          <a:p>
            <a:pPr algn="l"/>
            <a:r>
              <a:rPr sz="1400" b="1" i="0">
                <a:solidFill>
                  <a:srgbClr val="1F497D"/>
                </a:solidFill>
                <a:latin typeface="Calibri"/>
              </a:rPr>
              <a:t>SFC MBM includes a provision for non-certified methodologies meeting specific criteria. This is the recommended path. The four stages must run in order — each one defines the scope of the next.</a:t>
            </a:r>
          </a:p>
        </p:txBody>
      </p:sp>
      <p:sp>
        <p:nvSpPr>
          <p:cNvPr id="5" name="Rectangle 4"/>
          <p:cNvSpPr/>
          <p:nvPr/>
        </p:nvSpPr>
        <p:spPr>
          <a:xfrm>
            <a:off x="320040" y="1737360"/>
            <a:ext cx="548640" cy="105156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FFFFFF"/>
                </a:solidFill>
                <a:latin typeface="Calibri"/>
              </a:rPr>
              <a:t>1</a:t>
            </a:r>
          </a:p>
        </p:txBody>
      </p:sp>
      <p:sp>
        <p:nvSpPr>
          <p:cNvPr id="6" name="Rectangle 5"/>
          <p:cNvSpPr/>
          <p:nvPr/>
        </p:nvSpPr>
        <p:spPr>
          <a:xfrm>
            <a:off x="914400" y="1737360"/>
            <a:ext cx="3200400" cy="40233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1">
                <a:solidFill>
                  <a:srgbClr val="FFFFFF"/>
                </a:solidFill>
                <a:latin typeface="Calibri"/>
              </a:rPr>
              <a:t>Clarify non-certified criteria (123C / SFC)</a:t>
            </a:r>
          </a:p>
        </p:txBody>
      </p:sp>
      <p:sp>
        <p:nvSpPr>
          <p:cNvPr id="7" name="Rectangle 6"/>
          <p:cNvSpPr/>
          <p:nvPr/>
        </p:nvSpPr>
        <p:spPr>
          <a:xfrm>
            <a:off x="914400" y="2139696"/>
            <a:ext cx="10561320" cy="649224"/>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a:solidFill>
                  <a:srgbClr val="202020"/>
                </a:solidFill>
                <a:latin typeface="Calibri"/>
              </a:rPr>
              <a:t>123C and/or SFC clarifies what criteria a non-certified methodology must meet to qualify under SFC MBM. Currently unknown. This is the prerequisite for all other work — criteria become part of the scope of work put to the methodology partner.</a:t>
            </a:r>
          </a:p>
        </p:txBody>
      </p:sp>
      <p:sp>
        <p:nvSpPr>
          <p:cNvPr id="8" name="Rectangle 7"/>
          <p:cNvSpPr/>
          <p:nvPr/>
        </p:nvSpPr>
        <p:spPr>
          <a:xfrm>
            <a:off x="320040" y="2971800"/>
            <a:ext cx="548640" cy="105156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FFFFFF"/>
                </a:solidFill>
                <a:latin typeface="Calibri"/>
              </a:rPr>
              <a:t>2</a:t>
            </a:r>
          </a:p>
        </p:txBody>
      </p:sp>
      <p:sp>
        <p:nvSpPr>
          <p:cNvPr id="9" name="Rectangle 8"/>
          <p:cNvSpPr/>
          <p:nvPr/>
        </p:nvSpPr>
        <p:spPr>
          <a:xfrm>
            <a:off x="914400" y="2971800"/>
            <a:ext cx="3200400" cy="40233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1">
                <a:solidFill>
                  <a:srgbClr val="FFFFFF"/>
                </a:solidFill>
                <a:latin typeface="Calibri"/>
              </a:rPr>
              <a:t>Define customer requirements</a:t>
            </a:r>
          </a:p>
        </p:txBody>
      </p:sp>
      <p:sp>
        <p:nvSpPr>
          <p:cNvPr id="10" name="Rectangle 9"/>
          <p:cNvSpPr/>
          <p:nvPr/>
        </p:nvSpPr>
        <p:spPr>
          <a:xfrm>
            <a:off x="914400" y="3374136"/>
            <a:ext cx="10561320" cy="649224"/>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a:solidFill>
                  <a:srgbClr val="202020"/>
                </a:solidFill>
                <a:latin typeface="Calibri"/>
              </a:rPr>
              <a:t>Key buyers specify non-quantification requirements: community benefit standards, audit preferences, traceability criteria. Combined with SFC MBM criteria, these define the full scope the methodology must satisfy.</a:t>
            </a:r>
          </a:p>
        </p:txBody>
      </p:sp>
      <p:sp>
        <p:nvSpPr>
          <p:cNvPr id="11" name="Rectangle 10"/>
          <p:cNvSpPr/>
          <p:nvPr/>
        </p:nvSpPr>
        <p:spPr>
          <a:xfrm>
            <a:off x="320040" y="4206240"/>
            <a:ext cx="548640" cy="105156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FFFFFF"/>
                </a:solidFill>
                <a:latin typeface="Calibri"/>
              </a:rPr>
              <a:t>3</a:t>
            </a:r>
          </a:p>
        </p:txBody>
      </p:sp>
      <p:sp>
        <p:nvSpPr>
          <p:cNvPr id="12" name="Rectangle 11"/>
          <p:cNvSpPr/>
          <p:nvPr/>
        </p:nvSpPr>
        <p:spPr>
          <a:xfrm>
            <a:off x="914400" y="4206240"/>
            <a:ext cx="3200400" cy="40233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1">
                <a:solidFill>
                  <a:srgbClr val="FFFFFF"/>
                </a:solidFill>
                <a:latin typeface="Calibri"/>
              </a:rPr>
              <a:t>Select third-party methodology partner</a:t>
            </a:r>
          </a:p>
        </p:txBody>
      </p:sp>
      <p:sp>
        <p:nvSpPr>
          <p:cNvPr id="13" name="Rectangle 12"/>
          <p:cNvSpPr/>
          <p:nvPr/>
        </p:nvSpPr>
        <p:spPr>
          <a:xfrm>
            <a:off x="914400" y="4608576"/>
            <a:ext cx="10561320" cy="649224"/>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a:solidFill>
                  <a:srgbClr val="202020"/>
                </a:solidFill>
                <a:latin typeface="Calibri"/>
              </a:rPr>
              <a:t>Key customers identify a preferred methodology developer (e.g., Carbon Direct, EcoEngineers). Customer identification ensures developer credibility and builds acceptance in from the start.</a:t>
            </a:r>
          </a:p>
        </p:txBody>
      </p:sp>
      <p:sp>
        <p:nvSpPr>
          <p:cNvPr id="14" name="Rectangle 13"/>
          <p:cNvSpPr/>
          <p:nvPr/>
        </p:nvSpPr>
        <p:spPr>
          <a:xfrm>
            <a:off x="320040" y="5440680"/>
            <a:ext cx="548640" cy="105156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FFFFFF"/>
                </a:solidFill>
                <a:latin typeface="Calibri"/>
              </a:rPr>
              <a:t>4</a:t>
            </a:r>
          </a:p>
        </p:txBody>
      </p:sp>
      <p:sp>
        <p:nvSpPr>
          <p:cNvPr id="15" name="Rectangle 14"/>
          <p:cNvSpPr/>
          <p:nvPr/>
        </p:nvSpPr>
        <p:spPr>
          <a:xfrm>
            <a:off x="914400" y="5440680"/>
            <a:ext cx="3200400" cy="40233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1">
                <a:solidFill>
                  <a:srgbClr val="FFFFFF"/>
                </a:solidFill>
                <a:latin typeface="Calibri"/>
              </a:rPr>
              <a:t>Develop, validate, and register</a:t>
            </a:r>
          </a:p>
        </p:txBody>
      </p:sp>
      <p:sp>
        <p:nvSpPr>
          <p:cNvPr id="16" name="Rectangle 15"/>
          <p:cNvSpPr/>
          <p:nvPr/>
        </p:nvSpPr>
        <p:spPr>
          <a:xfrm>
            <a:off x="914400" y="5843016"/>
            <a:ext cx="10561320" cy="649224"/>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a:solidFill>
                  <a:srgbClr val="202020"/>
                </a:solidFill>
                <a:latin typeface="Calibri"/>
              </a:rPr>
              <a:t>Develop methodology satisfying SFC MBM criteria + customer requirements + Charm/refinery operability. All stakeholders validate (123C, customers, Charm, refinery) before launch. 123 Carbon issues and manages credits.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endParaRPr/>
          </a:p>
        </p:txBody>
      </p:sp>
      <p:sp>
        <p:nvSpPr>
          <p:cNvPr id="3" name="TextBox 2"/>
          <p:cNvSpPr txBox="1"/>
          <p:nvPr/>
        </p:nvSpPr>
        <p:spPr>
          <a:xfrm>
            <a:off x="320040" y="91440"/>
            <a:ext cx="11521440" cy="621792"/>
          </a:xfrm>
          <a:prstGeom prst="rect">
            <a:avLst/>
          </a:prstGeom>
          <a:noFill/>
        </p:spPr>
        <p:txBody>
          <a:bodyPr wrap="square">
            <a:spAutoFit/>
          </a:bodyPr>
          <a:lstStyle/>
          <a:p>
            <a:pPr algn="l"/>
            <a:r>
              <a:rPr sz="2400" b="1" i="0">
                <a:solidFill>
                  <a:srgbClr val="FFFFFF"/>
                </a:solidFill>
                <a:latin typeface="Calibri"/>
              </a:rPr>
              <a:t>Recommended Path: System Approach by Step</a:t>
            </a:r>
          </a:p>
        </p:txBody>
      </p:sp>
      <p:sp>
        <p:nvSpPr>
          <p:cNvPr id="4" name="Rectangle 3"/>
          <p:cNvSpPr/>
          <p:nvPr/>
        </p:nvSpPr>
        <p:spPr>
          <a:xfrm>
            <a:off x="320040" y="1051560"/>
            <a:ext cx="685800" cy="804672"/>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1-5</a:t>
            </a:r>
          </a:p>
        </p:txBody>
      </p:sp>
      <p:sp>
        <p:nvSpPr>
          <p:cNvPr id="5" name="Rectangle 4"/>
          <p:cNvSpPr/>
          <p:nvPr/>
        </p:nvSpPr>
        <p:spPr>
          <a:xfrm>
            <a:off x="1051560" y="1051560"/>
            <a:ext cx="7635240" cy="804672"/>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a:solidFill>
                  <a:srgbClr val="202020"/>
                </a:solidFill>
                <a:latin typeface="Calibri"/>
              </a:rPr>
              <a:t>Isometric-validated methodology reused: biomass eligibility, tree-to-gate CI,
co-product allocation, transport. Will be incorporated into the overall
methodology framework with the third-party partner.</a:t>
            </a:r>
          </a:p>
        </p:txBody>
      </p:sp>
      <p:sp>
        <p:nvSpPr>
          <p:cNvPr id="6" name="Rectangle 5"/>
          <p:cNvSpPr/>
          <p:nvPr/>
        </p:nvSpPr>
        <p:spPr>
          <a:xfrm>
            <a:off x="8732520" y="1051560"/>
            <a:ext cx="3136392" cy="80467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Calibri"/>
              </a:rPr>
              <a:t>Isometric-validated;
third-party incorporation</a:t>
            </a:r>
          </a:p>
        </p:txBody>
      </p:sp>
      <p:sp>
        <p:nvSpPr>
          <p:cNvPr id="7" name="Rectangle 6"/>
          <p:cNvSpPr/>
          <p:nvPr/>
        </p:nvSpPr>
        <p:spPr>
          <a:xfrm>
            <a:off x="320040" y="2011680"/>
            <a:ext cx="685800" cy="804672"/>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6-8</a:t>
            </a:r>
          </a:p>
        </p:txBody>
      </p:sp>
      <p:sp>
        <p:nvSpPr>
          <p:cNvPr id="8" name="Rectangle 7"/>
          <p:cNvSpPr/>
          <p:nvPr/>
        </p:nvSpPr>
        <p:spPr>
          <a:xfrm>
            <a:off x="1051560" y="2011680"/>
            <a:ext cx="7635240" cy="804672"/>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a:solidFill>
                  <a:srgbClr val="202020"/>
                </a:solidFill>
                <a:latin typeface="Calibri"/>
              </a:rPr>
              <a:t>Novel methodology developed with third-party partner: refinery co-processing,
marginal emissions allocation, free allocation of biogenic carbon to SAF.
Must satisfy SFC MBM non-cert criteria + customer requirements.</a:t>
            </a:r>
          </a:p>
        </p:txBody>
      </p:sp>
      <p:sp>
        <p:nvSpPr>
          <p:cNvPr id="9" name="Rectangle 8"/>
          <p:cNvSpPr/>
          <p:nvPr/>
        </p:nvSpPr>
        <p:spPr>
          <a:xfrm>
            <a:off x="8732520" y="2011680"/>
            <a:ext cx="3136392" cy="80467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Calibri"/>
              </a:rPr>
              <a:t>Third-party partner +
stakeholder validation</a:t>
            </a:r>
          </a:p>
        </p:txBody>
      </p:sp>
      <p:sp>
        <p:nvSpPr>
          <p:cNvPr id="10" name="Rectangle 9"/>
          <p:cNvSpPr/>
          <p:nvPr/>
        </p:nvSpPr>
        <p:spPr>
          <a:xfrm>
            <a:off x="320040" y="2971800"/>
            <a:ext cx="685800" cy="804672"/>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9</a:t>
            </a:r>
          </a:p>
        </p:txBody>
      </p:sp>
      <p:sp>
        <p:nvSpPr>
          <p:cNvPr id="11" name="Rectangle 10"/>
          <p:cNvSpPr/>
          <p:nvPr/>
        </p:nvSpPr>
        <p:spPr>
          <a:xfrm>
            <a:off x="1051560" y="2971800"/>
            <a:ext cx="7635240" cy="804672"/>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a:solidFill>
                  <a:srgbClr val="202020"/>
                </a:solidFill>
                <a:latin typeface="Calibri"/>
              </a:rPr>
              <a:t>Transport emissions to blend point. Isometric-validated methodology reused.
Will be incorporated into the overall methodology framework with the third-party partner.</a:t>
            </a:r>
          </a:p>
        </p:txBody>
      </p:sp>
      <p:sp>
        <p:nvSpPr>
          <p:cNvPr id="12" name="Rectangle 11"/>
          <p:cNvSpPr/>
          <p:nvPr/>
        </p:nvSpPr>
        <p:spPr>
          <a:xfrm>
            <a:off x="8732520" y="2971800"/>
            <a:ext cx="3136392" cy="80467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Calibri"/>
              </a:rPr>
              <a:t>Isometric-validated;
third-party incorporation</a:t>
            </a:r>
          </a:p>
        </p:txBody>
      </p:sp>
      <p:sp>
        <p:nvSpPr>
          <p:cNvPr id="13" name="Rectangle 12"/>
          <p:cNvSpPr/>
          <p:nvPr/>
        </p:nvSpPr>
        <p:spPr>
          <a:xfrm>
            <a:off x="320040" y="3931920"/>
            <a:ext cx="685800" cy="804672"/>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10-11</a:t>
            </a:r>
          </a:p>
        </p:txBody>
      </p:sp>
      <p:sp>
        <p:nvSpPr>
          <p:cNvPr id="14" name="Rectangle 13"/>
          <p:cNvSpPr/>
          <p:nvPr/>
        </p:nvSpPr>
        <p:spPr>
          <a:xfrm>
            <a:off x="1051560" y="3931920"/>
            <a:ext cx="7635240" cy="804672"/>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a:solidFill>
                  <a:srgbClr val="202020"/>
                </a:solidFill>
                <a:latin typeface="Calibri"/>
              </a:rPr>
              <a:t>CI calculation + fossil fuel comparator selection.
Bounded novel work; subject to same third-party development
and all-stakeholder validation as Steps 6-8.</a:t>
            </a:r>
          </a:p>
        </p:txBody>
      </p:sp>
      <p:sp>
        <p:nvSpPr>
          <p:cNvPr id="15" name="Rectangle 14"/>
          <p:cNvSpPr/>
          <p:nvPr/>
        </p:nvSpPr>
        <p:spPr>
          <a:xfrm>
            <a:off x="8732520" y="3931920"/>
            <a:ext cx="3136392" cy="80467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Calibri"/>
              </a:rPr>
              <a:t>Third-party partner +
stakeholder validation</a:t>
            </a:r>
          </a:p>
        </p:txBody>
      </p:sp>
      <p:sp>
        <p:nvSpPr>
          <p:cNvPr id="16" name="Rectangle 15"/>
          <p:cNvSpPr/>
          <p:nvPr/>
        </p:nvSpPr>
        <p:spPr>
          <a:xfrm>
            <a:off x="320040" y="4892040"/>
            <a:ext cx="685800" cy="804672"/>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12</a:t>
            </a:r>
          </a:p>
        </p:txBody>
      </p:sp>
      <p:sp>
        <p:nvSpPr>
          <p:cNvPr id="17" name="Rectangle 16"/>
          <p:cNvSpPr/>
          <p:nvPr/>
        </p:nvSpPr>
        <p:spPr>
          <a:xfrm>
            <a:off x="1051560" y="4892040"/>
            <a:ext cx="7635240" cy="804672"/>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a:solidFill>
                  <a:srgbClr val="202020"/>
                </a:solidFill>
                <a:latin typeface="Calibri"/>
              </a:rPr>
              <a:t>Validation by 123C, customers, Charm, and refinery before launch.
Verification scope and frequency to be determined.</a:t>
            </a:r>
          </a:p>
        </p:txBody>
      </p:sp>
      <p:sp>
        <p:nvSpPr>
          <p:cNvPr id="18" name="Rectangle 17"/>
          <p:cNvSpPr/>
          <p:nvPr/>
        </p:nvSpPr>
        <p:spPr>
          <a:xfrm>
            <a:off x="8732520" y="4892040"/>
            <a:ext cx="3136392" cy="804672"/>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Calibri"/>
              </a:rPr>
              <a:t>All stakeholders</a:t>
            </a:r>
          </a:p>
        </p:txBody>
      </p:sp>
      <p:sp>
        <p:nvSpPr>
          <p:cNvPr id="19" name="Rectangle 18"/>
          <p:cNvSpPr/>
          <p:nvPr/>
        </p:nvSpPr>
        <p:spPr>
          <a:xfrm>
            <a:off x="320040" y="5852160"/>
            <a:ext cx="685800" cy="804672"/>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13-14</a:t>
            </a:r>
          </a:p>
        </p:txBody>
      </p:sp>
      <p:sp>
        <p:nvSpPr>
          <p:cNvPr id="20" name="Rectangle 19"/>
          <p:cNvSpPr/>
          <p:nvPr/>
        </p:nvSpPr>
        <p:spPr>
          <a:xfrm>
            <a:off x="1051560" y="5852160"/>
            <a:ext cx="7635240" cy="804672"/>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a:solidFill>
                  <a:srgbClr val="202020"/>
                </a:solidFill>
                <a:latin typeface="Calibri"/>
              </a:rPr>
              <a:t>Credit issuance, management, retirement, double-counting prevention.</a:t>
            </a:r>
          </a:p>
        </p:txBody>
      </p:sp>
      <p:sp>
        <p:nvSpPr>
          <p:cNvPr id="21" name="Rectangle 20"/>
          <p:cNvSpPr/>
          <p:nvPr/>
        </p:nvSpPr>
        <p:spPr>
          <a:xfrm>
            <a:off x="8732520" y="5852160"/>
            <a:ext cx="3136392" cy="804672"/>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Calibri"/>
              </a:rPr>
              <a:t>123 Carbon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endParaRPr/>
          </a:p>
        </p:txBody>
      </p:sp>
      <p:sp>
        <p:nvSpPr>
          <p:cNvPr id="3" name="TextBox 2"/>
          <p:cNvSpPr txBox="1"/>
          <p:nvPr/>
        </p:nvSpPr>
        <p:spPr>
          <a:xfrm>
            <a:off x="320040" y="91440"/>
            <a:ext cx="11521440" cy="621792"/>
          </a:xfrm>
          <a:prstGeom prst="rect">
            <a:avLst/>
          </a:prstGeom>
          <a:noFill/>
        </p:spPr>
        <p:txBody>
          <a:bodyPr wrap="square">
            <a:spAutoFit/>
          </a:bodyPr>
          <a:lstStyle/>
          <a:p>
            <a:pPr algn="l"/>
            <a:r>
              <a:rPr sz="2400" b="1" i="0">
                <a:solidFill>
                  <a:srgbClr val="FFFFFF"/>
                </a:solidFill>
                <a:latin typeface="Calibri"/>
              </a:rPr>
              <a:t>The Alternative: Full Self-Certification (SCE)</a:t>
            </a:r>
          </a:p>
        </p:txBody>
      </p:sp>
      <p:sp>
        <p:nvSpPr>
          <p:cNvPr id="4" name="TextBox 3"/>
          <p:cNvSpPr txBox="1"/>
          <p:nvPr/>
        </p:nvSpPr>
        <p:spPr>
          <a:xfrm>
            <a:off x="320040" y="1051560"/>
            <a:ext cx="11521440" cy="594360"/>
          </a:xfrm>
          <a:prstGeom prst="rect">
            <a:avLst/>
          </a:prstGeom>
          <a:noFill/>
        </p:spPr>
        <p:txBody>
          <a:bodyPr wrap="square">
            <a:spAutoFit/>
          </a:bodyPr>
          <a:lstStyle/>
          <a:p>
            <a:pPr algn="l"/>
            <a:r>
              <a:rPr sz="1400" b="0" i="0">
                <a:solidFill>
                  <a:srgbClr val="202020"/>
                </a:solidFill>
                <a:latin typeface="Calibri"/>
              </a:rPr>
              <a:t>If Charm does not pursue the SFC MBM framework, the remaining option is full SCE: Charm internally develops the methodology and manages the registry, outside of SFC MBM and without 123 Carbon.</a:t>
            </a:r>
          </a:p>
        </p:txBody>
      </p:sp>
      <p:sp>
        <p:nvSpPr>
          <p:cNvPr id="5" name="Rectangle 4"/>
          <p:cNvSpPr/>
          <p:nvPr/>
        </p:nvSpPr>
        <p:spPr>
          <a:xfrm>
            <a:off x="320040" y="1828800"/>
            <a:ext cx="5760720" cy="384048"/>
          </a:xfrm>
          <a:prstGeom prst="rect">
            <a:avLst/>
          </a:prstGeom>
          <a:solidFill>
            <a:srgbClr val="175C2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a:solidFill>
                  <a:srgbClr val="FFFFFF"/>
                </a:solidFill>
                <a:latin typeface="Calibri"/>
              </a:rPr>
              <a:t>Pros</a:t>
            </a:r>
          </a:p>
        </p:txBody>
      </p:sp>
      <p:sp>
        <p:nvSpPr>
          <p:cNvPr id="6" name="Rectangle 5"/>
          <p:cNvSpPr/>
          <p:nvPr/>
        </p:nvSpPr>
        <p:spPr>
          <a:xfrm>
            <a:off x="6172200" y="1828800"/>
            <a:ext cx="5696712" cy="38404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a:solidFill>
                  <a:srgbClr val="FFFFFF"/>
                </a:solidFill>
                <a:latin typeface="Calibri"/>
              </a:rPr>
              <a:t>Cons</a:t>
            </a:r>
          </a:p>
        </p:txBody>
      </p:sp>
      <p:sp>
        <p:nvSpPr>
          <p:cNvPr id="7" name="Rectangle 6"/>
          <p:cNvSpPr/>
          <p:nvPr/>
        </p:nvSpPr>
        <p:spPr>
          <a:xfrm>
            <a:off x="320040" y="2240280"/>
            <a:ext cx="5760720" cy="658368"/>
          </a:xfrm>
          <a:prstGeom prst="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202020"/>
                </a:solidFill>
                <a:latin typeface="Calibri"/>
              </a:rPr>
              <a:t>Lowest operational lift of any option</a:t>
            </a:r>
          </a:p>
        </p:txBody>
      </p:sp>
      <p:sp>
        <p:nvSpPr>
          <p:cNvPr id="8" name="Rectangle 7"/>
          <p:cNvSpPr/>
          <p:nvPr/>
        </p:nvSpPr>
        <p:spPr>
          <a:xfrm>
            <a:off x="320040" y="2990088"/>
            <a:ext cx="5760720" cy="658368"/>
          </a:xfrm>
          <a:prstGeom prst="rect">
            <a:avLst/>
          </a:prstGeom>
          <a:solidFill>
            <a:srgbClr val="D5EBD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202020"/>
                </a:solidFill>
                <a:latin typeface="Calibri"/>
              </a:rPr>
              <a:t>Quickest to execute</a:t>
            </a:r>
          </a:p>
        </p:txBody>
      </p:sp>
      <p:sp>
        <p:nvSpPr>
          <p:cNvPr id="9" name="Rectangle 8"/>
          <p:cNvSpPr/>
          <p:nvPr/>
        </p:nvSpPr>
        <p:spPr>
          <a:xfrm>
            <a:off x="320040" y="3739896"/>
            <a:ext cx="5760720" cy="658368"/>
          </a:xfrm>
          <a:prstGeom prst="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202020"/>
                </a:solidFill>
                <a:latin typeface="Calibri"/>
              </a:rPr>
              <a:t>Plays well with existing CDR MRV</a:t>
            </a:r>
          </a:p>
        </p:txBody>
      </p:sp>
      <p:sp>
        <p:nvSpPr>
          <p:cNvPr id="10" name="Rectangle 9"/>
          <p:cNvSpPr/>
          <p:nvPr/>
        </p:nvSpPr>
        <p:spPr>
          <a:xfrm>
            <a:off x="320040" y="4489704"/>
            <a:ext cx="5760720" cy="658368"/>
          </a:xfrm>
          <a:prstGeom prst="rect">
            <a:avLst/>
          </a:prstGeom>
          <a:solidFill>
            <a:srgbClr val="D5EBD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202020"/>
                </a:solidFill>
                <a:latin typeface="Calibri"/>
              </a:rPr>
              <a:t>Upstream methodology is already Isometric-validated</a:t>
            </a:r>
          </a:p>
        </p:txBody>
      </p:sp>
      <p:sp>
        <p:nvSpPr>
          <p:cNvPr id="11" name="Rectangle 10"/>
          <p:cNvSpPr/>
          <p:nvPr/>
        </p:nvSpPr>
        <p:spPr>
          <a:xfrm>
            <a:off x="6172200" y="2240280"/>
            <a:ext cx="5696712" cy="658368"/>
          </a:xfrm>
          <a:prstGeom prst="rect">
            <a:avLst/>
          </a:prstGeom>
          <a:solidFill>
            <a:srgbClr val="FFD5D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a:solidFill>
                  <a:srgbClr val="202020"/>
                </a:solidFill>
                <a:latin typeface="Calibri"/>
              </a:rPr>
              <a:t>No external checks on Charm calculations — straightforward target for conflict-of-interest challenges</a:t>
            </a:r>
          </a:p>
        </p:txBody>
      </p:sp>
      <p:sp>
        <p:nvSpPr>
          <p:cNvPr id="12" name="Rectangle 11"/>
          <p:cNvSpPr/>
          <p:nvPr/>
        </p:nvSpPr>
        <p:spPr>
          <a:xfrm>
            <a:off x="6172200" y="2990088"/>
            <a:ext cx="5696712" cy="658368"/>
          </a:xfrm>
          <a:prstGeom prst="rect">
            <a:avLst/>
          </a:prstGeom>
          <a:solidFill>
            <a:srgbClr val="FFE5E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a:solidFill>
                  <a:srgbClr val="202020"/>
                </a:solidFill>
                <a:latin typeface="Calibri"/>
              </a:rPr>
              <a:t>No registry-level double-counting protection</a:t>
            </a:r>
          </a:p>
        </p:txBody>
      </p:sp>
      <p:sp>
        <p:nvSpPr>
          <p:cNvPr id="13" name="Rectangle 12"/>
          <p:cNvSpPr/>
          <p:nvPr/>
        </p:nvSpPr>
        <p:spPr>
          <a:xfrm>
            <a:off x="6172200" y="3739896"/>
            <a:ext cx="5696712" cy="658368"/>
          </a:xfrm>
          <a:prstGeom prst="rect">
            <a:avLst/>
          </a:prstGeom>
          <a:solidFill>
            <a:srgbClr val="FFD5D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a:solidFill>
                  <a:srgbClr val="202020"/>
                </a:solidFill>
                <a:latin typeface="Calibri"/>
              </a:rPr>
              <a:t>Not tied to SFC MBM — credit acceptance by buyers in that framework is uncertain</a:t>
            </a:r>
          </a:p>
        </p:txBody>
      </p:sp>
      <p:sp>
        <p:nvSpPr>
          <p:cNvPr id="14" name="Rectangle 13"/>
          <p:cNvSpPr/>
          <p:nvPr/>
        </p:nvSpPr>
        <p:spPr>
          <a:xfrm>
            <a:off x="6172200" y="4489704"/>
            <a:ext cx="5696712" cy="658368"/>
          </a:xfrm>
          <a:prstGeom prst="rect">
            <a:avLst/>
          </a:prstGeom>
          <a:solidFill>
            <a:srgbClr val="FFE5E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a:solidFill>
                  <a:srgbClr val="202020"/>
                </a:solidFill>
                <a:latin typeface="Calibri"/>
              </a:rPr>
              <a:t>Weakest market integrity signal</a:t>
            </a:r>
          </a:p>
        </p:txBody>
      </p:sp>
      <p:sp>
        <p:nvSpPr>
          <p:cNvPr id="15" name="Rectangle 14"/>
          <p:cNvSpPr/>
          <p:nvPr/>
        </p:nvSpPr>
        <p:spPr>
          <a:xfrm>
            <a:off x="6172200" y="5239512"/>
            <a:ext cx="5696712" cy="658368"/>
          </a:xfrm>
          <a:prstGeom prst="rect">
            <a:avLst/>
          </a:prstGeom>
          <a:solidFill>
            <a:srgbClr val="FFD5D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a:solidFill>
                  <a:srgbClr val="202020"/>
                </a:solidFill>
                <a:latin typeface="Calibri"/>
              </a:rPr>
              <a:t>Least likely to satisfy customer requirements</a:t>
            </a:r>
          </a:p>
        </p:txBody>
      </p:sp>
      <p:sp>
        <p:nvSpPr>
          <p:cNvPr id="16" name="Rectangle 15"/>
          <p:cNvSpPr/>
          <p:nvPr/>
        </p:nvSpPr>
        <p:spPr>
          <a:xfrm>
            <a:off x="320040" y="6263640"/>
            <a:ext cx="11521440" cy="4572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Calibri"/>
              </a:rPr>
              <a:t>Assessment: Viable mechanically, but least likely to hold up under customer or market scrutiny.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endParaRPr/>
          </a:p>
        </p:txBody>
      </p:sp>
      <p:sp>
        <p:nvSpPr>
          <p:cNvPr id="3" name="TextBox 2"/>
          <p:cNvSpPr txBox="1"/>
          <p:nvPr/>
        </p:nvSpPr>
        <p:spPr>
          <a:xfrm>
            <a:off x="320040" y="91440"/>
            <a:ext cx="11521440" cy="621792"/>
          </a:xfrm>
          <a:prstGeom prst="rect">
            <a:avLst/>
          </a:prstGeom>
          <a:noFill/>
        </p:spPr>
        <p:txBody>
          <a:bodyPr wrap="square">
            <a:spAutoFit/>
          </a:bodyPr>
          <a:lstStyle/>
          <a:p>
            <a:pPr algn="l"/>
            <a:r>
              <a:rPr sz="2400" b="1" i="0">
                <a:solidFill>
                  <a:srgbClr val="FFFFFF"/>
                </a:solidFill>
                <a:latin typeface="Calibri"/>
              </a:rPr>
              <a:t>System-Level Risks</a:t>
            </a:r>
          </a:p>
        </p:txBody>
      </p:sp>
      <p:sp>
        <p:nvSpPr>
          <p:cNvPr id="4" name="Rectangle 3"/>
          <p:cNvSpPr/>
          <p:nvPr/>
        </p:nvSpPr>
        <p:spPr>
          <a:xfrm>
            <a:off x="320040" y="1051560"/>
            <a:ext cx="11521440" cy="38404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a:solidFill>
                  <a:srgbClr val="FFFFFF"/>
                </a:solidFill>
                <a:latin typeface="Calibri"/>
              </a:rPr>
              <a:t>No precedent: dual CDR + SAF accounting on the same process</a:t>
            </a:r>
          </a:p>
        </p:txBody>
      </p:sp>
      <p:sp>
        <p:nvSpPr>
          <p:cNvPr id="5" name="Rectangle 4"/>
          <p:cNvSpPr/>
          <p:nvPr/>
        </p:nvSpPr>
        <p:spPr>
          <a:xfrm>
            <a:off x="320040" y="1435607"/>
            <a:ext cx="11521440" cy="932688"/>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202020"/>
                </a:solidFill>
                <a:latin typeface="Calibri"/>
              </a:rPr>
              <a:t>The prevailing assumption in the field is that CDR credits and biofuel CI credits on the same process are mutually exclusive. Charm's co-product structure may allow both — biochar CDR credits on the solid, bio-oil SAF credits on the liquid — but this requires affirmative methodology development. No existing framework addresses it.</a:t>
            </a:r>
          </a:p>
        </p:txBody>
      </p:sp>
      <p:sp>
        <p:nvSpPr>
          <p:cNvPr id="6" name="Rectangle 5"/>
          <p:cNvSpPr/>
          <p:nvPr/>
        </p:nvSpPr>
        <p:spPr>
          <a:xfrm>
            <a:off x="320040" y="2487168"/>
            <a:ext cx="11521440" cy="38404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a:solidFill>
                  <a:srgbClr val="FFFFFF"/>
                </a:solidFill>
                <a:latin typeface="Calibri"/>
              </a:rPr>
              <a:t>Co-product substitution uncertainty</a:t>
            </a:r>
          </a:p>
        </p:txBody>
      </p:sp>
      <p:sp>
        <p:nvSpPr>
          <p:cNvPr id="7" name="Rectangle 6"/>
          <p:cNvSpPr/>
          <p:nvPr/>
        </p:nvSpPr>
        <p:spPr>
          <a:xfrm>
            <a:off x="320040" y="2871215"/>
            <a:ext cx="11521440" cy="932688"/>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202020"/>
                </a:solidFill>
                <a:latin typeface="Calibri"/>
              </a:rPr>
              <a:t>In CDR accounting, biochar co-product substitution is credited against bio-oil CI. Whether this carries over to the biofuel CI context is not established. If it cannot be applied, the bio-oil CI rises.</a:t>
            </a:r>
          </a:p>
        </p:txBody>
      </p:sp>
      <p:sp>
        <p:nvSpPr>
          <p:cNvPr id="8" name="Rectangle 7"/>
          <p:cNvSpPr/>
          <p:nvPr/>
        </p:nvSpPr>
        <p:spPr>
          <a:xfrm>
            <a:off x="320040" y="3922776"/>
            <a:ext cx="11521440" cy="38404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a:solidFill>
                  <a:srgbClr val="FFFFFF"/>
                </a:solidFill>
                <a:latin typeface="Calibri"/>
              </a:rPr>
              <a:t>Customer requirement conflict</a:t>
            </a:r>
          </a:p>
        </p:txBody>
      </p:sp>
      <p:sp>
        <p:nvSpPr>
          <p:cNvPr id="9" name="Rectangle 8"/>
          <p:cNvSpPr/>
          <p:nvPr/>
        </p:nvSpPr>
        <p:spPr>
          <a:xfrm>
            <a:off x="320040" y="4306824"/>
            <a:ext cx="11521440" cy="932688"/>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202020"/>
                </a:solidFill>
                <a:latin typeface="Calibri"/>
              </a:rPr>
              <a:t>Different key customers may have incompatible requirements: different preferred methodology developers, different community benefit standards, different audit requirements. Charm must establish internal alignment on customer prioritization before outreach begins — this cannot be resolved reactively.</a:t>
            </a:r>
          </a:p>
        </p:txBody>
      </p:sp>
      <p:sp>
        <p:nvSpPr>
          <p:cNvPr id="10" name="Rectangle 9"/>
          <p:cNvSpPr/>
          <p:nvPr/>
        </p:nvSpPr>
        <p:spPr>
          <a:xfrm>
            <a:off x="320040" y="5358383"/>
            <a:ext cx="11521440" cy="38404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a:solidFill>
                  <a:srgbClr val="FFFFFF"/>
                </a:solidFill>
                <a:latin typeface="Calibri"/>
              </a:rPr>
              <a:t>Methodology acceptance risk</a:t>
            </a:r>
          </a:p>
        </p:txBody>
      </p:sp>
      <p:sp>
        <p:nvSpPr>
          <p:cNvPr id="11" name="Rectangle 10"/>
          <p:cNvSpPr/>
          <p:nvPr/>
        </p:nvSpPr>
        <p:spPr>
          <a:xfrm>
            <a:off x="320040" y="5742431"/>
            <a:ext cx="11521440" cy="932688"/>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202020"/>
                </a:solidFill>
                <a:latin typeface="Calibri"/>
              </a:rPr>
              <a:t>A non-certified methodology has no pre-established market credibility. Stakeholder validation (123C, customers, Charm, refinery) reduces but does not eliminate the risk of a challenge after launch.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endParaRPr/>
          </a:p>
        </p:txBody>
      </p:sp>
      <p:sp>
        <p:nvSpPr>
          <p:cNvPr id="3" name="TextBox 2"/>
          <p:cNvSpPr txBox="1"/>
          <p:nvPr/>
        </p:nvSpPr>
        <p:spPr>
          <a:xfrm>
            <a:off x="320040" y="91440"/>
            <a:ext cx="11521440" cy="621792"/>
          </a:xfrm>
          <a:prstGeom prst="rect">
            <a:avLst/>
          </a:prstGeom>
          <a:noFill/>
        </p:spPr>
        <p:txBody>
          <a:bodyPr wrap="square">
            <a:spAutoFit/>
          </a:bodyPr>
          <a:lstStyle/>
          <a:p>
            <a:pPr algn="l"/>
            <a:r>
              <a:rPr sz="2400" b="1" i="0">
                <a:solidFill>
                  <a:srgbClr val="FFFFFF"/>
                </a:solidFill>
                <a:latin typeface="Calibri"/>
              </a:rPr>
              <a:t>Next Steps</a:t>
            </a:r>
          </a:p>
        </p:txBody>
      </p:sp>
      <p:sp>
        <p:nvSpPr>
          <p:cNvPr id="4" name="Rectangle 3"/>
          <p:cNvSpPr/>
          <p:nvPr/>
        </p:nvSpPr>
        <p:spPr>
          <a:xfrm>
            <a:off x="320040" y="1097280"/>
            <a:ext cx="502920"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1</a:t>
            </a:r>
          </a:p>
        </p:txBody>
      </p:sp>
      <p:sp>
        <p:nvSpPr>
          <p:cNvPr id="5" name="Rectangle 4"/>
          <p:cNvSpPr/>
          <p:nvPr/>
        </p:nvSpPr>
        <p:spPr>
          <a:xfrm>
            <a:off x="868680" y="1097280"/>
            <a:ext cx="3474720" cy="40233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a:solidFill>
                  <a:srgbClr val="FFFFFF"/>
                </a:solidFill>
                <a:latin typeface="Calibri"/>
              </a:rPr>
              <a:t>Clarify SFC MBM non-certified criteria (123C / SFC)</a:t>
            </a:r>
          </a:p>
        </p:txBody>
      </p:sp>
      <p:sp>
        <p:nvSpPr>
          <p:cNvPr id="6" name="Rectangle 5"/>
          <p:cNvSpPr/>
          <p:nvPr/>
        </p:nvSpPr>
        <p:spPr>
          <a:xfrm>
            <a:off x="868680" y="1499616"/>
            <a:ext cx="10561320" cy="786384"/>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202020"/>
                </a:solidFill>
                <a:latin typeface="Calibri"/>
              </a:rPr>
              <a:t>This is the prerequisite for all downstream work — criteria define the scope of work put to the methodology partner. In parallel: Jeroen to report back on ISO 14083 interaction, methodology developer accreditation requirements, and Isometric role in biofuel CI certification.</a:t>
            </a:r>
          </a:p>
        </p:txBody>
      </p:sp>
      <p:sp>
        <p:nvSpPr>
          <p:cNvPr id="7" name="Rectangle 6"/>
          <p:cNvSpPr/>
          <p:nvPr/>
        </p:nvSpPr>
        <p:spPr>
          <a:xfrm>
            <a:off x="320040" y="2514600"/>
            <a:ext cx="502920"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2</a:t>
            </a:r>
          </a:p>
        </p:txBody>
      </p:sp>
      <p:sp>
        <p:nvSpPr>
          <p:cNvPr id="8" name="Rectangle 7"/>
          <p:cNvSpPr/>
          <p:nvPr/>
        </p:nvSpPr>
        <p:spPr>
          <a:xfrm>
            <a:off x="868680" y="2514600"/>
            <a:ext cx="3474720" cy="40233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a:solidFill>
                  <a:srgbClr val="FFFFFF"/>
                </a:solidFill>
                <a:latin typeface="Calibri"/>
              </a:rPr>
              <a:t>Internal alignment on customer conflict prioritization</a:t>
            </a:r>
          </a:p>
        </p:txBody>
      </p:sp>
      <p:sp>
        <p:nvSpPr>
          <p:cNvPr id="9" name="Rectangle 8"/>
          <p:cNvSpPr/>
          <p:nvPr/>
        </p:nvSpPr>
        <p:spPr>
          <a:xfrm>
            <a:off x="868680" y="2916936"/>
            <a:ext cx="10561320" cy="786384"/>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202020"/>
                </a:solidFill>
                <a:latin typeface="Calibri"/>
              </a:rPr>
              <a:t>Establish which customer relationships take priority if buyer requirements diverge. Must be resolved before customer outreach.</a:t>
            </a:r>
          </a:p>
        </p:txBody>
      </p:sp>
      <p:sp>
        <p:nvSpPr>
          <p:cNvPr id="10" name="Rectangle 9"/>
          <p:cNvSpPr/>
          <p:nvPr/>
        </p:nvSpPr>
        <p:spPr>
          <a:xfrm>
            <a:off x="320040" y="3931920"/>
            <a:ext cx="502920"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3</a:t>
            </a:r>
          </a:p>
        </p:txBody>
      </p:sp>
      <p:sp>
        <p:nvSpPr>
          <p:cNvPr id="11" name="Rectangle 10"/>
          <p:cNvSpPr/>
          <p:nvPr/>
        </p:nvSpPr>
        <p:spPr>
          <a:xfrm>
            <a:off x="868680" y="3931920"/>
            <a:ext cx="3474720" cy="40233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a:solidFill>
                  <a:srgbClr val="FFFFFF"/>
                </a:solidFill>
                <a:latin typeface="Calibri"/>
              </a:rPr>
              <a:t>Customer outreach: define requirements, identify partner</a:t>
            </a:r>
          </a:p>
        </p:txBody>
      </p:sp>
      <p:sp>
        <p:nvSpPr>
          <p:cNvPr id="12" name="Rectangle 11"/>
          <p:cNvSpPr/>
          <p:nvPr/>
        </p:nvSpPr>
        <p:spPr>
          <a:xfrm>
            <a:off x="868680" y="4334256"/>
            <a:ext cx="10561320" cy="786384"/>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202020"/>
                </a:solidFill>
                <a:latin typeface="Calibri"/>
              </a:rPr>
              <a:t>Work with Amazon, DHL, and other key buyers to specify non-quantification requirements and identify a preferred third-party methodology developer.</a:t>
            </a:r>
          </a:p>
        </p:txBody>
      </p:sp>
      <p:sp>
        <p:nvSpPr>
          <p:cNvPr id="13" name="Rectangle 12"/>
          <p:cNvSpPr/>
          <p:nvPr/>
        </p:nvSpPr>
        <p:spPr>
          <a:xfrm>
            <a:off x="320040" y="5349240"/>
            <a:ext cx="502920"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4</a:t>
            </a:r>
          </a:p>
        </p:txBody>
      </p:sp>
      <p:sp>
        <p:nvSpPr>
          <p:cNvPr id="14" name="Rectangle 13"/>
          <p:cNvSpPr/>
          <p:nvPr/>
        </p:nvSpPr>
        <p:spPr>
          <a:xfrm>
            <a:off x="868680" y="5349240"/>
            <a:ext cx="3474720" cy="40233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a:solidFill>
                  <a:srgbClr val="FFFFFF"/>
                </a:solidFill>
                <a:latin typeface="Calibri"/>
              </a:rPr>
              <a:t>Develop and validate methodology</a:t>
            </a:r>
          </a:p>
        </p:txBody>
      </p:sp>
      <p:sp>
        <p:nvSpPr>
          <p:cNvPr id="15" name="Rectangle 14"/>
          <p:cNvSpPr/>
          <p:nvPr/>
        </p:nvSpPr>
        <p:spPr>
          <a:xfrm>
            <a:off x="868680" y="5751576"/>
            <a:ext cx="10561320" cy="786384"/>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202020"/>
                </a:solidFill>
                <a:latin typeface="Calibri"/>
              </a:rPr>
              <a:t>Work with selected partner to develop methodology satisfying SFC MBM criteria, customer requirements, and Charm/refinery operability. All-stakeholder validation before launch.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1857</Words>
  <Application>Microsoft Macintosh PowerPoint</Application>
  <PresentationFormat>Custom</PresentationFormat>
  <Paragraphs>155</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Max Bernard Lavine</cp:lastModifiedBy>
  <cp:revision>1</cp:revision>
  <dcterms:created xsi:type="dcterms:W3CDTF">2013-01-27T09:14:16Z</dcterms:created>
  <dcterms:modified xsi:type="dcterms:W3CDTF">2026-06-02T20:37:54Z</dcterms:modified>
  <cp:category/>
</cp:coreProperties>
</file>