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 i="0">
                <a:solidFill>
                  <a:srgbClr val="1F3864"/>
                </a:solidFill>
              </a:rPr>
              <a:t>SAF Methodology Framework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</a:rPr>
              <a:t>Bio-Oil → FCC Co-Processing → SAF Credit  |  Charm Industrial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B6E6E"/>
                </a:solidFill>
              </a:rPr>
              <a:t>ISCC-downstream variant — ISCC PLUS conventions replace RSB for Steps 7–9, 11–12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</a:rPr>
              <a:t>Steps 1–6, 10: Charm CDR methodology (validated PDD v1.12)   ·   Steps 7–9, 11–12: Bolt-On (ISCC PLUS)   ·   Steps 13–15: 123Carbon (SFC MBM)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</a:rPr>
              <a:t>Design Principles — “one root, many branches”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222222"/>
                </a:solidFill>
              </a:rPr>
              <a:t>One production system serves both carbon removal (CDR) and environmental attributes (EACs) — one architecture from the most applicable parts of each.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1  Unusual dual mandate — one pyrolysis system generates intermediate products feeding both CDR and EACs. No single end-to-end methodology fits both.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2  Both-and, not either-or — the architecture must accommodate multiple crediting schemes without undue burden or loss of accounting integrity.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3  One root, many branches — different pieces may use different methodologies, bundled/unbundled as needed.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</a:rPr>
              <a:t>4  Leverage the CDR investment — reuse Charm’s validated Isometric CDR work for EACs.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B6E6E"/>
                </a:solidFill>
              </a:rPr>
              <a:t>“Bolt-on” concept: the root (biomass qualification + pyrolysis CI) stays on Charm’s validated CDR methodology; reputable published methodologies bolt on downstream. This variant uses ISCC PLUS as the co-processing branch — chosen because ~5–6 US refineries are ISCC-certified for co-processing vs 0 under RSB.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 OF 15   ·   Biomass Qualification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§B — Project Eligibility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Biomass Feedstock Accounting v1.3 — Sustainability Criteria SC1–SC7 (§2.1), Prohibited Feedstocks (§4.1), Market Leakage (§4)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Three source-agnostic eligibility gates from BFA v1.3; Counterfactual Storage (§3) is the one gate excluded — a removals concept with no role in a fuel-displacement claim.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Charm’s CDR project already cleared these gates under the PDD; the SAF claim reuses the determination. Module is tailored to woody biomass from wildfire fuels reduction.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2 OF 15   ·   Biomass Sourcing &amp; Collection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§B — Monitoring Plan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BFA v1.3 §2.1 + Appendix 1 (origin, harvest authorization, mass per batch)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Monitoring-plan framework records feedstock origin, authorization and mass per supply-chain batch. Wildfire fuel-reduction biomass qualifies as waste/residue → zero emissions up to collection.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Framework already in place for the CDR project; reusable for SAF with no new sourcing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3 OF 15   ·   Biomass Transport to Conversion Site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§B — Project Boundary &amp; Monitoring Plan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Transportation Emissions Accounting v1.1 §3.3 (Distance-Based: CO₂e = D × W × EF); §3.4 + App.1 (EF currency floors)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PDD sets the boundary/monitoring for truck &amp; rail legs; the Transportation module gives the distance-based calculation. EFs updated ≥ annually per the PDD.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Already inside Charm’s validated PDD boundary; transfers to the SAF claim unchanged. Covers multimodal (rail + truck).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4 OF 15   ·   Biomass Conversion (Pyrolysis)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§B — Technical Description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Bio-oil Geological Storage v1.2 §4/§8.1 (Production Batch), §8.5.6 (tailgas CH₄ × GWP), Energy Use Accounting v1.3 (facility energy)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Pyrolysis converts biomass to bio-oil (the SAF feedstock). Direct emissions = tailgas CH₄ (CO₂ not discounted — feedstock would decay &lt; 15 yr). Facility energy via Energy Use module.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Charm’s existing validated conversion methodology — no new development. Note: capex embodied emissions currently in production CI; moving to amortize against gross removals, aligning with ISCC (EU 205 excludes machinery/equipment manufacture).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5 OF 15   ·   Allocation of Tree-to-Gate Emissions to Co-Products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Appendix 6 — GHG Statement Methodology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GHG Accounting Module v1.1 §6.1; Bio-oil Geological Storage v1.2 §8.5.5.1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allocates tree-to-gate process emissions across co-products (biochar / bio-oil fractions) on a CARBON-MASS basis (the protocol’s optional energy method is not used at this step).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Keeps SAF co-product accounting identical to the validated CDR treatment on the same pyrolysis process. NOTE: ISCC downstream (Step 8) allocates by energy — the basis switches mid-chain and must be 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6 OF 15   ·   Bio-Oil Transport to Refinery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Charm PDD v1.12, §B — Project Boundary &amp; Monitoring Plan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Underlying: Transportation Emissions Accounting v1.1 §3.3 (rail + truck)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Bio-oil shipment to the FCC refinery uses the same validated transport-accounting method (distance × mass × mode EF); only the destination is SAF-specific.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Method already validated in the CDR PDD; carries over without new methodology and keeps verifier review consistent.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7 OF 15   ·   Refinery Co-Processing into Fuel Co-Products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B6E6E"/>
                </a:solidFill>
              </a:rPr>
              <a:t>Bolt-On — ISCC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PLUS 203-2 Chain of Custody v1.1, §6.4.2 — mass-balancing options under the Credit Method (incl. Free Attribution)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PLUS 203-2 v1.1, §7 — biogenic content by ¹⁴C (radiocarbon), independent of the CoC model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Co-Processing guidance (ISCC PLUS guidance document)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handles bio + fossil FCC co-processing through its Chain of Custody. The biogenic fraction of outputs is determined by ¹⁴C analysis (203-2 §7); the certified bio-oil share is carried through the mass-balance / Credit Method (§6.4.2).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PLUS is the voluntary scheme with published free-attribution AND an existing US co-processing certified-refinery base (~5–6, vs 0 RSB) — coverage plus the partner availability the pathway needs.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KEY EQUATION / RULE</a:t>
            </a:r>
          </a:p>
          <a:p>
            <a:pPr>
              <a:spcAft>
                <a:spcPts val="200"/>
              </a:spcAft>
            </a:pPr>
            <a:r>
              <a:rPr sz="1150" b="0" i="1">
                <a:solidFill>
                  <a:srgbClr val="0B6E6E"/>
                </a:solidFill>
              </a:rPr>
              <a:t>Credit Method: CF = (A_out ÷ A_in) × 100 ;  A_credit = CF × A_certified-input   (203-2 §6.4.2); biogenic carbon fixed by ¹⁴C (§7)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8 OF 15   ·   Allocation of Refinery Emissions to Co-Products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B6E6E"/>
                </a:solidFill>
              </a:rPr>
              <a:t>Bolt-On — ISCC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EU 205 v4.1, §4.3.8 — allocation of emissions to main &amp; co-products by ENERGY content (mandatory)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EU 205 v4.1, §4.3.5 — processing emissions (e_p)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Refinery processing emissions are allocated across the fuel co-products by energy content (§4.3.8) — each output carries an energy-share. This is ISCC’s mandatory basis, replacing RSB’s marginal virtual-baseline split.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Energy-content allocation is EU 205’s required method; using it now keeps the SAF CI consistent for eventual ISCC PLUS certification. Seam to document: the CDR root allocates by carbon mass at pyrolysis (Step 5) — the basis changes here.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KEY EQUATION / RULE</a:t>
            </a:r>
          </a:p>
          <a:p>
            <a:pPr>
              <a:spcAft>
                <a:spcPts val="200"/>
              </a:spcAft>
            </a:pPr>
            <a:r>
              <a:rPr sz="1150" b="0" i="1">
                <a:solidFill>
                  <a:srgbClr val="0B6E6E"/>
                </a:solidFill>
              </a:rPr>
              <a:t>AF_product = LHV-energy(product) ÷ Σ LHV-energy(all outputs)   (EU 205 §4.3.8)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9 OF 15   ·   Allocation of Biogenic Carbon Attribute to Fuel Co-Products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B6E6E"/>
                </a:solidFill>
              </a:rPr>
              <a:t>Bolt-On — ISCC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PLUS 203-2 v1.1, §6.4.2 — “Free Attribution Approach” under the Credit Method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Under Free Attribution the operator attributes the bio-oil’s certified sustainability characteristics to one or multiple outputs (e.g. SAF), irrespective of the proportion of certified input — within Chapter 6 guardrails (mass balance + conversion factors; capped at certified input × conversion).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Direct ISCC analog to RSB flexible attribution — lets the biogenic credit ride on the SAF output. ISCC chosen over RSB for US refinery availability; two published voluntary standards (ISCC PLUS, RSB Global) sanction the mechanism.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KEY EQUATION / RULE</a:t>
            </a:r>
          </a:p>
          <a:p>
            <a:pPr>
              <a:spcAft>
                <a:spcPts val="200"/>
              </a:spcAft>
            </a:pPr>
            <a:r>
              <a:rPr sz="1150" b="0" i="1">
                <a:solidFill>
                  <a:srgbClr val="0B6E6E"/>
                </a:solidFill>
              </a:rPr>
              <a:t>Verbatim (203-2 §6.4.2): “System users can freely attribute the sustainability characteristics from the certified input(s) to one (or multiple) products… irrelevant of the proportion of the certified input material.”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10 OF 15   ·   Transport of Fuel(s) to Blend Point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5B2C83"/>
                </a:solidFill>
              </a:rPr>
              <a:t>Charm CDR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Transportation Emissions Accounting v1.1 §3.3 (Distance-Based, same as Steps 3 &amp; 6); Appendix 1 (EF currency floors: pipeline ≤7 yr, ship ≤5 yr, road ≤3 yr)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Finished-fuel transport from refinery to blend point. Downstream of the CDR PDD boundary, so it borrows the Transportation module directly.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Same transport method used end-to-end; consistent EF sourcing rules across all legs.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11 OF 15   ·   Quantification of Tree-to-Wake CI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B6E6E"/>
                </a:solidFill>
              </a:rPr>
              <a:t>Bolt-On — ISCC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EU 205 v4.1, §4.3 — central CI formula (same structure as RSB; both RED-derived)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IR (EU) 2022/996, Annex IX — standard emission factors; GWP CO₂=1, CH₄=28, N₂O=265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GHG rides on the voluntary ISCC PLUS “GHG emissions” add-on (201 §2.4; 203-2 Annex I)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Aggregate lifecycle components into a CI: kgCO₂eq/dry-ton for the bio-oil intermediate, gCO₂eq/MJ for the final fuel. EFs from Annex IX (primary); grid electricity at the national-mix EF (§4.3.5.1) — no REC book-and-claim.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EU 205 is the GHG methodology in the ISCC PLUS document set (Overview v1.2, Table 1). Charm’s CI calculator already computes this from production data.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KEY EQUATION / RULE</a:t>
            </a:r>
          </a:p>
          <a:p>
            <a:pPr>
              <a:spcAft>
                <a:spcPts val="200"/>
              </a:spcAft>
            </a:pPr>
            <a:r>
              <a:rPr sz="1150" b="0" i="1">
                <a:solidFill>
                  <a:srgbClr val="0B6E6E"/>
                </a:solidFill>
              </a:rPr>
              <a:t>E = e_ec + e_l + e_p + e_td + e_u − e_sca − e_ccs − e_ccr   (EU 205 §4.3)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12 OF 15   ·   Quantification of GHG Reduction vs Fossil Baseline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B6E6E"/>
                </a:solidFill>
              </a:rPr>
              <a:t>Bolt-On — ISCC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EU 205 v4.1, §2 — GHG-savings requirement (RED III Art 31 thresholds; RED fossil comparator)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Saving % = (E_F − E) ÷ E_F × 100. Comparator per RED (EU 205 §2). [Exact comparator value TO CONFIRM from RED Annex V — not read this session; the RED transport comparator and the CORSIA aviation baseline differ.]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ISCC EU is RED-based, so savings anchor to the RED comparator. For a voluntary PLUS claim the pass/fail threshold is set by the destination market, not asserted here.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KEY EQUATION / RULE</a:t>
            </a:r>
          </a:p>
          <a:p>
            <a:pPr>
              <a:spcAft>
                <a:spcPts val="200"/>
              </a:spcAft>
            </a:pPr>
            <a:r>
              <a:rPr sz="1150" b="0" i="1">
                <a:solidFill>
                  <a:srgbClr val="0B6E6E"/>
                </a:solidFill>
              </a:rPr>
              <a:t>Saving % = (E_F − E) ÷ E_F ×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13 OF 15   ·   Verification of Quantified Reductions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E6B3A"/>
                </a:solidFill>
              </a:rPr>
              <a:t>123Carbon (SFC MBM)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SFC-SPEC-001 v01, §6.1.2 + §6.1.3 + §12 — third-party assessment for non-certified Solutions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ISO 14064-3:2019 — verification/validation of GHG statements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SFC MBM requires a transparent, verifiable tracking system for minimum metrics, verified by independent third party; ISO 14064-3 is the established verification framework.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SFC MBM’s non-certified track drives the requirement; ISO 14064-3 is its normative framework.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14 OF 15   ·   Credit Issuance on Registry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E6B3A"/>
                </a:solidFill>
              </a:rPr>
              <a:t>123Carbon (SFC MBM)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SFC-SPEC-001 v01, §3.25 + §6.1.3 — Solution registration &amp; Sustainability Profile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123Carbon registry protocols (format, unique ID, anti-double-counting ledger)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Sustainability Profile per credit: lifecycle EFs, LHV, feedstock type, production process, batch ID. Registry governs issuance format and the anti-double-counting ledger.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Registry issuance provides the double-counting protection for running parallel CDR and SAF accounting. (Registry may be 123Carbon or Isometric — Charm is in discussion with Isometric on hosting SAF attributes.)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</a:rPr>
              <a:t>STEP 15 OF 15   ·   Credit Delivery, Retirement &amp; Integrity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E6B3A"/>
                </a:solidFill>
              </a:rPr>
              <a:t>123Carbon (SFC MBM)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NORMATIVE REFERENCE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SFC-SPEC-001 v01, §6.1.3 — non-certified Solution disclosure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123Carbon protocols — retirement, transfer chain, anti-double-counting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WHAT IT IS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§6.1.3 requires non-certified Solutions to disclose underlying calculations, data sources and production processes in the buyer’s Report.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595959"/>
                </a:solidFill>
              </a:rPr>
              <a:t>WHY IT’S BEING USED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</a:rPr>
              <a:t>• Binding disclosure obligation for non-certified Solutions; the methodology must produce all elements in transferable 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