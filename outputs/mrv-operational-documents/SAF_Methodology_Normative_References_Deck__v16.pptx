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3"/>
    <p:sldId id="27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097"/>
    <p:restoredTop sz="94589"/>
  </p:normalViewPr>
  <p:slideViewPr>
    <p:cSldViewPr snapToGrid="0" snapToObjects="1">
      <p:cViewPr varScale="1">
        <p:scale>
          <a:sx n="96" d="100"/>
          <a:sy n="96" d="100"/>
        </p:scale>
        <p:origin x="192" y="6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737360"/>
            <a:ext cx="10515600" cy="914400"/>
          </a:xfrm>
          <a:prstGeom prst="rect">
            <a:avLst/>
          </a:prstGeom>
          <a:noFill/>
        </p:spPr>
        <p:txBody>
          <a:bodyPr wrap="square">
            <a:spAutoFit/>
          </a:bodyPr>
          <a:lstStyle/>
          <a:p>
            <a:pPr algn="l"/>
            <a:r>
              <a:rPr sz="3800" b="1">
                <a:solidFill>
                  <a:srgbClr val="FFFFFF"/>
                </a:solidFill>
              </a:rPr>
              <a:t>SAF Methodology Framework</a:t>
            </a:r>
          </a:p>
        </p:txBody>
      </p:sp>
      <p:sp>
        <p:nvSpPr>
          <p:cNvPr id="4" name="TextBox 3"/>
          <p:cNvSpPr txBox="1"/>
          <p:nvPr/>
        </p:nvSpPr>
        <p:spPr>
          <a:xfrm>
            <a:off x="731520" y="2743200"/>
            <a:ext cx="10515600" cy="548640"/>
          </a:xfrm>
          <a:prstGeom prst="rect">
            <a:avLst/>
          </a:prstGeom>
          <a:noFill/>
        </p:spPr>
        <p:txBody>
          <a:bodyPr wrap="none">
            <a:spAutoFit/>
          </a:bodyPr>
          <a:lstStyle/>
          <a:p>
            <a:pPr algn="l"/>
            <a:r>
              <a:rPr sz="2200" b="0">
                <a:solidFill>
                  <a:srgbClr val="BFD7ED"/>
                </a:solidFill>
              </a:rPr>
              <a:t>Step-by-Step Normative References</a:t>
            </a:r>
          </a:p>
        </p:txBody>
      </p:sp>
      <p:sp>
        <p:nvSpPr>
          <p:cNvPr id="5" name="TextBox 4"/>
          <p:cNvSpPr txBox="1"/>
          <p:nvPr/>
        </p:nvSpPr>
        <p:spPr>
          <a:xfrm>
            <a:off x="731520" y="3429000"/>
            <a:ext cx="9144000" cy="365760"/>
          </a:xfrm>
          <a:prstGeom prst="rect">
            <a:avLst/>
          </a:prstGeom>
          <a:noFill/>
        </p:spPr>
        <p:txBody>
          <a:bodyPr wrap="none">
            <a:spAutoFit/>
          </a:bodyPr>
          <a:lstStyle/>
          <a:p>
            <a:pPr algn="l"/>
            <a:r>
              <a:rPr sz="1200" b="0">
                <a:solidFill>
                  <a:srgbClr val="8BADCA"/>
                </a:solidFill>
              </a:rPr>
              <a:t>Bio-Oil  →  FCC Co-Processing  →  SAF Credit   |   Charm Industrial   |   June 2026</a:t>
            </a:r>
          </a:p>
        </p:txBody>
      </p:sp>
      <p:sp>
        <p:nvSpPr>
          <p:cNvPr id="6" name="Rectangle 5"/>
          <p:cNvSpPr/>
          <p:nvPr/>
        </p:nvSpPr>
        <p:spPr>
          <a:xfrm>
            <a:off x="731520" y="4709160"/>
            <a:ext cx="201168" cy="2011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4681728"/>
            <a:ext cx="10058400" cy="274320"/>
          </a:xfrm>
          <a:prstGeom prst="rect">
            <a:avLst/>
          </a:prstGeom>
          <a:noFill/>
        </p:spPr>
        <p:txBody>
          <a:bodyPr wrap="none">
            <a:spAutoFit/>
          </a:bodyPr>
          <a:lstStyle/>
          <a:p>
            <a:pPr algn="l"/>
            <a:r>
              <a:rPr sz="1250" b="0">
                <a:solidFill>
                  <a:srgbClr val="FFFFFF"/>
                </a:solidFill>
              </a:rPr>
              <a:t>Steps 1–6, 10   Charm CDR Methodology — validated PDD v1.12 (underlying Isometric protocols cited beneath)</a:t>
            </a:r>
          </a:p>
        </p:txBody>
      </p:sp>
      <p:sp>
        <p:nvSpPr>
          <p:cNvPr id="8" name="Rectangle 7"/>
          <p:cNvSpPr/>
          <p:nvPr/>
        </p:nvSpPr>
        <p:spPr>
          <a:xfrm>
            <a:off x="731520" y="5120640"/>
            <a:ext cx="201168" cy="201168"/>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5093208"/>
            <a:ext cx="10058400" cy="274320"/>
          </a:xfrm>
          <a:prstGeom prst="rect">
            <a:avLst/>
          </a:prstGeom>
          <a:noFill/>
        </p:spPr>
        <p:txBody>
          <a:bodyPr wrap="none">
            <a:spAutoFit/>
          </a:bodyPr>
          <a:lstStyle/>
          <a:p>
            <a:pPr algn="l"/>
            <a:r>
              <a:rPr sz="1250" b="0">
                <a:solidFill>
                  <a:srgbClr val="FFFFFF"/>
                </a:solidFill>
              </a:rPr>
              <a:t>Steps 7–9, 11–12   Bolt-On — Novel Methodology (RSB / ISCC normative references)</a:t>
            </a:r>
          </a:p>
        </p:txBody>
      </p:sp>
      <p:sp>
        <p:nvSpPr>
          <p:cNvPr id="10" name="Rectangle 9"/>
          <p:cNvSpPr/>
          <p:nvPr/>
        </p:nvSpPr>
        <p:spPr>
          <a:xfrm>
            <a:off x="731520" y="5532120"/>
            <a:ext cx="201168" cy="201168"/>
          </a:xfrm>
          <a:prstGeom prst="rect">
            <a:avLst/>
          </a:prstGeom>
          <a:solidFill>
            <a:srgbClr val="378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5504688"/>
            <a:ext cx="10058400" cy="274320"/>
          </a:xfrm>
          <a:prstGeom prst="rect">
            <a:avLst/>
          </a:prstGeom>
          <a:noFill/>
        </p:spPr>
        <p:txBody>
          <a:bodyPr wrap="none">
            <a:spAutoFit/>
          </a:bodyPr>
          <a:lstStyle/>
          <a:p>
            <a:pPr algn="l"/>
            <a:r>
              <a:rPr sz="1250" b="0">
                <a:solidFill>
                  <a:srgbClr val="FFFFFF"/>
                </a:solidFill>
              </a:rPr>
              <a:t>Steps 13–15   123 Carbon (SFC MBM Framework)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680960" cy="548640"/>
          </a:xfrm>
          <a:prstGeom prst="rect">
            <a:avLst/>
          </a:prstGeom>
          <a:noFill/>
        </p:spPr>
        <p:txBody>
          <a:bodyPr wrap="square">
            <a:spAutoFit/>
          </a:bodyPr>
          <a:lstStyle/>
          <a:p>
            <a:r>
              <a:rPr sz="2800" b="1">
                <a:solidFill>
                  <a:srgbClr val="2E75B6"/>
                </a:solidFill>
              </a:rPr>
              <a:t>Design Principles</a:t>
            </a:r>
          </a:p>
        </p:txBody>
      </p:sp>
      <p:sp>
        <p:nvSpPr>
          <p:cNvPr id="3" name="TextBox 2"/>
          <p:cNvSpPr txBox="1"/>
          <p:nvPr/>
        </p:nvSpPr>
        <p:spPr>
          <a:xfrm>
            <a:off x="457200" y="868680"/>
            <a:ext cx="7680960" cy="548640"/>
          </a:xfrm>
          <a:prstGeom prst="rect">
            <a:avLst/>
          </a:prstGeom>
          <a:noFill/>
        </p:spPr>
        <p:txBody>
          <a:bodyPr wrap="square">
            <a:spAutoFit/>
          </a:bodyPr>
          <a:lstStyle/>
          <a:p>
            <a:r>
              <a:rPr sz="1250" i="1">
                <a:solidFill>
                  <a:srgbClr val="7F7F7F"/>
                </a:solidFill>
              </a:rPr>
              <a:t>One production system serving both carbon removal (CDR) and EACs — one architecture built from the most applicable parts of each.</a:t>
            </a:r>
          </a:p>
        </p:txBody>
      </p:sp>
      <p:sp>
        <p:nvSpPr>
          <p:cNvPr id="4" name="TextBox 3"/>
          <p:cNvSpPr txBox="1"/>
          <p:nvPr/>
        </p:nvSpPr>
        <p:spPr>
          <a:xfrm>
            <a:off x="457200" y="1600200"/>
            <a:ext cx="7452360" cy="4983480"/>
          </a:xfrm>
          <a:prstGeom prst="rect">
            <a:avLst/>
          </a:prstGeom>
          <a:noFill/>
        </p:spPr>
        <p:txBody>
          <a:bodyPr wrap="square">
            <a:spAutoFit/>
          </a:bodyPr>
          <a:lstStyle/>
          <a:p>
            <a:pPr>
              <a:spcBef>
                <a:spcPts val="0"/>
              </a:spcBef>
              <a:spcAft>
                <a:spcPts val="1200"/>
              </a:spcAft>
            </a:pPr>
            <a:r>
              <a:rPr sz="1500" b="1">
                <a:solidFill>
                  <a:srgbClr val="2E75B6"/>
                </a:solidFill>
              </a:rPr>
              <a:t>1   </a:t>
            </a:r>
            <a:r>
              <a:rPr sz="1300" b="1">
                <a:solidFill>
                  <a:srgbClr val="333333"/>
                </a:solidFill>
              </a:rPr>
              <a:t>An unusual dual mandate.  </a:t>
            </a:r>
            <a:r>
              <a:rPr sz="1300">
                <a:solidFill>
                  <a:srgbClr val="333333"/>
                </a:solidFill>
              </a:rPr>
              <a:t>Charm uses one production system to generate both CDR and EACs, as a business that began focused only on CDR. Neither the CDR-only nor the EAC-only methodologies is a perfect fit.</a:t>
            </a:r>
          </a:p>
          <a:p>
            <a:pPr>
              <a:spcBef>
                <a:spcPts val="0"/>
              </a:spcBef>
              <a:spcAft>
                <a:spcPts val="1200"/>
              </a:spcAft>
            </a:pPr>
            <a:r>
              <a:rPr sz="1500" b="1">
                <a:solidFill>
                  <a:srgbClr val="2E75B6"/>
                </a:solidFill>
              </a:rPr>
              <a:t>2   </a:t>
            </a:r>
            <a:r>
              <a:rPr sz="1300" b="1">
                <a:solidFill>
                  <a:srgbClr val="333333"/>
                </a:solidFill>
              </a:rPr>
              <a:t>Both-and, not either-or.  </a:t>
            </a:r>
            <a:r>
              <a:rPr sz="1300">
                <a:solidFill>
                  <a:srgbClr val="333333"/>
                </a:solidFill>
              </a:rPr>
              <a:t>Charm's process is both-and, not either-or. The methodological architecture should match that structure by taking the best and most applicable aspects of CDR and EAC norms to build one dual-purpose structure.</a:t>
            </a:r>
          </a:p>
          <a:p>
            <a:pPr>
              <a:spcBef>
                <a:spcPts val="0"/>
              </a:spcBef>
              <a:spcAft>
                <a:spcPts val="1200"/>
              </a:spcAft>
            </a:pPr>
            <a:r>
              <a:rPr sz="1500" b="1">
                <a:solidFill>
                  <a:srgbClr val="2E75B6"/>
                </a:solidFill>
              </a:rPr>
              <a:t>3   </a:t>
            </a:r>
            <a:r>
              <a:rPr sz="1300" b="1">
                <a:solidFill>
                  <a:srgbClr val="333333"/>
                </a:solidFill>
              </a:rPr>
              <a:t>One regime, not two.  </a:t>
            </a:r>
            <a:r>
              <a:rPr sz="1300">
                <a:solidFill>
                  <a:srgbClr val="333333"/>
                </a:solidFill>
              </a:rPr>
              <a:t>Running two separate accounting or supply-chain qualification regimes for a single production process is neither practical nor scalable.</a:t>
            </a:r>
          </a:p>
          <a:p>
            <a:pPr>
              <a:spcBef>
                <a:spcPts val="0"/>
              </a:spcBef>
              <a:spcAft>
                <a:spcPts val="1200"/>
              </a:spcAft>
            </a:pPr>
            <a:r>
              <a:rPr sz="1500" b="1">
                <a:solidFill>
                  <a:srgbClr val="2E75B6"/>
                </a:solidFill>
              </a:rPr>
              <a:t>4   </a:t>
            </a:r>
            <a:r>
              <a:rPr sz="1300" b="1">
                <a:solidFill>
                  <a:srgbClr val="333333"/>
                </a:solidFill>
              </a:rPr>
              <a:t>Leverage the CDR investment.  </a:t>
            </a:r>
            <a:r>
              <a:rPr sz="1300">
                <a:solidFill>
                  <a:srgbClr val="333333"/>
                </a:solidFill>
              </a:rPr>
              <a:t>Charm has already invested heavily in validating its CDR projects under Isometric's rigorous requirements. That work should be leveraged as much as possible for EACs.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3291840" cy="502920"/>
          </a:xfrm>
          <a:prstGeom prst="rect">
            <a:avLst/>
          </a:prstGeom>
          <a:noFill/>
        </p:spPr>
        <p:txBody>
          <a:bodyPr wrap="none">
            <a:spAutoFit/>
          </a:bodyPr>
          <a:lstStyle/>
          <a:p>
            <a:r>
              <a:rPr sz="1500" b="1">
                <a:solidFill>
                  <a:srgbClr val="2E75B6"/>
                </a:solidFill>
              </a:rPr>
              <a:t>Methodological Architecture</a:t>
            </a:r>
          </a:p>
        </p:txBody>
      </p:sp>
      <p:sp>
        <p:nvSpPr>
          <p:cNvPr id="3" name="Rounded Rectangle 2"/>
          <p:cNvSpPr/>
          <p:nvPr/>
        </p:nvSpPr>
        <p:spPr>
          <a:xfrm>
            <a:off x="493776" y="713232"/>
            <a:ext cx="2057400" cy="658368"/>
          </a:xfrm>
          <a:prstGeom prst="roundRect">
            <a:avLst>
              <a:gd name="adj" fmla="val 8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800" b="0">
                <a:solidFill>
                  <a:srgbClr val="333333"/>
                </a:solidFill>
              </a:rPr>
              <a:t>Biomass Qualification</a:t>
            </a:r>
          </a:p>
        </p:txBody>
      </p:sp>
      <p:sp>
        <p:nvSpPr>
          <p:cNvPr id="4" name="Rounded Rectangle 3"/>
          <p:cNvSpPr/>
          <p:nvPr/>
        </p:nvSpPr>
        <p:spPr>
          <a:xfrm>
            <a:off x="2779776" y="713232"/>
            <a:ext cx="2057400" cy="658368"/>
          </a:xfrm>
          <a:prstGeom prst="roundRect">
            <a:avLst>
              <a:gd name="adj" fmla="val 8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800" b="0">
                <a:solidFill>
                  <a:srgbClr val="333333"/>
                </a:solidFill>
              </a:rPr>
              <a:t>Biomass Sourcing and Collection</a:t>
            </a:r>
          </a:p>
        </p:txBody>
      </p:sp>
      <p:sp>
        <p:nvSpPr>
          <p:cNvPr id="5" name="Rounded Rectangle 4"/>
          <p:cNvSpPr/>
          <p:nvPr/>
        </p:nvSpPr>
        <p:spPr>
          <a:xfrm>
            <a:off x="5065776" y="713232"/>
            <a:ext cx="2057400" cy="658368"/>
          </a:xfrm>
          <a:prstGeom prst="roundRect">
            <a:avLst>
              <a:gd name="adj" fmla="val 8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800" b="0">
                <a:solidFill>
                  <a:srgbClr val="333333"/>
                </a:solidFill>
              </a:rPr>
              <a:t>Biomass Transport to Conversion Site</a:t>
            </a:r>
          </a:p>
        </p:txBody>
      </p:sp>
      <p:sp>
        <p:nvSpPr>
          <p:cNvPr id="6" name="Rounded Rectangle 5"/>
          <p:cNvSpPr/>
          <p:nvPr/>
        </p:nvSpPr>
        <p:spPr>
          <a:xfrm>
            <a:off x="7351775" y="713232"/>
            <a:ext cx="2057400" cy="658368"/>
          </a:xfrm>
          <a:prstGeom prst="roundRect">
            <a:avLst>
              <a:gd name="adj" fmla="val 8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800" b="0">
                <a:solidFill>
                  <a:srgbClr val="333333"/>
                </a:solidFill>
              </a:rPr>
              <a:t>Biomass Conversion (Pyrolysis)</a:t>
            </a:r>
          </a:p>
        </p:txBody>
      </p:sp>
      <p:sp>
        <p:nvSpPr>
          <p:cNvPr id="7" name="Rounded Rectangle 6"/>
          <p:cNvSpPr/>
          <p:nvPr/>
        </p:nvSpPr>
        <p:spPr>
          <a:xfrm>
            <a:off x="9637776" y="713232"/>
            <a:ext cx="2057400" cy="658368"/>
          </a:xfrm>
          <a:prstGeom prst="roundRect">
            <a:avLst>
              <a:gd name="adj" fmla="val 8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50" b="0">
                <a:solidFill>
                  <a:srgbClr val="333333"/>
                </a:solidFill>
              </a:rPr>
              <a:t>Allocation of Tree-to-Gate CI for pyro product feedstock</a:t>
            </a:r>
          </a:p>
        </p:txBody>
      </p:sp>
      <p:cxnSp>
        <p:nvCxnSpPr>
          <p:cNvPr id="8" name="Connector 7"/>
          <p:cNvCxnSpPr/>
          <p:nvPr/>
        </p:nvCxnSpPr>
        <p:spPr>
          <a:xfrm>
            <a:off x="2551176" y="1042416"/>
            <a:ext cx="228600" cy="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837176" y="1042416"/>
            <a:ext cx="228600" cy="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123176" y="1042416"/>
            <a:ext cx="228599" cy="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09176" y="1042416"/>
            <a:ext cx="228600" cy="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79776" y="91440"/>
            <a:ext cx="2057400" cy="530352"/>
          </a:xfrm>
          <a:prstGeom prst="roundRect">
            <a:avLst>
              <a:gd name="adj" fmla="val 8000"/>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1">
                <a:solidFill>
                  <a:srgbClr val="333333"/>
                </a:solidFill>
              </a:rPr>
              <a:t>Counterfactual Storage excised for Fuels</a:t>
            </a:r>
          </a:p>
        </p:txBody>
      </p:sp>
      <p:sp>
        <p:nvSpPr>
          <p:cNvPr id="13" name="Rounded Rectangle 12"/>
          <p:cNvSpPr/>
          <p:nvPr/>
        </p:nvSpPr>
        <p:spPr>
          <a:xfrm>
            <a:off x="7351775" y="91440"/>
            <a:ext cx="2057400" cy="530352"/>
          </a:xfrm>
          <a:prstGeom prst="roundRect">
            <a:avLst>
              <a:gd name="adj" fmla="val 8000"/>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1">
                <a:solidFill>
                  <a:srgbClr val="333333"/>
                </a:solidFill>
              </a:rPr>
              <a:t>Embodied Emissions excised for Fuels</a:t>
            </a:r>
          </a:p>
        </p:txBody>
      </p:sp>
      <p:cxnSp>
        <p:nvCxnSpPr>
          <p:cNvPr id="14" name="Connector 13"/>
          <p:cNvCxnSpPr/>
          <p:nvPr/>
        </p:nvCxnSpPr>
        <p:spPr>
          <a:xfrm flipV="1">
            <a:off x="3808476" y="621792"/>
            <a:ext cx="0" cy="9144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380475" y="621792"/>
            <a:ext cx="0" cy="9144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666476" y="1371600"/>
            <a:ext cx="0" cy="384048"/>
          </a:xfrm>
          <a:prstGeom prst="line">
            <a:avLst/>
          </a:prstGeom>
          <a:ln w="12700">
            <a:solidFill>
              <a:srgbClr val="9AA0A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600200" y="1755648"/>
            <a:ext cx="9066276" cy="0"/>
          </a:xfrm>
          <a:prstGeom prst="line">
            <a:avLst/>
          </a:prstGeom>
          <a:ln w="12700">
            <a:solidFill>
              <a:srgbClr val="9AA0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55648"/>
            <a:ext cx="0" cy="1828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57200" y="193852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Biochar Transport to Storage Site</a:t>
            </a:r>
          </a:p>
        </p:txBody>
      </p:sp>
      <p:sp>
        <p:nvSpPr>
          <p:cNvPr id="20" name="Rounded Rectangle 19"/>
          <p:cNvSpPr/>
          <p:nvPr/>
        </p:nvSpPr>
        <p:spPr>
          <a:xfrm>
            <a:off x="457200" y="241858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Bio-Char Spreading</a:t>
            </a:r>
          </a:p>
        </p:txBody>
      </p:sp>
      <p:cxnSp>
        <p:nvCxnSpPr>
          <p:cNvPr id="21" name="Connector 20"/>
          <p:cNvCxnSpPr/>
          <p:nvPr/>
        </p:nvCxnSpPr>
        <p:spPr>
          <a:xfrm>
            <a:off x="1600200" y="235000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57200" y="289864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Verification of Bio-Char Removals</a:t>
            </a:r>
          </a:p>
        </p:txBody>
      </p:sp>
      <p:cxnSp>
        <p:nvCxnSpPr>
          <p:cNvPr id="23" name="Connector 22"/>
          <p:cNvCxnSpPr/>
          <p:nvPr/>
        </p:nvCxnSpPr>
        <p:spPr>
          <a:xfrm>
            <a:off x="1600200" y="283006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37870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Issuance on Registry</a:t>
            </a:r>
          </a:p>
        </p:txBody>
      </p:sp>
      <p:cxnSp>
        <p:nvCxnSpPr>
          <p:cNvPr id="25" name="Connector 24"/>
          <p:cNvCxnSpPr/>
          <p:nvPr/>
        </p:nvCxnSpPr>
        <p:spPr>
          <a:xfrm>
            <a:off x="1600200" y="331012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200" y="385876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delivery, retirement, management</a:t>
            </a:r>
          </a:p>
        </p:txBody>
      </p:sp>
      <p:cxnSp>
        <p:nvCxnSpPr>
          <p:cNvPr id="27" name="Connector 26"/>
          <p:cNvCxnSpPr/>
          <p:nvPr/>
        </p:nvCxnSpPr>
        <p:spPr>
          <a:xfrm>
            <a:off x="1600200" y="379018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34840" y="1755648"/>
            <a:ext cx="0" cy="1828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291840" y="193852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Bio-Oil Transport to Injection Site</a:t>
            </a:r>
          </a:p>
        </p:txBody>
      </p:sp>
      <p:sp>
        <p:nvSpPr>
          <p:cNvPr id="30" name="Rounded Rectangle 29"/>
          <p:cNvSpPr/>
          <p:nvPr/>
        </p:nvSpPr>
        <p:spPr>
          <a:xfrm>
            <a:off x="3291840" y="241858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Bio-Oil Pre-Processing and Injection</a:t>
            </a:r>
          </a:p>
        </p:txBody>
      </p:sp>
      <p:cxnSp>
        <p:nvCxnSpPr>
          <p:cNvPr id="31" name="Connector 30"/>
          <p:cNvCxnSpPr/>
          <p:nvPr/>
        </p:nvCxnSpPr>
        <p:spPr>
          <a:xfrm>
            <a:off x="4434840" y="235000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291840" y="289864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Verification of Bio-Oil Removals</a:t>
            </a:r>
          </a:p>
        </p:txBody>
      </p:sp>
      <p:cxnSp>
        <p:nvCxnSpPr>
          <p:cNvPr id="33" name="Connector 32"/>
          <p:cNvCxnSpPr/>
          <p:nvPr/>
        </p:nvCxnSpPr>
        <p:spPr>
          <a:xfrm>
            <a:off x="4434840" y="283006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291840" y="337870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Issuance on Registry</a:t>
            </a:r>
          </a:p>
        </p:txBody>
      </p:sp>
      <p:cxnSp>
        <p:nvCxnSpPr>
          <p:cNvPr id="35" name="Connector 34"/>
          <p:cNvCxnSpPr/>
          <p:nvPr/>
        </p:nvCxnSpPr>
        <p:spPr>
          <a:xfrm>
            <a:off x="4434840" y="331012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291840" y="3858768"/>
            <a:ext cx="2286000" cy="411480"/>
          </a:xfrm>
          <a:prstGeom prst="roundRect">
            <a:avLst>
              <a:gd name="adj" fmla="val 8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delivery, retirement, management</a:t>
            </a:r>
          </a:p>
        </p:txBody>
      </p:sp>
      <p:cxnSp>
        <p:nvCxnSpPr>
          <p:cNvPr id="37" name="Connector 36"/>
          <p:cNvCxnSpPr/>
          <p:nvPr/>
        </p:nvCxnSpPr>
        <p:spPr>
          <a:xfrm>
            <a:off x="4434840" y="379018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269480" y="1755648"/>
            <a:ext cx="0" cy="1828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126480" y="193852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Bio-Oil Transport to Refinery</a:t>
            </a:r>
          </a:p>
        </p:txBody>
      </p:sp>
      <p:sp>
        <p:nvSpPr>
          <p:cNvPr id="40" name="Rounded Rectangle 39"/>
          <p:cNvSpPr/>
          <p:nvPr/>
        </p:nvSpPr>
        <p:spPr>
          <a:xfrm>
            <a:off x="6126480" y="241858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Refinery co-processing into fuel products</a:t>
            </a:r>
          </a:p>
        </p:txBody>
      </p:sp>
      <p:cxnSp>
        <p:nvCxnSpPr>
          <p:cNvPr id="41" name="Connector 40"/>
          <p:cNvCxnSpPr/>
          <p:nvPr/>
        </p:nvCxnSpPr>
        <p:spPr>
          <a:xfrm>
            <a:off x="7269480" y="235000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126480" y="289864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Allocation of marginal refinery emissions to fuel products</a:t>
            </a:r>
          </a:p>
        </p:txBody>
      </p:sp>
      <p:cxnSp>
        <p:nvCxnSpPr>
          <p:cNvPr id="43" name="Connector 42"/>
          <p:cNvCxnSpPr/>
          <p:nvPr/>
        </p:nvCxnSpPr>
        <p:spPr>
          <a:xfrm>
            <a:off x="7269480" y="283006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126480" y="337870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Allocation of biogenic carbon attributes to fuel co-products</a:t>
            </a:r>
          </a:p>
        </p:txBody>
      </p:sp>
      <p:cxnSp>
        <p:nvCxnSpPr>
          <p:cNvPr id="45" name="Connector 44"/>
          <p:cNvCxnSpPr/>
          <p:nvPr/>
        </p:nvCxnSpPr>
        <p:spPr>
          <a:xfrm>
            <a:off x="7269480" y="331012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6126480" y="385876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Transport of Fuel(s) to blend point</a:t>
            </a:r>
          </a:p>
        </p:txBody>
      </p:sp>
      <p:cxnSp>
        <p:nvCxnSpPr>
          <p:cNvPr id="47" name="Connector 46"/>
          <p:cNvCxnSpPr/>
          <p:nvPr/>
        </p:nvCxnSpPr>
        <p:spPr>
          <a:xfrm>
            <a:off x="7269480" y="379018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126480" y="433882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Quantification of Tree-to-Wheel CI for target fuel(s)</a:t>
            </a:r>
          </a:p>
        </p:txBody>
      </p:sp>
      <p:cxnSp>
        <p:nvCxnSpPr>
          <p:cNvPr id="49" name="Connector 48"/>
          <p:cNvCxnSpPr/>
          <p:nvPr/>
        </p:nvCxnSpPr>
        <p:spPr>
          <a:xfrm>
            <a:off x="7269480" y="427024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126480" y="481888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Quantification of GHG Reduction vs. Fossil Fuel baseline</a:t>
            </a:r>
          </a:p>
        </p:txBody>
      </p:sp>
      <p:cxnSp>
        <p:nvCxnSpPr>
          <p:cNvPr id="51" name="Connector 50"/>
          <p:cNvCxnSpPr/>
          <p:nvPr/>
        </p:nvCxnSpPr>
        <p:spPr>
          <a:xfrm>
            <a:off x="7269480" y="475030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126480" y="529894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Verification of Quantified Reductions</a:t>
            </a:r>
          </a:p>
        </p:txBody>
      </p:sp>
      <p:cxnSp>
        <p:nvCxnSpPr>
          <p:cNvPr id="53" name="Connector 52"/>
          <p:cNvCxnSpPr/>
          <p:nvPr/>
        </p:nvCxnSpPr>
        <p:spPr>
          <a:xfrm>
            <a:off x="7269480" y="523036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126480" y="577900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Issuance on Registry</a:t>
            </a:r>
          </a:p>
        </p:txBody>
      </p:sp>
      <p:cxnSp>
        <p:nvCxnSpPr>
          <p:cNvPr id="55" name="Connector 54"/>
          <p:cNvCxnSpPr/>
          <p:nvPr/>
        </p:nvCxnSpPr>
        <p:spPr>
          <a:xfrm>
            <a:off x="7269480" y="571042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6126480" y="6259068"/>
            <a:ext cx="2286000" cy="411480"/>
          </a:xfrm>
          <a:prstGeom prst="roundRect">
            <a:avLst>
              <a:gd name="adj" fmla="val 8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Credit delivery, retirement, management</a:t>
            </a:r>
          </a:p>
        </p:txBody>
      </p:sp>
      <p:cxnSp>
        <p:nvCxnSpPr>
          <p:cNvPr id="57" name="Connector 56"/>
          <p:cNvCxnSpPr/>
          <p:nvPr/>
        </p:nvCxnSpPr>
        <p:spPr>
          <a:xfrm>
            <a:off x="7269480" y="619048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04120" y="1755648"/>
            <a:ext cx="0" cy="1828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8961120" y="1938528"/>
            <a:ext cx="2286000" cy="411480"/>
          </a:xfrm>
          <a:prstGeom prst="roundRect">
            <a:avLst>
              <a:gd name="adj" fmla="val 8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Exciting Fourth Thing!</a:t>
            </a:r>
          </a:p>
        </p:txBody>
      </p:sp>
      <p:sp>
        <p:nvSpPr>
          <p:cNvPr id="60" name="Rounded Rectangle 59"/>
          <p:cNvSpPr/>
          <p:nvPr/>
        </p:nvSpPr>
        <p:spPr>
          <a:xfrm>
            <a:off x="8961120" y="2418588"/>
            <a:ext cx="2286000" cy="411480"/>
          </a:xfrm>
          <a:prstGeom prst="roundRect">
            <a:avLst>
              <a:gd name="adj" fmla="val 8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Some Stuff!</a:t>
            </a:r>
          </a:p>
        </p:txBody>
      </p:sp>
      <p:cxnSp>
        <p:nvCxnSpPr>
          <p:cNvPr id="61" name="Connector 60"/>
          <p:cNvCxnSpPr/>
          <p:nvPr/>
        </p:nvCxnSpPr>
        <p:spPr>
          <a:xfrm>
            <a:off x="10104120" y="235000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8961120" y="2898648"/>
            <a:ext cx="2286000" cy="411480"/>
          </a:xfrm>
          <a:prstGeom prst="roundRect">
            <a:avLst>
              <a:gd name="adj" fmla="val 8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Other Stuff!</a:t>
            </a:r>
          </a:p>
        </p:txBody>
      </p:sp>
      <p:cxnSp>
        <p:nvCxnSpPr>
          <p:cNvPr id="63" name="Connector 62"/>
          <p:cNvCxnSpPr/>
          <p:nvPr/>
        </p:nvCxnSpPr>
        <p:spPr>
          <a:xfrm>
            <a:off x="10104120" y="283006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8961120" y="3378708"/>
            <a:ext cx="2286000" cy="411480"/>
          </a:xfrm>
          <a:prstGeom prst="roundRect">
            <a:avLst>
              <a:gd name="adj" fmla="val 8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wrap="square" lIns="12700" tIns="12700" rIns="12700" bIns="12700" rtlCol="0" anchor="ctr"/>
          <a:lstStyle/>
          <a:p>
            <a:pPr algn="ctr"/>
            <a:r>
              <a:rPr sz="700" b="0">
                <a:solidFill>
                  <a:srgbClr val="333333"/>
                </a:solidFill>
              </a:rPr>
              <a:t>TBD!</a:t>
            </a:r>
          </a:p>
        </p:txBody>
      </p:sp>
      <p:cxnSp>
        <p:nvCxnSpPr>
          <p:cNvPr id="65" name="Connector 64"/>
          <p:cNvCxnSpPr/>
          <p:nvPr/>
        </p:nvCxnSpPr>
        <p:spPr>
          <a:xfrm>
            <a:off x="10104120" y="3310128"/>
            <a:ext cx="0" cy="68580"/>
          </a:xfrm>
          <a:prstGeom prst="line">
            <a:avLst/>
          </a:prstGeom>
          <a:ln w="12700">
            <a:solidFill>
              <a:srgbClr val="9AA0A6"/>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Biomass Qualification</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2157001"/>
          </a:xfrm>
          <a:prstGeom prst="rect">
            <a:avLst/>
          </a:prstGeom>
          <a:noFill/>
        </p:spPr>
        <p:txBody>
          <a:bodyPr wrap="square">
            <a:spAutoFit/>
          </a:bodyPr>
          <a:lstStyle/>
          <a:p>
            <a:pPr algn="l"/>
            <a:r>
              <a:rPr sz="1250" b="1" dirty="0">
                <a:solidFill>
                  <a:srgbClr val="1A1A1A"/>
                </a:solidFill>
              </a:rPr>
              <a:t>Charm PDD v1.12, §B — Project Eligibility</a:t>
            </a:r>
          </a:p>
          <a:p>
            <a:pPr algn="l">
              <a:spcBef>
                <a:spcPts val="200"/>
              </a:spcBef>
            </a:pPr>
            <a:r>
              <a:rPr sz="1050" b="0" dirty="0">
                <a:solidFill>
                  <a:srgbClr val="556575"/>
                </a:solidFill>
              </a:rPr>
              <a:t>Charm’s validated feedstock qualification — primary normative reference</a:t>
            </a:r>
          </a:p>
          <a:p>
            <a:pPr algn="l">
              <a:spcBef>
                <a:spcPts val="1000"/>
              </a:spcBef>
            </a:pPr>
            <a:r>
              <a:rPr sz="1250" b="1" dirty="0">
                <a:solidFill>
                  <a:srgbClr val="1A1A1A"/>
                </a:solidFill>
              </a:rPr>
              <a:t>Underlying: Biomass Feedstock Accounting v1.3, §2.1 — Sustainability Criteria</a:t>
            </a:r>
          </a:p>
          <a:p>
            <a:pPr algn="l">
              <a:spcBef>
                <a:spcPts val="200"/>
              </a:spcBef>
            </a:pPr>
            <a:r>
              <a:rPr sz="1050" b="0" dirty="0">
                <a:solidFill>
                  <a:srgbClr val="556575"/>
                </a:solidFill>
              </a:rPr>
              <a:t>SC1–SC7, feedstock-type-specific; reviewed every Reporting Period</a:t>
            </a:r>
          </a:p>
          <a:p>
            <a:pPr algn="l">
              <a:spcBef>
                <a:spcPts val="1000"/>
              </a:spcBef>
            </a:pPr>
            <a:r>
              <a:rPr sz="1250" b="1" dirty="0">
                <a:solidFill>
                  <a:srgbClr val="1A1A1A"/>
                </a:solidFill>
              </a:rPr>
              <a:t>Underlying: Biomass Feedstock Accounting v1.3, §4.1 — Prohibited Feedstocks</a:t>
            </a:r>
          </a:p>
          <a:p>
            <a:pPr algn="l">
              <a:spcBef>
                <a:spcPts val="200"/>
              </a:spcBef>
            </a:pPr>
            <a:r>
              <a:rPr sz="1050" b="0" dirty="0">
                <a:solidFill>
                  <a:srgbClr val="556575"/>
                </a:solidFill>
              </a:rPr>
              <a:t>Categorical gate: food/feed crops and purpose-grown BiCRS feedstocks have no path through the Module</a:t>
            </a:r>
          </a:p>
          <a:p>
            <a:pPr algn="l">
              <a:spcBef>
                <a:spcPts val="1000"/>
              </a:spcBef>
            </a:pPr>
            <a:r>
              <a:rPr sz="1250" b="1" dirty="0">
                <a:solidFill>
                  <a:srgbClr val="1A1A1A"/>
                </a:solidFill>
              </a:rPr>
              <a:t>Underlying: Biomass Feedstock Accounting v1.3, §4 — Market Leakage Emissions</a:t>
            </a:r>
          </a:p>
          <a:p>
            <a:pPr algn="l">
              <a:spcBef>
                <a:spcPts val="200"/>
              </a:spcBef>
            </a:pPr>
            <a:r>
              <a:rPr sz="1050" b="0" dirty="0">
                <a:solidFill>
                  <a:srgbClr val="556575"/>
                </a:solidFill>
              </a:rPr>
              <a:t>Sourcing-driven market-shift assessment; valid 10 years</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1243930"/>
          </a:xfrm>
          <a:prstGeom prst="rect">
            <a:avLst/>
          </a:prstGeom>
          <a:noFill/>
        </p:spPr>
        <p:txBody>
          <a:bodyPr wrap="square">
            <a:spAutoFit/>
          </a:bodyPr>
          <a:lstStyle/>
          <a:p>
            <a:pPr algn="l"/>
            <a:r>
              <a:rPr sz="1150" b="0" dirty="0">
                <a:solidFill>
                  <a:srgbClr val="1A1A1A"/>
                </a:solidFill>
              </a:rPr>
              <a:t>•  Three eligibility gates from BFA v1.3, all source-agnostic. (1) Sustainability Criteria SC1–SC7 (§2.1), feedstock-type-specific, reviewed every Reporting Period. (2) Prohibited Feedstocks — categorically ineligible regardless of other criteria. (3) Market Leakage (§4), sourcing-driven market-shift assessment, valid 10 years.</a:t>
            </a:r>
          </a:p>
          <a:p>
            <a:pPr algn="l">
              <a:spcBef>
                <a:spcPts val="700"/>
              </a:spcBef>
            </a:pPr>
            <a:r>
              <a:rPr sz="1150" b="0" dirty="0">
                <a:solidFill>
                  <a:srgbClr val="1A1A1A"/>
                </a:solidFill>
              </a:rPr>
              <a:t>•  Counterfactual Storage (§3) is the one gate excluded — it removes the durably-stored fraction from crediting, a removals concept with no role in a fuel-displacement claim</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2131353"/>
          </a:xfrm>
          <a:prstGeom prst="rect">
            <a:avLst/>
          </a:prstGeom>
          <a:noFill/>
        </p:spPr>
        <p:txBody>
          <a:bodyPr wrap="square">
            <a:spAutoFit/>
          </a:bodyPr>
          <a:lstStyle/>
          <a:p>
            <a:pPr algn="l"/>
            <a:r>
              <a:rPr sz="1150" b="0" dirty="0">
                <a:solidFill>
                  <a:srgbClr val="1A1A1A"/>
                </a:solidFill>
              </a:rPr>
              <a:t>•  </a:t>
            </a:r>
            <a:r>
              <a:rPr lang="en-US" sz="1150" b="0" dirty="0">
                <a:solidFill>
                  <a:srgbClr val="1A1A1A"/>
                </a:solidFill>
              </a:rPr>
              <a:t>Provides a robust qualification program that ensures all feedstock is sourced responsibly and market leakage impacts are conservatively estimated</a:t>
            </a:r>
          </a:p>
          <a:p>
            <a:pPr algn="l"/>
            <a:endParaRPr lang="en-US" sz="1150" dirty="0">
              <a:solidFill>
                <a:srgbClr val="1A1A1A"/>
              </a:solidFill>
            </a:endParaRPr>
          </a:p>
          <a:p>
            <a:pPr algn="l">
              <a:spcBef>
                <a:spcPts val="700"/>
              </a:spcBef>
            </a:pPr>
            <a:r>
              <a:rPr sz="1150" b="0" dirty="0">
                <a:solidFill>
                  <a:srgbClr val="1A1A1A"/>
                </a:solidFill>
              </a:rPr>
              <a:t>•  Charm's CDR project already cleared these same gates under the PDD, so qualification is established precedent — the SAF claim reuses the determination rather than re-running it</a:t>
            </a:r>
            <a:endParaRPr lang="en-US" sz="1150" b="0" dirty="0">
              <a:solidFill>
                <a:srgbClr val="1A1A1A"/>
              </a:solidFill>
            </a:endParaRPr>
          </a:p>
          <a:p>
            <a:pPr algn="l">
              <a:spcBef>
                <a:spcPts val="700"/>
              </a:spcBef>
            </a:pPr>
            <a:endParaRPr lang="en-US" sz="1150" b="0" dirty="0">
              <a:solidFill>
                <a:srgbClr val="1A1A1A"/>
              </a:solidFill>
            </a:endParaRPr>
          </a:p>
          <a:p>
            <a:r>
              <a:rPr lang="en-US" sz="1150" dirty="0">
                <a:solidFill>
                  <a:srgbClr val="1A1A1A"/>
                </a:solidFill>
              </a:rPr>
              <a:t>•  </a:t>
            </a:r>
            <a:r>
              <a:rPr lang="en-US" sz="1150" dirty="0"/>
              <a:t>Isometric’s Biomass Feedstock Accounting module is uniquely tailored to qualifying  woody biomass from wildfire fuels reduction efforts, which currently constitute the largest feedstock source for Charm</a:t>
            </a:r>
          </a:p>
          <a:p>
            <a:pPr algn="l">
              <a:spcBef>
                <a:spcPts val="700"/>
              </a:spcBef>
            </a:pPr>
            <a:endParaRPr sz="1150" b="0" dirty="0">
              <a:solidFill>
                <a:srgbClr val="1A1A1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2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Biomass Sourcing and Collection</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dirty="0">
                <a:solidFill>
                  <a:srgbClr val="1A1A1A"/>
                </a:solidFill>
              </a:rPr>
              <a:t>Charm PDD v1.12, §B — Monitoring Plan</a:t>
            </a:r>
          </a:p>
          <a:p>
            <a:pPr algn="l">
              <a:spcBef>
                <a:spcPts val="200"/>
              </a:spcBef>
            </a:pPr>
            <a:r>
              <a:rPr sz="1050" b="0" dirty="0">
                <a:solidFill>
                  <a:srgbClr val="556575"/>
                </a:solidFill>
              </a:rPr>
              <a:t>Charm’s validated supply-chain traceability — primary normative reference</a:t>
            </a:r>
          </a:p>
          <a:p>
            <a:pPr algn="l">
              <a:spcBef>
                <a:spcPts val="1000"/>
              </a:spcBef>
            </a:pPr>
            <a:r>
              <a:rPr sz="1250" b="1" dirty="0">
                <a:solidFill>
                  <a:srgbClr val="1A1A1A"/>
                </a:solidFill>
              </a:rPr>
              <a:t>Underlying: Biomass Feedstock Accounting v1.3, §2.1 + Appendix 1</a:t>
            </a:r>
          </a:p>
          <a:p>
            <a:pPr algn="l">
              <a:spcBef>
                <a:spcPts val="200"/>
              </a:spcBef>
            </a:pPr>
            <a:r>
              <a:rPr sz="1050" b="0" dirty="0">
                <a:solidFill>
                  <a:srgbClr val="556575"/>
                </a:solidFill>
              </a:rPr>
              <a:t>Monitoring-plan requirements: feedstock origin, harvest authorization, species, mass per batch</a:t>
            </a:r>
          </a:p>
          <a:p>
            <a:pPr algn="l">
              <a:spcBef>
                <a:spcPts val="1000"/>
              </a:spcBef>
            </a:pPr>
            <a:r>
              <a:rPr sz="1250" b="1" dirty="0">
                <a:solidFill>
                  <a:srgbClr val="1A1A1A"/>
                </a:solidFill>
              </a:rPr>
              <a:t>RSB-STD-01-003-01 v3.2, §A.5</a:t>
            </a:r>
          </a:p>
          <a:p>
            <a:pPr algn="l">
              <a:spcBef>
                <a:spcPts val="200"/>
              </a:spcBef>
            </a:pPr>
            <a:r>
              <a:rPr sz="1050" b="0" dirty="0">
                <a:solidFill>
                  <a:srgbClr val="556575"/>
                </a:solidFill>
              </a:rPr>
              <a:t>Zero-emission treatment for waste and residues up to point of collection (bolt-on citation)</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1687641"/>
          </a:xfrm>
          <a:prstGeom prst="rect">
            <a:avLst/>
          </a:prstGeom>
          <a:noFill/>
        </p:spPr>
        <p:txBody>
          <a:bodyPr wrap="square">
            <a:spAutoFit/>
          </a:bodyPr>
          <a:lstStyle/>
          <a:p>
            <a:pPr algn="l"/>
            <a:r>
              <a:rPr sz="1150" b="0" dirty="0">
                <a:solidFill>
                  <a:srgbClr val="1A1A1A"/>
                </a:solidFill>
              </a:rPr>
              <a:t>•  BFA v1.3 §2.1 and Appendix 1 set the monitoring-plan framework: records of feedstock origin, harvest authorization,, and mass</a:t>
            </a:r>
            <a:r>
              <a:rPr lang="en-US" sz="1150" b="0" dirty="0">
                <a:solidFill>
                  <a:srgbClr val="1A1A1A"/>
                </a:solidFill>
              </a:rPr>
              <a:t> as well as collection emissions accounting</a:t>
            </a:r>
            <a:r>
              <a:rPr sz="1150" b="0" dirty="0">
                <a:solidFill>
                  <a:srgbClr val="1A1A1A"/>
                </a:solidFill>
              </a:rPr>
              <a:t> for each supply-chain batch — source-agnostic, not tied to one biomass source</a:t>
            </a:r>
          </a:p>
          <a:p>
            <a:pPr algn="l">
              <a:spcBef>
                <a:spcPts val="700"/>
              </a:spcBef>
            </a:pPr>
            <a:r>
              <a:rPr sz="1150" b="0" dirty="0">
                <a:solidFill>
                  <a:srgbClr val="1A1A1A"/>
                </a:solidFill>
              </a:rPr>
              <a:t>•  </a:t>
            </a:r>
            <a:r>
              <a:rPr lang="en-US" sz="1150" dirty="0">
                <a:solidFill>
                  <a:srgbClr val="1A1A1A"/>
                </a:solidFill>
              </a:rPr>
              <a:t>P</a:t>
            </a:r>
            <a:r>
              <a:rPr lang="en-US" sz="1150" b="0" dirty="0">
                <a:solidFill>
                  <a:srgbClr val="1A1A1A"/>
                </a:solidFill>
              </a:rPr>
              <a:t>re-c</a:t>
            </a:r>
            <a:r>
              <a:rPr sz="1150" b="0" dirty="0">
                <a:solidFill>
                  <a:srgbClr val="1A1A1A"/>
                </a:solidFill>
              </a:rPr>
              <a:t>ollection-stage emissions are zero: wildfire fuel-reduction biomass qualifies as a waste/residue, and RSB §A.5 explicitly states "Waste and residues shall be considered to have zero emissions up to the process of collecting those materials"</a:t>
            </a:r>
            <a:endParaRPr lang="en-US" sz="1150" b="0" dirty="0">
              <a:solidFill>
                <a:srgbClr val="1A1A1A"/>
              </a:solidFill>
            </a:endParaRPr>
          </a:p>
          <a:p>
            <a:pPr>
              <a:spcBef>
                <a:spcPts val="700"/>
              </a:spcBef>
            </a:pPr>
            <a:r>
              <a:rPr lang="en-US" sz="1150" dirty="0">
                <a:solidFill>
                  <a:srgbClr val="1A1A1A"/>
                </a:solidFill>
              </a:rPr>
              <a:t>•  The methodology for accounting for emissions related to biomass collection activities is already elaborated in the validated PDD</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889987"/>
          </a:xfrm>
          <a:prstGeom prst="rect">
            <a:avLst/>
          </a:prstGeom>
          <a:noFill/>
        </p:spPr>
        <p:txBody>
          <a:bodyPr wrap="square">
            <a:spAutoFit/>
          </a:bodyPr>
          <a:lstStyle/>
          <a:p>
            <a:pPr algn="l"/>
            <a:r>
              <a:rPr sz="1150" b="0" dirty="0">
                <a:solidFill>
                  <a:srgbClr val="1A1A1A"/>
                </a:solidFill>
              </a:rPr>
              <a:t>•  The framework is reusable for the SAF claim</a:t>
            </a:r>
            <a:r>
              <a:rPr lang="en-US" sz="1150" dirty="0">
                <a:solidFill>
                  <a:srgbClr val="1A1A1A"/>
                </a:solidFill>
              </a:rPr>
              <a:t> and is already in place for </a:t>
            </a:r>
            <a:r>
              <a:rPr sz="1150" b="0" dirty="0">
                <a:solidFill>
                  <a:srgbClr val="1A1A1A"/>
                </a:solidFill>
              </a:rPr>
              <a:t>Charm's CDR project, so no new sourcing documentation is needed</a:t>
            </a:r>
          </a:p>
          <a:p>
            <a:pPr>
              <a:spcBef>
                <a:spcPts val="700"/>
              </a:spcBef>
            </a:pPr>
            <a:r>
              <a:rPr sz="1150" b="0" dirty="0">
                <a:solidFill>
                  <a:srgbClr val="1A1A1A"/>
                </a:solidFill>
                <a:highlight>
                  <a:srgbClr val="FFFF00"/>
                </a:highlight>
              </a:rPr>
              <a:t>•  </a:t>
            </a:r>
            <a:r>
              <a:rPr lang="en-US" sz="1150" b="0" dirty="0">
                <a:solidFill>
                  <a:srgbClr val="1A1A1A"/>
                </a:solidFill>
                <a:highlight>
                  <a:srgbClr val="FFFF00"/>
                </a:highlight>
              </a:rPr>
              <a:t>Zero upstream emissions prior to the collection stage for wastes and residues aligns with both the PDD validated against Isometric’s requirements </a:t>
            </a:r>
            <a:r>
              <a:rPr lang="en-US" sz="1150" dirty="0">
                <a:solidFill>
                  <a:srgbClr val="1A1A1A"/>
                </a:solidFill>
                <a:highlight>
                  <a:srgbClr val="FFFF00"/>
                </a:highlight>
              </a:rPr>
              <a:t>and RSB §A.5</a:t>
            </a:r>
            <a:endParaRPr sz="1150" b="0" dirty="0">
              <a:solidFill>
                <a:srgbClr val="1A1A1A"/>
              </a:solidFill>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3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Biomass Transport to Conversion Site</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1649169"/>
          </a:xfrm>
          <a:prstGeom prst="rect">
            <a:avLst/>
          </a:prstGeom>
          <a:noFill/>
        </p:spPr>
        <p:txBody>
          <a:bodyPr wrap="square">
            <a:spAutoFit/>
          </a:bodyPr>
          <a:lstStyle/>
          <a:p>
            <a:pPr algn="l"/>
            <a:r>
              <a:rPr sz="1250" b="1" dirty="0">
                <a:solidFill>
                  <a:srgbClr val="1A1A1A"/>
                </a:solidFill>
              </a:rPr>
              <a:t>Charm PDD v1.12, §B — Project Boundary &amp; Monitoring Plan</a:t>
            </a:r>
          </a:p>
          <a:p>
            <a:pPr algn="l">
              <a:spcBef>
                <a:spcPts val="200"/>
              </a:spcBef>
            </a:pPr>
            <a:r>
              <a:rPr sz="1050" b="0" dirty="0">
                <a:solidFill>
                  <a:srgbClr val="556575"/>
                </a:solidFill>
              </a:rPr>
              <a:t>As-validated transport legs and monitoring; emission factors are updated at least annually per the PDD</a:t>
            </a:r>
          </a:p>
          <a:p>
            <a:pPr algn="l">
              <a:spcBef>
                <a:spcPts val="1000"/>
              </a:spcBef>
            </a:pPr>
            <a:r>
              <a:rPr sz="1250" b="1" dirty="0">
                <a:solidFill>
                  <a:srgbClr val="1A1A1A"/>
                </a:solidFill>
              </a:rPr>
              <a:t>Underlying: Transportation Emissions Accounting v1.1, §3.3</a:t>
            </a:r>
          </a:p>
          <a:p>
            <a:pPr algn="l">
              <a:spcBef>
                <a:spcPts val="200"/>
              </a:spcBef>
            </a:pPr>
            <a:r>
              <a:rPr sz="1050" b="0" dirty="0">
                <a:solidFill>
                  <a:srgbClr val="556575"/>
                </a:solidFill>
              </a:rPr>
              <a:t>Distance-Based Method: CO2e = D × W × EF</a:t>
            </a:r>
          </a:p>
          <a:p>
            <a:pPr algn="l">
              <a:spcBef>
                <a:spcPts val="1000"/>
              </a:spcBef>
            </a:pPr>
            <a:r>
              <a:rPr sz="1250" b="1" dirty="0">
                <a:solidFill>
                  <a:srgbClr val="1A1A1A"/>
                </a:solidFill>
              </a:rPr>
              <a:t>Underlying: Transportation Emissions Accounting v1.1, §3.4 + Appendix 1</a:t>
            </a:r>
          </a:p>
          <a:p>
            <a:pPr algn="l">
              <a:spcBef>
                <a:spcPts val="200"/>
              </a:spcBef>
            </a:pPr>
            <a:r>
              <a:rPr sz="1050" b="0" dirty="0">
                <a:solidFill>
                  <a:srgbClr val="556575"/>
                </a:solidFill>
              </a:rPr>
              <a:t>EF currency floor: road ≤3 yr, rail ≤7 yr, most recent available; full fuel cycle required</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889987"/>
          </a:xfrm>
          <a:prstGeom prst="rect">
            <a:avLst/>
          </a:prstGeom>
          <a:noFill/>
        </p:spPr>
        <p:txBody>
          <a:bodyPr wrap="square">
            <a:spAutoFit/>
          </a:bodyPr>
          <a:lstStyle/>
          <a:p>
            <a:pPr algn="l"/>
            <a:r>
              <a:rPr sz="1150" b="0" dirty="0">
                <a:solidFill>
                  <a:srgbClr val="1A1A1A"/>
                </a:solidFill>
              </a:rPr>
              <a:t>•  The PDD sets the project boundary and monitoring plan for the truck and rail legs to the conversion site; the underlying Transportation module gives the Distance-Based calculation method (CO2e = distance × mass × mode-specific EF)</a:t>
            </a:r>
          </a:p>
          <a:p>
            <a:pPr algn="l">
              <a:spcBef>
                <a:spcPts val="700"/>
              </a:spcBef>
            </a:pPr>
            <a:r>
              <a:rPr sz="1150" b="0" dirty="0">
                <a:solidFill>
                  <a:srgbClr val="1A1A1A"/>
                </a:solidFill>
              </a:rPr>
              <a:t>•  </a:t>
            </a:r>
            <a:r>
              <a:rPr lang="en-US" sz="1150" b="0" dirty="0">
                <a:solidFill>
                  <a:srgbClr val="1A1A1A"/>
                </a:solidFill>
              </a:rPr>
              <a:t>Emission factors are</a:t>
            </a:r>
            <a:r>
              <a:rPr sz="1150" b="0" dirty="0">
                <a:solidFill>
                  <a:srgbClr val="1A1A1A"/>
                </a:solidFill>
              </a:rPr>
              <a:t> current</a:t>
            </a:r>
            <a:r>
              <a:rPr lang="en-US" sz="1150" b="0" dirty="0">
                <a:solidFill>
                  <a:srgbClr val="1A1A1A"/>
                </a:solidFill>
              </a:rPr>
              <a:t>ly updated</a:t>
            </a:r>
            <a:r>
              <a:rPr sz="1150" b="0" dirty="0">
                <a:solidFill>
                  <a:srgbClr val="1A1A1A"/>
                </a:solidFill>
              </a:rPr>
              <a:t> at least annually</a:t>
            </a:r>
            <a:r>
              <a:rPr lang="en-US" sz="1150" b="0" dirty="0">
                <a:solidFill>
                  <a:srgbClr val="1A1A1A"/>
                </a:solidFill>
              </a:rPr>
              <a:t> per the PDD</a:t>
            </a:r>
            <a:endParaRPr sz="1150" b="0" dirty="0">
              <a:solidFill>
                <a:srgbClr val="1A1A1A"/>
              </a:solidFill>
            </a:endParaRP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889987"/>
          </a:xfrm>
          <a:prstGeom prst="rect">
            <a:avLst/>
          </a:prstGeom>
          <a:noFill/>
        </p:spPr>
        <p:txBody>
          <a:bodyPr wrap="square">
            <a:spAutoFit/>
          </a:bodyPr>
          <a:lstStyle/>
          <a:p>
            <a:pPr algn="l"/>
            <a:r>
              <a:rPr sz="1150" b="0" dirty="0">
                <a:solidFill>
                  <a:srgbClr val="1A1A1A"/>
                </a:solidFill>
              </a:rPr>
              <a:t>•  </a:t>
            </a:r>
            <a:r>
              <a:rPr lang="en-US" sz="1150" b="0" dirty="0">
                <a:solidFill>
                  <a:srgbClr val="1A1A1A"/>
                </a:solidFill>
              </a:rPr>
              <a:t>Transport emissions quantification is already in </a:t>
            </a:r>
            <a:r>
              <a:rPr sz="1150" b="0" dirty="0">
                <a:solidFill>
                  <a:srgbClr val="1A1A1A"/>
                </a:solidFill>
              </a:rPr>
              <a:t>Charm's validated PDD boundary; the same monitoring and calculation transfer to the SAF claim unchanged</a:t>
            </a:r>
          </a:p>
          <a:p>
            <a:pPr algn="l">
              <a:spcBef>
                <a:spcPts val="700"/>
              </a:spcBef>
            </a:pPr>
            <a:r>
              <a:rPr sz="1150" b="0" dirty="0">
                <a:solidFill>
                  <a:srgbClr val="1A1A1A"/>
                </a:solidFill>
              </a:rPr>
              <a:t>•  The underlying Transportation module explicitly covers multimodal freight, so rail and truck legs are both within scope under </a:t>
            </a:r>
            <a:r>
              <a:rPr sz="1150" b="0">
                <a:solidFill>
                  <a:srgbClr val="1A1A1A"/>
                </a:solidFill>
              </a:rPr>
              <a:t>one reference</a:t>
            </a:r>
            <a:endParaRPr sz="1150" b="0" dirty="0">
              <a:solidFill>
                <a:srgbClr val="1A1A1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4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Biomass Conversion (Pyrolysis)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1995418"/>
          </a:xfrm>
          <a:prstGeom prst="rect">
            <a:avLst/>
          </a:prstGeom>
          <a:noFill/>
        </p:spPr>
        <p:txBody>
          <a:bodyPr wrap="square">
            <a:spAutoFit/>
          </a:bodyPr>
          <a:lstStyle/>
          <a:p>
            <a:pPr algn="l"/>
            <a:r>
              <a:rPr sz="1250" b="1" dirty="0">
                <a:solidFill>
                  <a:srgbClr val="1A1A1A"/>
                </a:solidFill>
              </a:rPr>
              <a:t>Charm PDD v1.12, §B — Technical Description of Project Activity</a:t>
            </a:r>
          </a:p>
          <a:p>
            <a:pPr algn="l">
              <a:spcBef>
                <a:spcPts val="200"/>
              </a:spcBef>
            </a:pPr>
            <a:r>
              <a:rPr sz="1050" b="0" dirty="0">
                <a:solidFill>
                  <a:srgbClr val="556575"/>
                </a:solidFill>
              </a:rPr>
              <a:t>Charm’s validated pyrolysis operation producing bio-oil — primary normative reference</a:t>
            </a:r>
          </a:p>
          <a:p>
            <a:pPr algn="l">
              <a:spcBef>
                <a:spcPts val="1000"/>
              </a:spcBef>
            </a:pPr>
            <a:r>
              <a:rPr sz="1250" b="1" dirty="0">
                <a:solidFill>
                  <a:srgbClr val="1A1A1A"/>
                </a:solidFill>
              </a:rPr>
              <a:t>Underlying: Bio-oil Geological Storage v1.2, §4 + §8.1</a:t>
            </a:r>
          </a:p>
          <a:p>
            <a:pPr algn="l">
              <a:spcBef>
                <a:spcPts val="200"/>
              </a:spcBef>
            </a:pPr>
            <a:r>
              <a:rPr sz="1050" b="0" dirty="0">
                <a:solidFill>
                  <a:srgbClr val="556575"/>
                </a:solidFill>
              </a:rPr>
              <a:t>Applicability + Production Batch — biomass converted to bio-oil via pyrolysis</a:t>
            </a:r>
          </a:p>
          <a:p>
            <a:pPr>
              <a:spcBef>
                <a:spcPts val="1000"/>
              </a:spcBef>
            </a:pPr>
            <a:r>
              <a:rPr sz="1250" b="1" dirty="0">
                <a:solidFill>
                  <a:srgbClr val="1A1A1A"/>
                </a:solidFill>
              </a:rPr>
              <a:t>Underlying: Bio-oil Geological Storage v1.2, §8.5.</a:t>
            </a:r>
            <a:r>
              <a:rPr lang="en-US" sz="1250" b="1" dirty="0">
                <a:solidFill>
                  <a:srgbClr val="1A1A1A"/>
                </a:solidFill>
              </a:rPr>
              <a:t>5 + §8.5.6</a:t>
            </a:r>
            <a:r>
              <a:rPr sz="1250" b="1" dirty="0">
                <a:solidFill>
                  <a:srgbClr val="1A1A1A"/>
                </a:solidFill>
              </a:rPr>
              <a:t> —Emissions</a:t>
            </a:r>
          </a:p>
          <a:p>
            <a:pPr algn="l">
              <a:spcBef>
                <a:spcPts val="200"/>
              </a:spcBef>
            </a:pPr>
            <a:r>
              <a:rPr sz="1050" b="0" dirty="0">
                <a:solidFill>
                  <a:srgbClr val="556575"/>
                </a:solidFill>
              </a:rPr>
              <a:t>Pyrolysis tailgas: CH₄ × GWP (Equation 10); testing per ASTM D7036 / ISO 17025</a:t>
            </a:r>
          </a:p>
          <a:p>
            <a:pPr algn="l">
              <a:spcBef>
                <a:spcPts val="1000"/>
              </a:spcBef>
            </a:pPr>
            <a:r>
              <a:rPr sz="1250" b="1" dirty="0">
                <a:solidFill>
                  <a:srgbClr val="1A1A1A"/>
                </a:solidFill>
              </a:rPr>
              <a:t>Underlying: Energy Use Accounting Module v1.3</a:t>
            </a:r>
          </a:p>
          <a:p>
            <a:pPr algn="l">
              <a:spcBef>
                <a:spcPts val="200"/>
              </a:spcBef>
            </a:pPr>
            <a:r>
              <a:rPr sz="1050" b="0" dirty="0">
                <a:solidFill>
                  <a:srgbClr val="556575"/>
                </a:solidFill>
              </a:rPr>
              <a:t>Facility energy — electricity &amp; stationary fuel, routed via §8.5.5</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1243930"/>
          </a:xfrm>
          <a:prstGeom prst="rect">
            <a:avLst/>
          </a:prstGeom>
          <a:noFill/>
        </p:spPr>
        <p:txBody>
          <a:bodyPr wrap="square">
            <a:spAutoFit/>
          </a:bodyPr>
          <a:lstStyle/>
          <a:p>
            <a:pPr algn="l"/>
            <a:r>
              <a:rPr sz="1150" b="0" dirty="0">
                <a:solidFill>
                  <a:srgbClr val="1A1A1A"/>
                </a:solidFill>
              </a:rPr>
              <a:t>•  The pyrolysis step converts biomass to bio-oil — the SAF feedstock. Bio-oil Geological Storage v1.2 §4 and §8.1 frame this as the Production Batch; §8.5.6 quantifies direct pyrolysis emissions as </a:t>
            </a:r>
            <a:r>
              <a:rPr sz="1150" b="0" dirty="0" err="1">
                <a:solidFill>
                  <a:srgbClr val="1A1A1A"/>
                </a:solidFill>
              </a:rPr>
              <a:t>tailgas</a:t>
            </a:r>
            <a:r>
              <a:rPr sz="1150" b="0" dirty="0">
                <a:solidFill>
                  <a:srgbClr val="1A1A1A"/>
                </a:solidFill>
              </a:rPr>
              <a:t> CH₄ (CO₂ is not discounted, since the feedstock would have decayed within 15 years)</a:t>
            </a:r>
          </a:p>
          <a:p>
            <a:pPr algn="l">
              <a:spcBef>
                <a:spcPts val="700"/>
              </a:spcBef>
            </a:pPr>
            <a:r>
              <a:rPr sz="1150" b="0" dirty="0">
                <a:solidFill>
                  <a:srgbClr val="1A1A1A"/>
                </a:solidFill>
              </a:rPr>
              <a:t>•  Facility energy — pyrolysis start-up, reactor heating</a:t>
            </a:r>
            <a:r>
              <a:rPr lang="en-US" sz="1150" b="0" dirty="0">
                <a:solidFill>
                  <a:srgbClr val="1A1A1A"/>
                </a:solidFill>
              </a:rPr>
              <a:t>, supporting activity</a:t>
            </a:r>
            <a:r>
              <a:rPr sz="1150" b="0" dirty="0">
                <a:solidFill>
                  <a:srgbClr val="1A1A1A"/>
                </a:solidFill>
              </a:rPr>
              <a:t> — is quantified via the Energy Use Accounting Module v1.3 (per §8.5.5). </a:t>
            </a:r>
            <a:r>
              <a:rPr sz="1150" b="0" dirty="0" err="1">
                <a:solidFill>
                  <a:srgbClr val="1A1A1A"/>
                </a:solidFill>
              </a:rPr>
              <a:t>Tailgas</a:t>
            </a:r>
            <a:r>
              <a:rPr sz="1150" b="0" dirty="0">
                <a:solidFill>
                  <a:srgbClr val="1A1A1A"/>
                </a:solidFill>
              </a:rPr>
              <a:t> emissions testing follows accredited stack testing (ASTM D7036 / ISO 17025)</a:t>
            </a:r>
            <a:r>
              <a:rPr lang="en-US" sz="1150" b="0" dirty="0">
                <a:solidFill>
                  <a:srgbClr val="1A1A1A"/>
                </a:solidFill>
              </a:rPr>
              <a:t> as required by Bio-Oil geological Storage v1.2</a:t>
            </a:r>
            <a:endParaRPr sz="1150" b="0" dirty="0">
              <a:solidFill>
                <a:srgbClr val="1A1A1A"/>
              </a:solidFill>
            </a:endParaRP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1597873"/>
          </a:xfrm>
          <a:prstGeom prst="rect">
            <a:avLst/>
          </a:prstGeom>
          <a:noFill/>
        </p:spPr>
        <p:txBody>
          <a:bodyPr wrap="square">
            <a:spAutoFit/>
          </a:bodyPr>
          <a:lstStyle/>
          <a:p>
            <a:pPr algn="l"/>
            <a:r>
              <a:rPr sz="1150" b="0" dirty="0">
                <a:solidFill>
                  <a:srgbClr val="1A1A1A"/>
                </a:solidFill>
              </a:rPr>
              <a:t>•  This is Charm’s existing validated conversion methodology — no new development. The same pyrolysis accounting that supports the CDR claim quantifies the bio-oil’s production-stage CI</a:t>
            </a:r>
            <a:r>
              <a:rPr lang="en-US" sz="1150" b="0" dirty="0">
                <a:solidFill>
                  <a:srgbClr val="1A1A1A"/>
                </a:solidFill>
              </a:rPr>
              <a:t> – </a:t>
            </a:r>
            <a:r>
              <a:rPr lang="en-US" sz="1150" b="0" i="1" dirty="0">
                <a:solidFill>
                  <a:srgbClr val="1A1A1A"/>
                </a:solidFill>
              </a:rPr>
              <a:t>Note: Amortization of embodied emissions associated with project capex is currently included in Production CI accounting. This will be changing later in the year, with embodied emissions amortized against gross removals generally; this will bring production accounting more into line with RSB — which under RSB-STD-01-003-01 v3.2 §A.5 excludes emissions from infrastructure and the manufacture of machinery and equipment — without creating the need for a parallel accounting system</a:t>
            </a:r>
            <a:endParaRPr sz="1150" b="0" dirty="0">
              <a:solidFill>
                <a:srgbClr val="1A1A1A"/>
              </a:solidFill>
            </a:endParaRPr>
          </a:p>
          <a:p>
            <a:pPr algn="l">
              <a:spcBef>
                <a:spcPts val="700"/>
              </a:spcBef>
            </a:pPr>
            <a:r>
              <a:rPr sz="1150" b="0" dirty="0">
                <a:solidFill>
                  <a:srgbClr val="1A1A1A"/>
                </a:solidFill>
              </a:rPr>
              <a:t>•  Bio-oil is the product carried forward to the refinery; the Bio-oil Geological Storage protocol governs how its conversion and direct emissions are measured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5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Allocation of Tree-to-Gate Emissions to Co-Products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a:solidFill>
                  <a:srgbClr val="1A1A1A"/>
                </a:solidFill>
              </a:rPr>
              <a:t>Charm PDD v1.12, Appendix 6 — GHG Statement Methodology (Calculations)</a:t>
            </a:r>
          </a:p>
          <a:p>
            <a:pPr algn="l">
              <a:spcBef>
                <a:spcPts val="200"/>
              </a:spcBef>
            </a:pPr>
            <a:r>
              <a:rPr sz="1050" b="0">
                <a:solidFill>
                  <a:srgbClr val="556575"/>
                </a:solidFill>
              </a:rPr>
              <a:t>Carbon mass allocation of process emissions across co-products — Charm’s applied method</a:t>
            </a:r>
          </a:p>
          <a:p>
            <a:pPr algn="l">
              <a:spcBef>
                <a:spcPts val="1000"/>
              </a:spcBef>
            </a:pPr>
            <a:r>
              <a:rPr sz="1250" b="1">
                <a:solidFill>
                  <a:srgbClr val="1A1A1A"/>
                </a:solidFill>
              </a:rPr>
              <a:t>Underlying: GHG Accounting Module v1.1, §6.1</a:t>
            </a:r>
          </a:p>
          <a:p>
            <a:pPr algn="l">
              <a:spcBef>
                <a:spcPts val="200"/>
              </a:spcBef>
            </a:pPr>
            <a:r>
              <a:rPr sz="1050" b="0">
                <a:solidFill>
                  <a:srgbClr val="556575"/>
                </a:solidFill>
              </a:rPr>
              <a:t>Co-product allocation framework</a:t>
            </a:r>
          </a:p>
          <a:p>
            <a:pPr algn="l">
              <a:spcBef>
                <a:spcPts val="1000"/>
              </a:spcBef>
            </a:pPr>
            <a:r>
              <a:rPr sz="1250" b="1">
                <a:solidFill>
                  <a:srgbClr val="1A1A1A"/>
                </a:solidFill>
              </a:rPr>
              <a:t>Bio-oil Geological Storage v1.2, §8.5.5.1</a:t>
            </a:r>
          </a:p>
          <a:p>
            <a:pPr algn="l">
              <a:spcBef>
                <a:spcPts val="200"/>
              </a:spcBef>
            </a:pPr>
            <a:r>
              <a:rPr sz="1050" b="0">
                <a:solidFill>
                  <a:srgbClr val="556575"/>
                </a:solidFill>
              </a:rPr>
              <a:t>Co-product allocation requirement — routes to GHG Accounting Module §6.1</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Charm allocates tree-to-gate process emissions between the co-products — biochar and the bio-oil fractions — on a carbon mass basis. The PDD lays this out in Appendix 6 (GHG Statement Methodology) as its applied reading of GHG Accounting Module v1.1 §6.1</a:t>
            </a:r>
          </a:p>
          <a:p>
            <a:pPr algn="l">
              <a:spcBef>
                <a:spcPts val="700"/>
              </a:spcBef>
            </a:pPr>
            <a:r>
              <a:rPr sz="1150" b="0">
                <a:solidFill>
                  <a:srgbClr val="1A1A1A"/>
                </a:solidFill>
              </a:rPr>
              <a:t>•  Carbon mass allocation is Charm’s chosen procedure; the protocol’s optional energy-content method is not used</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446276"/>
          </a:xfrm>
          <a:prstGeom prst="rect">
            <a:avLst/>
          </a:prstGeom>
          <a:noFill/>
        </p:spPr>
        <p:txBody>
          <a:bodyPr wrap="square">
            <a:spAutoFit/>
          </a:bodyPr>
          <a:lstStyle/>
          <a:p>
            <a:pPr algn="l">
              <a:spcBef>
                <a:spcPts val="700"/>
              </a:spcBef>
            </a:pPr>
            <a:r>
              <a:rPr sz="1150" b="0" dirty="0">
                <a:solidFill>
                  <a:srgbClr val="1A1A1A"/>
                </a:solidFill>
              </a:rPr>
              <a:t>•  This keeps the SAF co-product accounting identical to the validated CDR treatment on the same physical pyrolysis process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6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Bio-Oil Transport to Refinery</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a:solidFill>
                  <a:srgbClr val="1A1A1A"/>
                </a:solidFill>
              </a:rPr>
              <a:t>Charm PDD v1.12, §B — Project Boundary &amp; Monitoring Plan</a:t>
            </a:r>
          </a:p>
          <a:p>
            <a:pPr algn="l">
              <a:spcBef>
                <a:spcPts val="200"/>
              </a:spcBef>
            </a:pPr>
            <a:r>
              <a:rPr sz="1050" b="0">
                <a:solidFill>
                  <a:srgbClr val="556575"/>
                </a:solidFill>
              </a:rPr>
              <a:t>The validated transport-accounting method Charm applies to bio-oil shipment legs</a:t>
            </a:r>
          </a:p>
          <a:p>
            <a:pPr algn="l">
              <a:spcBef>
                <a:spcPts val="1000"/>
              </a:spcBef>
            </a:pPr>
            <a:r>
              <a:rPr sz="1250" b="1">
                <a:solidFill>
                  <a:srgbClr val="1A1A1A"/>
                </a:solidFill>
              </a:rPr>
              <a:t>Underlying: Transportation Emissions Accounting v1.1, §3.3</a:t>
            </a:r>
          </a:p>
          <a:p>
            <a:pPr algn="l">
              <a:spcBef>
                <a:spcPts val="200"/>
              </a:spcBef>
            </a:pPr>
            <a:r>
              <a:rPr sz="1050" b="0">
                <a:solidFill>
                  <a:srgbClr val="556575"/>
                </a:solidFill>
              </a:rPr>
              <a:t>Distance-Based Method: CO2e = D × W × EF (rail + truck)</a:t>
            </a:r>
          </a:p>
          <a:p>
            <a:pPr algn="l">
              <a:spcBef>
                <a:spcPts val="1000"/>
              </a:spcBef>
            </a:pPr>
            <a:r>
              <a:rPr sz="1250" b="1">
                <a:solidFill>
                  <a:srgbClr val="1A1A1A"/>
                </a:solidFill>
              </a:rPr>
              <a:t>Underlying: Transportation Emissions Accounting v1.1, §3.4 + Appendix 1</a:t>
            </a:r>
          </a:p>
          <a:p>
            <a:pPr algn="l">
              <a:spcBef>
                <a:spcPts val="200"/>
              </a:spcBef>
            </a:pPr>
            <a:r>
              <a:rPr sz="1050" b="0">
                <a:solidFill>
                  <a:srgbClr val="556575"/>
                </a:solidFill>
              </a:rPr>
              <a:t>EF currency floor: road ≤3 yr, rail ≤7 yr, most recent available; full fuel cycle required</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923330"/>
          </a:xfrm>
          <a:prstGeom prst="rect">
            <a:avLst/>
          </a:prstGeom>
          <a:noFill/>
        </p:spPr>
        <p:txBody>
          <a:bodyPr wrap="square">
            <a:spAutoFit/>
          </a:bodyPr>
          <a:lstStyle/>
          <a:p>
            <a:pPr algn="l"/>
            <a:r>
              <a:rPr sz="1150" b="0" dirty="0">
                <a:solidFill>
                  <a:srgbClr val="1A1A1A"/>
                </a:solidFill>
              </a:rPr>
              <a:t>•  The bio-oil shipment to the FCC refinery uses the same transport-accounting method Charm's PDD validates for bio-oil movement — </a:t>
            </a:r>
            <a:r>
              <a:rPr lang="en-US" sz="1150" b="0" dirty="0">
                <a:solidFill>
                  <a:srgbClr val="1A1A1A"/>
                </a:solidFill>
              </a:rPr>
              <a:t>C</a:t>
            </a:r>
            <a:r>
              <a:rPr sz="1150" b="0" dirty="0">
                <a:solidFill>
                  <a:srgbClr val="1A1A1A"/>
                </a:solidFill>
              </a:rPr>
              <a:t>alculated as distance × mass × mode-specific EF. The refinery endpoint is SAF-specific, but the method is unchanged</a:t>
            </a:r>
            <a:endParaRPr lang="en-US" sz="1150" b="0" dirty="0">
              <a:solidFill>
                <a:srgbClr val="1A1A1A"/>
              </a:solidFill>
            </a:endParaRPr>
          </a:p>
          <a:p>
            <a:pPr algn="l"/>
            <a:endParaRPr sz="800" b="0" dirty="0">
              <a:solidFill>
                <a:srgbClr val="1A1A1A"/>
              </a:solidFill>
            </a:endParaRPr>
          </a:p>
          <a:p>
            <a:pPr algn="l"/>
            <a:r>
              <a:rPr sz="1150" b="0" dirty="0">
                <a:solidFill>
                  <a:srgbClr val="1A1A1A"/>
                </a:solidFill>
              </a:rPr>
              <a:t>•  Emission factors are currently updated at least annually per the PDD</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The transport-accounting method is already validated in Charm's CDR PDD; only the destination differs for the SAF pathway, so the calculation carries over without new methodology</a:t>
            </a:r>
          </a:p>
          <a:p>
            <a:pPr algn="l">
              <a:spcBef>
                <a:spcPts val="700"/>
              </a:spcBef>
            </a:pPr>
            <a:r>
              <a:rPr sz="1150" b="0">
                <a:solidFill>
                  <a:srgbClr val="1A1A1A"/>
                </a:solidFill>
              </a:rPr>
              <a:t>•  Using the same underlying Transportation module across all bio-oil transport legs keeps the methodology internally consistent and simplifies verifier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7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Refinery Co-Processing into Fuel Co-Products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C06020"/>
                </a:solidFill>
              </a:rPr>
              <a:t>Bolt-On — Novel</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C06020"/>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a:solidFill>
                  <a:srgbClr val="1A1A1A"/>
                </a:solidFill>
              </a:rPr>
              <a:t>RSB-STD-01-010 v2.8, §2.4</a:t>
            </a:r>
          </a:p>
          <a:p>
            <a:pPr algn="l">
              <a:spcBef>
                <a:spcPts val="200"/>
              </a:spcBef>
            </a:pPr>
            <a:r>
              <a:rPr sz="1050" b="0">
                <a:solidFill>
                  <a:srgbClr val="556575"/>
                </a:solidFill>
              </a:rPr>
              <a:t>Requirements for co-processing biogenic and fossil feedstocks — three documentation options</a:t>
            </a:r>
          </a:p>
          <a:p>
            <a:pPr algn="l">
              <a:spcBef>
                <a:spcPts val="1000"/>
              </a:spcBef>
            </a:pPr>
            <a:r>
              <a:rPr sz="1250" b="1">
                <a:solidFill>
                  <a:srgbClr val="1A1A1A"/>
                </a:solidFill>
              </a:rPr>
              <a:t>RSB-STD-01-010 v2.8, Annex IV</a:t>
            </a:r>
          </a:p>
          <a:p>
            <a:pPr algn="l">
              <a:spcBef>
                <a:spcPts val="200"/>
              </a:spcBef>
            </a:pPr>
            <a:r>
              <a:rPr sz="1050" b="0">
                <a:solidFill>
                  <a:srgbClr val="556575"/>
                </a:solidFill>
              </a:rPr>
              <a:t>Optional flexible attribution methodology — eligible-carbon and advanced-fuel calculation (Eq [1]–[2])</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C06020"/>
                </a:solidFill>
              </a:rPr>
              <a:t>WHAT IT IS</a:t>
            </a:r>
          </a:p>
        </p:txBody>
      </p:sp>
      <p:sp>
        <p:nvSpPr>
          <p:cNvPr id="10" name="TextBox 9"/>
          <p:cNvSpPr txBox="1"/>
          <p:nvPr/>
        </p:nvSpPr>
        <p:spPr>
          <a:xfrm>
            <a:off x="5897880" y="1874519"/>
            <a:ext cx="6035040" cy="889987"/>
          </a:xfrm>
          <a:prstGeom prst="rect">
            <a:avLst/>
          </a:prstGeom>
          <a:noFill/>
        </p:spPr>
        <p:txBody>
          <a:bodyPr wrap="square">
            <a:spAutoFit/>
          </a:bodyPr>
          <a:lstStyle/>
          <a:p>
            <a:pPr algn="l"/>
            <a:r>
              <a:rPr sz="1150" b="0" dirty="0">
                <a:solidFill>
                  <a:srgbClr val="1A1A1A"/>
                </a:solidFill>
              </a:rPr>
              <a:t>•  RSB §2.4 establishes three options for documenting biogenic fractions in co-processing: mass balance (§2.4.3), radiocarbon analysis (§2.4.4), or flexible attribution (§2.4.5)</a:t>
            </a:r>
          </a:p>
          <a:p>
            <a:pPr algn="l">
              <a:spcBef>
                <a:spcPts val="700"/>
              </a:spcBef>
            </a:pPr>
            <a:r>
              <a:rPr sz="1150" b="0" dirty="0">
                <a:solidFill>
                  <a:srgbClr val="1A1A1A"/>
                </a:solidFill>
              </a:rPr>
              <a:t>•  Annex IV sets out the flexible-attribution calculation: identify the eligible biogenic carbon exiting the unit (Eq [1]), then the advanced-fuel volume it supports (Eq [2]</a:t>
            </a:r>
            <a:r>
              <a:rPr lang="en-US" sz="1150" b="0" dirty="0">
                <a:solidFill>
                  <a:srgbClr val="1A1A1A"/>
                </a:solidFill>
              </a:rPr>
              <a:t>, detail in Step 9</a:t>
            </a:r>
            <a:r>
              <a:rPr sz="1150" b="0" dirty="0">
                <a:solidFill>
                  <a:srgbClr val="1A1A1A"/>
                </a:solidFill>
              </a:rPr>
              <a:t>)</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C06020"/>
                </a:solidFill>
              </a:rPr>
              <a:t>WHY IT'S BEING USED</a:t>
            </a:r>
          </a:p>
        </p:txBody>
      </p:sp>
      <p:sp>
        <p:nvSpPr>
          <p:cNvPr id="13" name="TextBox 12"/>
          <p:cNvSpPr txBox="1"/>
          <p:nvPr/>
        </p:nvSpPr>
        <p:spPr>
          <a:xfrm>
            <a:off x="5897880" y="4498848"/>
            <a:ext cx="6035040" cy="1243930"/>
          </a:xfrm>
          <a:prstGeom prst="rect">
            <a:avLst/>
          </a:prstGeom>
          <a:noFill/>
        </p:spPr>
        <p:txBody>
          <a:bodyPr wrap="square">
            <a:spAutoFit/>
          </a:bodyPr>
          <a:lstStyle/>
          <a:p>
            <a:pPr algn="l"/>
            <a:r>
              <a:rPr sz="1150" b="0" dirty="0">
                <a:solidFill>
                  <a:srgbClr val="1A1A1A"/>
                </a:solidFill>
              </a:rPr>
              <a:t>•  RSB has </a:t>
            </a:r>
            <a:r>
              <a:rPr lang="en-US" sz="1150" b="0" dirty="0">
                <a:solidFill>
                  <a:srgbClr val="1A1A1A"/>
                </a:solidFill>
              </a:rPr>
              <a:t>a highly</a:t>
            </a:r>
            <a:r>
              <a:rPr sz="1150" b="0" dirty="0">
                <a:solidFill>
                  <a:srgbClr val="1A1A1A"/>
                </a:solidFill>
              </a:rPr>
              <a:t> developed</a:t>
            </a:r>
            <a:r>
              <a:rPr lang="en-US" sz="1150" b="0" dirty="0">
                <a:solidFill>
                  <a:srgbClr val="1A1A1A"/>
                </a:solidFill>
              </a:rPr>
              <a:t>,</a:t>
            </a:r>
            <a:r>
              <a:rPr sz="1150" b="0" dirty="0">
                <a:solidFill>
                  <a:srgbClr val="1A1A1A"/>
                </a:solidFill>
              </a:rPr>
              <a:t> published normative framework specifically for FCC-style co-processing of biogenic and fossil feedstocks — this is the coverage gap that the existing Isometric modules do not address</a:t>
            </a:r>
          </a:p>
          <a:p>
            <a:pPr algn="l">
              <a:spcBef>
                <a:spcPts val="700"/>
              </a:spcBef>
            </a:pPr>
            <a:r>
              <a:rPr sz="1150" b="0" dirty="0">
                <a:solidFill>
                  <a:srgbClr val="1A1A1A"/>
                </a:solidFill>
              </a:rPr>
              <a:t>•  Flexible attribution (§2.4.5) is the pathway that enables free designation of which output receives the biogenic carbon credit in Step 9; this step establishes the normative basis for that attribution</a:t>
            </a:r>
          </a:p>
        </p:txBody>
      </p:sp>
      <p:sp>
        <p:nvSpPr>
          <p:cNvPr id="14" name="Rectangle 13"/>
          <p:cNvSpPr/>
          <p:nvPr/>
        </p:nvSpPr>
        <p:spPr>
          <a:xfrm>
            <a:off x="384048" y="3886200"/>
            <a:ext cx="5074920" cy="2697480"/>
          </a:xfrm>
          <a:prstGeom prst="rect">
            <a:avLst/>
          </a:prstGeom>
          <a:solidFill>
            <a:srgbClr val="F7E6D8"/>
          </a:solidFill>
          <a:ln w="9525">
            <a:solidFill>
              <a:srgbClr val="C06020"/>
            </a:solid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800" b="1">
                <a:solidFill>
                  <a:srgbClr val="C06020"/>
                </a:solidFill>
              </a:rPr>
              <a:t>KEY EQUATION  ·  RSB-STD-01-010 v2.8, Annex IV [1]</a:t>
            </a:r>
          </a:p>
          <a:p>
            <a:pPr>
              <a:spcBef>
                <a:spcPts val="600"/>
              </a:spcBef>
            </a:pPr>
            <a:r>
              <a:rPr sz="1250" b="1">
                <a:solidFill>
                  <a:srgbClr val="1A1A1A"/>
                </a:solidFill>
              </a:rPr>
              <a:t>Output_elig.C  =  m_elig.f  ×  Carbon-content_elig.f  ×  η_C,i</a:t>
            </a:r>
          </a:p>
          <a:p>
            <a:pPr>
              <a:spcBef>
                <a:spcPts val="700"/>
              </a:spcBef>
            </a:pPr>
            <a:r>
              <a:rPr sz="800">
                <a:solidFill>
                  <a:srgbClr val="556575"/>
                </a:solidFill>
              </a:rPr>
              <a:t>where:  Output_elig.C = eligible (biogenic) carbon exiting the unit (t C);  m_elig.f = eligible feedstock entering (t, dry);  Carbon-content_elig.f = its carbon content (% w/w);  η_C,i = carbon conversion efficiency (% of input C ending in the product)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8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Allocation of Marginal Refinery Emissions to Co-Products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C06020"/>
                </a:solidFill>
              </a:rPr>
              <a:t>Bolt-On — Novel</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C06020"/>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a:solidFill>
                  <a:srgbClr val="1A1A1A"/>
                </a:solidFill>
              </a:rPr>
              <a:t>RSB-GUI-PG-2025-02 §6.1 — Co-Processing GHG Calculation</a:t>
            </a:r>
          </a:p>
          <a:p>
            <a:pPr algn="l">
              <a:spcBef>
                <a:spcPts val="200"/>
              </a:spcBef>
            </a:pPr>
            <a:r>
              <a:rPr sz="1050" b="0">
                <a:solidFill>
                  <a:srgbClr val="556575"/>
                </a:solidFill>
              </a:rPr>
              <a:t>Virtual baseline split: shared process energy by inlet energy fraction; biogenic-specific inputs attributed entirely to the biofuel</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C06020"/>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Co-processing emissions use a virtual baseline split: shared refinery process energy is allocated to the biofuel by its inlet energy fraction, F_bio ÷ (F_bio + F_fossil)</a:t>
            </a:r>
          </a:p>
          <a:p>
            <a:pPr algn="l">
              <a:spcBef>
                <a:spcPts val="700"/>
              </a:spcBef>
            </a:pPr>
            <a:r>
              <a:rPr sz="1150" b="0">
                <a:solidFill>
                  <a:srgbClr val="1A1A1A"/>
                </a:solidFill>
              </a:rPr>
              <a:t>•  Inputs specific to the biogenic feedstock — extra hydrogen for deoxygenation, additional heat and reagents — are attributed entirely to the biofuel (the e_additional term), measured against the fossil-only baseline rather than energy-split</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C06020"/>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Published normative formula with explicit variables and a defined calculation — fully auditable by any verifier familiar with RSB</a:t>
            </a:r>
          </a:p>
          <a:p>
            <a:pPr algn="l">
              <a:spcBef>
                <a:spcPts val="700"/>
              </a:spcBef>
            </a:pPr>
            <a:r>
              <a:rPr sz="1150" b="0">
                <a:solidFill>
                  <a:srgbClr val="1A1A1A"/>
                </a:solidFill>
              </a:rPr>
              <a:t>•  Physically grounded and marginal: shared load is split by energy, while emissions caused specifically by adding the biogenic feedstock fall to the biofuel — the counterfactual logic RSB co-processing requires</a:t>
            </a:r>
          </a:p>
        </p:txBody>
      </p:sp>
      <p:sp>
        <p:nvSpPr>
          <p:cNvPr id="14" name="Rectangle 13"/>
          <p:cNvSpPr/>
          <p:nvPr/>
        </p:nvSpPr>
        <p:spPr>
          <a:xfrm>
            <a:off x="384048" y="3886200"/>
            <a:ext cx="5074920" cy="2697480"/>
          </a:xfrm>
          <a:prstGeom prst="rect">
            <a:avLst/>
          </a:prstGeom>
          <a:solidFill>
            <a:srgbClr val="F7E6D8"/>
          </a:solidFill>
          <a:ln w="9525">
            <a:solidFill>
              <a:srgbClr val="C06020"/>
            </a:solid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800" b="1">
                <a:solidFill>
                  <a:srgbClr val="C06020"/>
                </a:solidFill>
              </a:rPr>
              <a:t>KEY EQUATION  ·  RSB-GUI-PG-2025-02 §6.1 (Co-Processing GHG)</a:t>
            </a:r>
          </a:p>
          <a:p>
            <a:pPr>
              <a:spcBef>
                <a:spcPts val="600"/>
              </a:spcBef>
            </a:pPr>
            <a:r>
              <a:rPr sz="1250" b="1">
                <a:solidFill>
                  <a:srgbClr val="1A1A1A"/>
                </a:solidFill>
              </a:rPr>
              <a:t>e_processing = E_total × [F_bio ÷ (F_bio + F_fossil)] + e_additional</a:t>
            </a:r>
          </a:p>
          <a:p>
            <a:pPr>
              <a:spcBef>
                <a:spcPts val="700"/>
              </a:spcBef>
            </a:pPr>
            <a:r>
              <a:rPr sz="750">
                <a:solidFill>
                  <a:srgbClr val="556575"/>
                </a:solidFill>
              </a:rPr>
              <a:t>where:  E_total = baseline process emissions shared by fossil &amp; biogenic inputs;  F_bio ÷ (F_bio + F_fossil) = biogenic feedstock’s inlet energy fraction (allocates the shared process emissions);  e_additional = energy/reagents (extra H₂, heat) specifically required for the biogenic feedstock — attributed entirely to the biofuel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9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Allocation of Biogenic Carbon Credit to Fuel Co-Products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C06020"/>
                </a:solidFill>
              </a:rPr>
              <a:t>Bolt-On — Novel</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C06020"/>
                </a:solidFill>
              </a:rPr>
              <a:t>NORMATIVE REFERENCE</a:t>
            </a:r>
          </a:p>
        </p:txBody>
      </p:sp>
      <p:sp>
        <p:nvSpPr>
          <p:cNvPr id="8" name="TextBox 7"/>
          <p:cNvSpPr txBox="1"/>
          <p:nvPr/>
        </p:nvSpPr>
        <p:spPr>
          <a:xfrm>
            <a:off x="384048" y="1901952"/>
            <a:ext cx="5074920" cy="471924"/>
          </a:xfrm>
          <a:prstGeom prst="rect">
            <a:avLst/>
          </a:prstGeom>
          <a:noFill/>
        </p:spPr>
        <p:txBody>
          <a:bodyPr wrap="square">
            <a:spAutoFit/>
          </a:bodyPr>
          <a:lstStyle/>
          <a:p>
            <a:pPr algn="l"/>
            <a:r>
              <a:rPr sz="1250" b="1" dirty="0">
                <a:solidFill>
                  <a:srgbClr val="1A1A1A"/>
                </a:solidFill>
              </a:rPr>
              <a:t>RSB-STD-01-010 v2.8, §2.4.5 + Annex IV [1]–[3]</a:t>
            </a:r>
          </a:p>
          <a:p>
            <a:pPr algn="l">
              <a:spcBef>
                <a:spcPts val="200"/>
              </a:spcBef>
            </a:pPr>
            <a:r>
              <a:rPr sz="1050" b="0" dirty="0">
                <a:solidFill>
                  <a:srgbClr val="556575"/>
                </a:solidFill>
              </a:rPr>
              <a:t>Flexible (free) attribution — normative requirement and three-step calculation</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C06020"/>
                </a:solidFill>
              </a:rPr>
              <a:t>WHAT IT IS</a:t>
            </a:r>
          </a:p>
        </p:txBody>
      </p:sp>
      <p:sp>
        <p:nvSpPr>
          <p:cNvPr id="10" name="TextBox 9"/>
          <p:cNvSpPr txBox="1"/>
          <p:nvPr/>
        </p:nvSpPr>
        <p:spPr>
          <a:xfrm>
            <a:off x="5897880" y="1874519"/>
            <a:ext cx="6035040" cy="623248"/>
          </a:xfrm>
          <a:prstGeom prst="rect">
            <a:avLst/>
          </a:prstGeom>
          <a:noFill/>
        </p:spPr>
        <p:txBody>
          <a:bodyPr wrap="square">
            <a:spAutoFit/>
          </a:bodyPr>
          <a:lstStyle/>
          <a:p>
            <a:pPr algn="l"/>
            <a:r>
              <a:rPr sz="1150" b="0" dirty="0">
                <a:solidFill>
                  <a:srgbClr val="1A1A1A"/>
                </a:solidFill>
              </a:rPr>
              <a:t>•  RSB §2.4.5 is the normative requirement: the operator designates which output receives the biogenic carbon attribute. Annex IV formulas [1]–[3] calculate: (1) eligible carbon output, (2) attributed advanced fuel volume, (3) GHG intensity per MJ of that SAF</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C06020"/>
                </a:solidFill>
              </a:rPr>
              <a:t>WHY IT'S BEING USED</a:t>
            </a:r>
          </a:p>
        </p:txBody>
      </p:sp>
      <p:sp>
        <p:nvSpPr>
          <p:cNvPr id="13" name="TextBox 12"/>
          <p:cNvSpPr txBox="1"/>
          <p:nvPr/>
        </p:nvSpPr>
        <p:spPr>
          <a:xfrm>
            <a:off x="5897880" y="4498848"/>
            <a:ext cx="6035040" cy="623248"/>
          </a:xfrm>
          <a:prstGeom prst="rect">
            <a:avLst/>
          </a:prstGeom>
          <a:noFill/>
        </p:spPr>
        <p:txBody>
          <a:bodyPr wrap="square">
            <a:spAutoFit/>
          </a:bodyPr>
          <a:lstStyle/>
          <a:p>
            <a:pPr algn="l"/>
            <a:r>
              <a:rPr sz="1150" b="0" dirty="0">
                <a:solidFill>
                  <a:srgbClr val="1A1A1A"/>
                </a:solidFill>
              </a:rPr>
              <a:t>•  Free attribution is the mechanism that makes SAF credit economics viable for FCC co-processing: operator can designate the SAF output as the recipient of the full bio-oil biogenic carbon credit, rather than spreading it across all refinery outputs by mass or energy fraction</a:t>
            </a:r>
          </a:p>
        </p:txBody>
      </p:sp>
      <p:sp>
        <p:nvSpPr>
          <p:cNvPr id="14" name="Rectangle 13"/>
          <p:cNvSpPr/>
          <p:nvPr/>
        </p:nvSpPr>
        <p:spPr>
          <a:xfrm>
            <a:off x="384048" y="3886200"/>
            <a:ext cx="5074920" cy="2697480"/>
          </a:xfrm>
          <a:prstGeom prst="rect">
            <a:avLst/>
          </a:prstGeom>
          <a:solidFill>
            <a:srgbClr val="F7E6D8"/>
          </a:solidFill>
          <a:ln w="9525">
            <a:solidFill>
              <a:srgbClr val="C06020"/>
            </a:solid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800" b="1">
                <a:solidFill>
                  <a:srgbClr val="C06020"/>
                </a:solidFill>
              </a:rPr>
              <a:t>KEY EQUATION  ·  RSB-STD-01-010 v2.8, Annex IV [2] &amp; [5]</a:t>
            </a:r>
          </a:p>
          <a:p>
            <a:pPr>
              <a:spcBef>
                <a:spcPts val="600"/>
              </a:spcBef>
            </a:pPr>
            <a:r>
              <a:rPr sz="1250" b="1">
                <a:solidFill>
                  <a:srgbClr val="1A1A1A"/>
                </a:solidFill>
              </a:rPr>
              <a:t>[2]  TS_adv.fuel = Output_elig.C × Output carbon-content</a:t>
            </a:r>
          </a:p>
          <a:p>
            <a:pPr>
              <a:spcBef>
                <a:spcPts val="600"/>
              </a:spcBef>
            </a:pPr>
            <a:r>
              <a:rPr sz="1250" b="1">
                <a:solidFill>
                  <a:srgbClr val="1A1A1A"/>
                </a:solidFill>
              </a:rPr>
              <a:t>[5]  AF [%] = LHV_af ÷ Total energy output [MJ]</a:t>
            </a:r>
          </a:p>
          <a:p>
            <a:pPr>
              <a:spcBef>
                <a:spcPts val="700"/>
              </a:spcBef>
            </a:pPr>
            <a:r>
              <a:rPr sz="750">
                <a:solidFill>
                  <a:srgbClr val="556575"/>
                </a:solidFill>
              </a:rPr>
              <a:t>where:  TS_adv.fuel = advanced-fuel volume eligible for the claim (t, dry);  Output_elig.C = eligible carbon from [1] (t C);  Output carbon-content = carbon content of the fuel (t fuel per t C);  AF = energy-basis allocation factor to the advanced fuel (%);  LHV_af = LHV of the advanced fuel (MJ/t);  Total energy output = LHV summed across all output products (MJ)</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10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Transport of Fuel(s) to Blend Point</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2E75B6"/>
                </a:solidFill>
              </a:rPr>
              <a:t>Existing CDR Methodology</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2E75B6"/>
                </a:solidFill>
              </a:rPr>
              <a:t>NORMATIVE REFERENCE</a:t>
            </a:r>
          </a:p>
        </p:txBody>
      </p:sp>
      <p:sp>
        <p:nvSpPr>
          <p:cNvPr id="8" name="TextBox 7"/>
          <p:cNvSpPr txBox="1"/>
          <p:nvPr/>
        </p:nvSpPr>
        <p:spPr>
          <a:xfrm>
            <a:off x="384048" y="1901952"/>
            <a:ext cx="5074920" cy="979755"/>
          </a:xfrm>
          <a:prstGeom prst="rect">
            <a:avLst/>
          </a:prstGeom>
          <a:noFill/>
        </p:spPr>
        <p:txBody>
          <a:bodyPr wrap="square">
            <a:spAutoFit/>
          </a:bodyPr>
          <a:lstStyle/>
          <a:p>
            <a:pPr algn="l"/>
            <a:r>
              <a:rPr sz="1250" b="1" dirty="0">
                <a:solidFill>
                  <a:srgbClr val="1A1A1A"/>
                </a:solidFill>
              </a:rPr>
              <a:t>Transportation Emissions Accounting v1.1, §3.3</a:t>
            </a:r>
          </a:p>
          <a:p>
            <a:pPr algn="l">
              <a:spcBef>
                <a:spcPts val="200"/>
              </a:spcBef>
            </a:pPr>
            <a:r>
              <a:rPr sz="1050" b="0" dirty="0">
                <a:solidFill>
                  <a:srgbClr val="556575"/>
                </a:solidFill>
              </a:rPr>
              <a:t>Distance-Based Method: CO2e = D × W × EF (same as Steps 3 and 6)</a:t>
            </a:r>
          </a:p>
          <a:p>
            <a:pPr algn="l">
              <a:spcBef>
                <a:spcPts val="1000"/>
              </a:spcBef>
            </a:pPr>
            <a:r>
              <a:rPr sz="1250" b="1" dirty="0">
                <a:solidFill>
                  <a:srgbClr val="1A1A1A"/>
                </a:solidFill>
              </a:rPr>
              <a:t>Transportation Emissions Accounting v1.1, Appendix 1</a:t>
            </a:r>
          </a:p>
          <a:p>
            <a:pPr algn="l">
              <a:spcBef>
                <a:spcPts val="200"/>
              </a:spcBef>
            </a:pPr>
            <a:r>
              <a:rPr sz="1050" b="0" dirty="0">
                <a:solidFill>
                  <a:srgbClr val="556575"/>
                </a:solidFill>
              </a:rPr>
              <a:t>EF currency floor (Appendix 1): pipeline ≤7 yr, ship ≤5 yr, road ≤3 yr; most recent available</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2E75B6"/>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Quantifies finished-fuel transport from the refinery to the blend point. This leg is downstream of Charm's CDR PDD boundary, so it borrows the Transportation Emissions Accounting method rather than routing through the PDD</a:t>
            </a:r>
          </a:p>
          <a:p>
            <a:pPr algn="l">
              <a:spcBef>
                <a:spcPts val="700"/>
              </a:spcBef>
            </a:pPr>
            <a:r>
              <a:rPr sz="1150" b="0">
                <a:solidFill>
                  <a:srgbClr val="1A1A1A"/>
                </a:solidFill>
              </a:rPr>
              <a:t>•  Appendix 1 sets the EF-currency floor by mode (pipeline ≤7 yr, ship ≤5 yr, road ≤3 yr) — all relevant for downstream SAF logistics depending on refinery location and blend point</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2E75B6"/>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No new methodology work: the same transport-accounting method used upstream applies to the downstream fuel leg, even though this leg sits outside the validated CDR boundary</a:t>
            </a:r>
          </a:p>
          <a:p>
            <a:pPr algn="l">
              <a:spcBef>
                <a:spcPts val="700"/>
              </a:spcBef>
            </a:pPr>
            <a:r>
              <a:rPr sz="1150" b="0">
                <a:solidFill>
                  <a:srgbClr val="1A1A1A"/>
                </a:solidFill>
              </a:rPr>
              <a:t>•  Using one transport method across all legs keeps EF sourcing rules and calculations consistent end-to-end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11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Quantification of Tree-to-Wheel CI</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C06020"/>
                </a:solidFill>
              </a:rPr>
              <a:t>Bolt-On — Novel</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C06020"/>
                </a:solidFill>
              </a:rPr>
              <a:t>NORMATIVE REFERENCE</a:t>
            </a:r>
          </a:p>
        </p:txBody>
      </p:sp>
      <p:sp>
        <p:nvSpPr>
          <p:cNvPr id="8" name="TextBox 7"/>
          <p:cNvSpPr txBox="1"/>
          <p:nvPr/>
        </p:nvSpPr>
        <p:spPr>
          <a:xfrm>
            <a:off x="384048" y="1901952"/>
            <a:ext cx="5074920" cy="979755"/>
          </a:xfrm>
          <a:prstGeom prst="rect">
            <a:avLst/>
          </a:prstGeom>
          <a:noFill/>
        </p:spPr>
        <p:txBody>
          <a:bodyPr wrap="square">
            <a:spAutoFit/>
          </a:bodyPr>
          <a:lstStyle/>
          <a:p>
            <a:pPr algn="l"/>
            <a:r>
              <a:rPr sz="1250" b="1" dirty="0">
                <a:solidFill>
                  <a:srgbClr val="1A1A1A"/>
                </a:solidFill>
              </a:rPr>
              <a:t>RSB-STD-01-003-01 v3.2, §B.1</a:t>
            </a:r>
          </a:p>
          <a:p>
            <a:pPr algn="l">
              <a:spcBef>
                <a:spcPts val="200"/>
              </a:spcBef>
            </a:pPr>
            <a:r>
              <a:rPr sz="1050" b="0" dirty="0">
                <a:solidFill>
                  <a:srgbClr val="556575"/>
                </a:solidFill>
              </a:rPr>
              <a:t>Well-to-wake central formula: E = </a:t>
            </a:r>
            <a:r>
              <a:rPr sz="1050" b="0" dirty="0" err="1">
                <a:solidFill>
                  <a:srgbClr val="556575"/>
                </a:solidFill>
              </a:rPr>
              <a:t>eec</a:t>
            </a:r>
            <a:r>
              <a:rPr sz="1050" b="0" dirty="0">
                <a:solidFill>
                  <a:srgbClr val="556575"/>
                </a:solidFill>
              </a:rPr>
              <a:t> + el + ep + </a:t>
            </a:r>
            <a:r>
              <a:rPr sz="1050" b="0" dirty="0" err="1">
                <a:solidFill>
                  <a:srgbClr val="556575"/>
                </a:solidFill>
              </a:rPr>
              <a:t>etd</a:t>
            </a:r>
            <a:r>
              <a:rPr sz="1050" b="0" dirty="0">
                <a:solidFill>
                  <a:srgbClr val="556575"/>
                </a:solidFill>
              </a:rPr>
              <a:t> + </a:t>
            </a:r>
            <a:r>
              <a:rPr sz="1050" b="0" dirty="0" err="1">
                <a:solidFill>
                  <a:srgbClr val="556575"/>
                </a:solidFill>
              </a:rPr>
              <a:t>eu</a:t>
            </a:r>
            <a:r>
              <a:rPr sz="1050" b="0" dirty="0">
                <a:solidFill>
                  <a:srgbClr val="556575"/>
                </a:solidFill>
              </a:rPr>
              <a:t> − esca − </a:t>
            </a:r>
            <a:r>
              <a:rPr sz="1050" b="0" dirty="0" err="1">
                <a:solidFill>
                  <a:srgbClr val="556575"/>
                </a:solidFill>
              </a:rPr>
              <a:t>eccs</a:t>
            </a:r>
            <a:r>
              <a:rPr sz="1050" b="0" dirty="0">
                <a:solidFill>
                  <a:srgbClr val="556575"/>
                </a:solidFill>
              </a:rPr>
              <a:t> − </a:t>
            </a:r>
            <a:r>
              <a:rPr sz="1050" b="0" dirty="0" err="1">
                <a:solidFill>
                  <a:srgbClr val="556575"/>
                </a:solidFill>
              </a:rPr>
              <a:t>eccr</a:t>
            </a:r>
            <a:endParaRPr sz="1050" b="0" dirty="0">
              <a:solidFill>
                <a:srgbClr val="556575"/>
              </a:solidFill>
            </a:endParaRPr>
          </a:p>
          <a:p>
            <a:pPr algn="l">
              <a:spcBef>
                <a:spcPts val="1000"/>
              </a:spcBef>
            </a:pPr>
            <a:r>
              <a:rPr sz="1250" b="1" dirty="0">
                <a:solidFill>
                  <a:srgbClr val="1A1A1A"/>
                </a:solidFill>
              </a:rPr>
              <a:t>RSB-STD-01-003-01 v3.2, §A.1</a:t>
            </a:r>
          </a:p>
          <a:p>
            <a:pPr algn="l">
              <a:spcBef>
                <a:spcPts val="200"/>
              </a:spcBef>
            </a:pPr>
            <a:r>
              <a:rPr sz="1050" b="0" dirty="0">
                <a:solidFill>
                  <a:srgbClr val="556575"/>
                </a:solidFill>
              </a:rPr>
              <a:t>Functional unit</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C06020"/>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§B.1 central formula aggregates all lifecycle components into a single CI in gCO₂eq/MJ (LHV, dry basis); §A.2 sets the well-to-wake system boundary for aviation biofuels</a:t>
            </a:r>
          </a:p>
          <a:p>
            <a:pPr algn="l">
              <a:spcBef>
                <a:spcPts val="700"/>
              </a:spcBef>
            </a:pPr>
            <a:r>
              <a:rPr sz="1150" b="0">
                <a:solidFill>
                  <a:srgbClr val="1A1A1A"/>
                </a:solidFill>
              </a:rPr>
              <a:t>•  §A.5 emission-factor sourcing: EU Annex IX standard values primary, national emission factors secondary, Ecoinvent/peer-reviewed LCA databases tertiary. GWP (AR5): CO₂=1, N₂O=265, CH₄=28</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C06020"/>
                </a:solidFill>
              </a:rPr>
              <a:t>WHY IT'S BEING USED</a:t>
            </a:r>
          </a:p>
        </p:txBody>
      </p:sp>
      <p:sp>
        <p:nvSpPr>
          <p:cNvPr id="13" name="TextBox 12"/>
          <p:cNvSpPr txBox="1"/>
          <p:nvPr/>
        </p:nvSpPr>
        <p:spPr>
          <a:xfrm>
            <a:off x="5897880" y="4498848"/>
            <a:ext cx="6035040" cy="889987"/>
          </a:xfrm>
          <a:prstGeom prst="rect">
            <a:avLst/>
          </a:prstGeom>
          <a:noFill/>
        </p:spPr>
        <p:txBody>
          <a:bodyPr wrap="square">
            <a:spAutoFit/>
          </a:bodyPr>
          <a:lstStyle/>
          <a:p>
            <a:pPr algn="l"/>
            <a:r>
              <a:rPr sz="1150" b="0" dirty="0">
                <a:solidFill>
                  <a:srgbClr val="1A1A1A"/>
                </a:solidFill>
              </a:rPr>
              <a:t>•  Published normative formula with defined functional unit, GWP values, and system boundary — provides auditable structure for aggregating the Isometric-derived upstream CI components into the SAF CI metric</a:t>
            </a:r>
          </a:p>
          <a:p>
            <a:pPr algn="l">
              <a:spcBef>
                <a:spcPts val="700"/>
              </a:spcBef>
            </a:pPr>
            <a:r>
              <a:rPr sz="1150" b="0" dirty="0">
                <a:solidFill>
                  <a:srgbClr val="1A1A1A"/>
                </a:solidFill>
              </a:rPr>
              <a:t>•  </a:t>
            </a:r>
            <a:r>
              <a:rPr lang="en-US" sz="1150" b="0" dirty="0">
                <a:solidFill>
                  <a:srgbClr val="1A1A1A"/>
                </a:solidFill>
              </a:rPr>
              <a:t>Aligns end product with industry standards</a:t>
            </a:r>
            <a:endParaRPr sz="1150" b="0" dirty="0">
              <a:solidFill>
                <a:srgbClr val="1A1A1A"/>
              </a:solidFill>
            </a:endParaRPr>
          </a:p>
        </p:txBody>
      </p:sp>
      <p:sp>
        <p:nvSpPr>
          <p:cNvPr id="14" name="Rectangle 13"/>
          <p:cNvSpPr/>
          <p:nvPr/>
        </p:nvSpPr>
        <p:spPr>
          <a:xfrm>
            <a:off x="384048" y="3886200"/>
            <a:ext cx="5074920" cy="2697480"/>
          </a:xfrm>
          <a:prstGeom prst="rect">
            <a:avLst/>
          </a:prstGeom>
          <a:solidFill>
            <a:srgbClr val="F7E6D8"/>
          </a:solidFill>
          <a:ln w="9525">
            <a:solidFill>
              <a:srgbClr val="C06020"/>
            </a:solid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800" b="1">
                <a:solidFill>
                  <a:srgbClr val="C06020"/>
                </a:solidFill>
              </a:rPr>
              <a:t>KEY EQUATION  ·  RSB-STD-01-003-01 v3.2, §B.1</a:t>
            </a:r>
          </a:p>
          <a:p>
            <a:pPr>
              <a:spcBef>
                <a:spcPts val="600"/>
              </a:spcBef>
            </a:pPr>
            <a:r>
              <a:rPr sz="1250" b="1">
                <a:solidFill>
                  <a:srgbClr val="1A1A1A"/>
                </a:solidFill>
              </a:rPr>
              <a:t>E  =  e_ec + e_l + e_p + e_td + e_u  −  e_sca − e_ccs − e_ccr</a:t>
            </a:r>
          </a:p>
          <a:p>
            <a:pPr>
              <a:spcBef>
                <a:spcPts val="700"/>
              </a:spcBef>
            </a:pPr>
            <a:r>
              <a:rPr sz="800">
                <a:solidFill>
                  <a:srgbClr val="556575"/>
                </a:solidFill>
              </a:rPr>
              <a:t>where:  E = total fuel CI (g CO₂eq/MJ);  e_ec = extraction/cultivation;  e_l = land-use-change (annualised);  e_p = processing;  e_td = transport &amp; distribution;  e_u = fuel in use;  e_sca = soil-carbon savings;  e_ccs = carbon capture &amp; geological storage savings;  e_ccr = carbon capture &amp; replacement savings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C06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12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Quantification of GHG Reductions vs. Fossil Fuel Baseline</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C06020"/>
                </a:solidFill>
              </a:rPr>
              <a:t>Bolt-On — Novel</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C06020"/>
                </a:solidFill>
              </a:rPr>
              <a:t>NORMATIVE REFERENCE</a:t>
            </a:r>
          </a:p>
        </p:txBody>
      </p:sp>
      <p:sp>
        <p:nvSpPr>
          <p:cNvPr id="8" name="TextBox 7"/>
          <p:cNvSpPr txBox="1"/>
          <p:nvPr/>
        </p:nvSpPr>
        <p:spPr>
          <a:xfrm>
            <a:off x="384048" y="1901952"/>
            <a:ext cx="5074920" cy="954107"/>
          </a:xfrm>
          <a:prstGeom prst="rect">
            <a:avLst/>
          </a:prstGeom>
          <a:noFill/>
        </p:spPr>
        <p:txBody>
          <a:bodyPr wrap="square">
            <a:spAutoFit/>
          </a:bodyPr>
          <a:lstStyle/>
          <a:p>
            <a:pPr algn="l"/>
            <a:r>
              <a:rPr sz="1250" b="1" dirty="0">
                <a:solidFill>
                  <a:srgbClr val="1A1A1A"/>
                </a:solidFill>
              </a:rPr>
              <a:t>RSB-STD-01-003-01 v3.2, §A.9 + Table 2</a:t>
            </a:r>
          </a:p>
          <a:p>
            <a:pPr algn="l">
              <a:spcBef>
                <a:spcPts val="200"/>
              </a:spcBef>
            </a:pPr>
            <a:r>
              <a:rPr sz="1050" b="0" dirty="0">
                <a:solidFill>
                  <a:srgbClr val="556575"/>
                </a:solidFill>
              </a:rPr>
              <a:t>GHG savings formula; fossil comparator = 90 </a:t>
            </a:r>
            <a:r>
              <a:rPr sz="1050" b="0" dirty="0" err="1">
                <a:solidFill>
                  <a:srgbClr val="556575"/>
                </a:solidFill>
              </a:rPr>
              <a:t>gCO₂eq</a:t>
            </a:r>
            <a:r>
              <a:rPr sz="1050" b="0" dirty="0">
                <a:solidFill>
                  <a:srgbClr val="556575"/>
                </a:solidFill>
              </a:rPr>
              <a:t>/MJ (well-to-wake)</a:t>
            </a:r>
          </a:p>
          <a:p>
            <a:pPr>
              <a:spcBef>
                <a:spcPts val="1000"/>
              </a:spcBef>
            </a:pPr>
            <a:r>
              <a:rPr lang="en-US" sz="1250" b="1" dirty="0"/>
              <a:t>RSB-STD-01-003-02 v2.1, Executive Summary + Table 1 (pp. 6–7) </a:t>
            </a:r>
            <a:r>
              <a:rPr sz="1050" b="0" dirty="0">
                <a:solidFill>
                  <a:srgbClr val="556575"/>
                </a:solidFill>
              </a:rPr>
              <a:t>Fossil fuel baseline calculation methodology — aviation kerosene</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C06020"/>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Saving [%] = (E_F − E) ÷ E_F × 100; RSB Global fossil comparator for biofuels = 90 gCO₂eq/MJ, confirmed in RSB-STD-01-003-01 v3.2 Table 2 (effective June 2025)</a:t>
            </a:r>
          </a:p>
          <a:p>
            <a:pPr algn="l">
              <a:spcBef>
                <a:spcPts val="700"/>
              </a:spcBef>
            </a:pPr>
            <a:r>
              <a:rPr sz="1150" b="0">
                <a:solidFill>
                  <a:srgbClr val="1A1A1A"/>
                </a:solidFill>
              </a:rPr>
              <a:t>•  RSB-STD-01-003-02 derives the 90 gCO₂eq/MJ fossil baseline from a lifecycle analysis of conventional jet fuel production and combustion</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C06020"/>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90 gCO₂eq/MJ is the most widely cited SAF fossil baseline and provides a credible, verifier-recognized anchor even if RSB certification is not ultimately pursued</a:t>
            </a:r>
          </a:p>
          <a:p>
            <a:pPr algn="l">
              <a:spcBef>
                <a:spcPts val="700"/>
              </a:spcBef>
            </a:pPr>
            <a:r>
              <a:rPr sz="1150" b="0">
                <a:solidFill>
                  <a:srgbClr val="1A1A1A"/>
                </a:solidFill>
              </a:rPr>
              <a:t>•  Publishing the % reduction vs. this baseline gives buyers a number they can benchmark against other SAF products; the RSB methodology is publicly available and verifiable without a certification body</a:t>
            </a:r>
          </a:p>
        </p:txBody>
      </p:sp>
      <p:sp>
        <p:nvSpPr>
          <p:cNvPr id="14" name="Rectangle 13"/>
          <p:cNvSpPr/>
          <p:nvPr/>
        </p:nvSpPr>
        <p:spPr>
          <a:xfrm>
            <a:off x="384048" y="3886200"/>
            <a:ext cx="5074920" cy="2697480"/>
          </a:xfrm>
          <a:prstGeom prst="rect">
            <a:avLst/>
          </a:prstGeom>
          <a:solidFill>
            <a:srgbClr val="F7E6D8"/>
          </a:solidFill>
          <a:ln w="9525">
            <a:solidFill>
              <a:srgbClr val="C06020"/>
            </a:solid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800" b="1">
                <a:solidFill>
                  <a:srgbClr val="C06020"/>
                </a:solidFill>
              </a:rPr>
              <a:t>KEY EQUATION  ·  RSB-STD-01-003-01 v3.2, §A.9 + Table 2</a:t>
            </a:r>
          </a:p>
          <a:p>
            <a:pPr>
              <a:spcBef>
                <a:spcPts val="600"/>
              </a:spcBef>
            </a:pPr>
            <a:r>
              <a:rPr sz="1250" b="1">
                <a:solidFill>
                  <a:srgbClr val="1A1A1A"/>
                </a:solidFill>
              </a:rPr>
              <a:t>Saving [%]  =  (E_F − E) ÷ E_F × 100</a:t>
            </a:r>
          </a:p>
          <a:p>
            <a:pPr>
              <a:spcBef>
                <a:spcPts val="700"/>
              </a:spcBef>
            </a:pPr>
            <a:r>
              <a:rPr sz="800">
                <a:solidFill>
                  <a:srgbClr val="556575"/>
                </a:solidFill>
              </a:rPr>
              <a:t>where:  Saving = GHG reduction vs the fossil baseline (%);  E = fuel CI (g CO₂eq/MJ);  E_F = fossil comparator = 90 g CO₂eq/MJ (RSB GLOBAL biofuel, Table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378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13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Verification of Quantified Reductions</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37863C"/>
                </a:solidFill>
              </a:rPr>
              <a:t>123 Carbon</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37863C"/>
                </a:solidFill>
              </a:rPr>
              <a:t>NORMATIVE REFERENCE</a:t>
            </a:r>
          </a:p>
        </p:txBody>
      </p:sp>
      <p:sp>
        <p:nvSpPr>
          <p:cNvPr id="8" name="TextBox 7"/>
          <p:cNvSpPr txBox="1"/>
          <p:nvPr/>
        </p:nvSpPr>
        <p:spPr>
          <a:xfrm>
            <a:off x="384048" y="1901952"/>
            <a:ext cx="5074920" cy="979755"/>
          </a:xfrm>
          <a:prstGeom prst="rect">
            <a:avLst/>
          </a:prstGeom>
          <a:noFill/>
        </p:spPr>
        <p:txBody>
          <a:bodyPr wrap="square">
            <a:spAutoFit/>
          </a:bodyPr>
          <a:lstStyle/>
          <a:p>
            <a:r>
              <a:rPr sz="1250" b="1" dirty="0">
                <a:solidFill>
                  <a:srgbClr val="1A1A1A"/>
                </a:solidFill>
              </a:rPr>
              <a:t>SFC-SPEC-001 v01, §6.1.2</a:t>
            </a:r>
            <a:r>
              <a:rPr lang="en-US" sz="1250" b="1" dirty="0">
                <a:solidFill>
                  <a:srgbClr val="1A1A1A"/>
                </a:solidFill>
              </a:rPr>
              <a:t> + §6.1.3</a:t>
            </a:r>
            <a:r>
              <a:rPr sz="1250" b="1" dirty="0">
                <a:solidFill>
                  <a:srgbClr val="1A1A1A"/>
                </a:solidFill>
              </a:rPr>
              <a:t> + §12</a:t>
            </a:r>
          </a:p>
          <a:p>
            <a:pPr algn="l">
              <a:spcBef>
                <a:spcPts val="200"/>
              </a:spcBef>
            </a:pPr>
            <a:r>
              <a:rPr sz="1050" b="0" dirty="0">
                <a:solidFill>
                  <a:srgbClr val="556575"/>
                </a:solidFill>
              </a:rPr>
              <a:t>Third-party assessment requirements for non-certified Solutions</a:t>
            </a:r>
          </a:p>
          <a:p>
            <a:pPr algn="l">
              <a:spcBef>
                <a:spcPts val="1000"/>
              </a:spcBef>
            </a:pPr>
            <a:r>
              <a:rPr sz="1250" b="1" dirty="0">
                <a:solidFill>
                  <a:srgbClr val="1A1A1A"/>
                </a:solidFill>
              </a:rPr>
              <a:t>ISO 14064-3:2019</a:t>
            </a:r>
          </a:p>
          <a:p>
            <a:pPr algn="l">
              <a:spcBef>
                <a:spcPts val="200"/>
              </a:spcBef>
            </a:pPr>
            <a:r>
              <a:rPr sz="1050" b="0" dirty="0">
                <a:solidFill>
                  <a:srgbClr val="556575"/>
                </a:solidFill>
              </a:rPr>
              <a:t>Requirements and guidance for verification and validation of GHG statements</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37863C"/>
                </a:solidFill>
              </a:rPr>
              <a:t>WHAT IT IS</a:t>
            </a:r>
          </a:p>
        </p:txBody>
      </p:sp>
      <p:sp>
        <p:nvSpPr>
          <p:cNvPr id="10" name="TextBox 9"/>
          <p:cNvSpPr txBox="1"/>
          <p:nvPr/>
        </p:nvSpPr>
        <p:spPr>
          <a:xfrm>
            <a:off x="5897880" y="1874519"/>
            <a:ext cx="6035040" cy="1066959"/>
          </a:xfrm>
          <a:prstGeom prst="rect">
            <a:avLst/>
          </a:prstGeom>
          <a:noFill/>
        </p:spPr>
        <p:txBody>
          <a:bodyPr wrap="square">
            <a:spAutoFit/>
          </a:bodyPr>
          <a:lstStyle/>
          <a:p>
            <a:r>
              <a:rPr sz="1150" b="0" dirty="0">
                <a:solidFill>
                  <a:srgbClr val="1A1A1A"/>
                </a:solidFill>
              </a:rPr>
              <a:t>•  SFC MBM §6.1.2 </a:t>
            </a:r>
            <a:r>
              <a:rPr lang="en-US" sz="1150" dirty="0">
                <a:solidFill>
                  <a:srgbClr val="1A1A1A"/>
                </a:solidFill>
              </a:rPr>
              <a:t>and §6.1.3 </a:t>
            </a:r>
            <a:r>
              <a:rPr sz="1150" b="0" dirty="0">
                <a:solidFill>
                  <a:srgbClr val="1A1A1A"/>
                </a:solidFill>
              </a:rPr>
              <a:t>requires a transparent and verifiable tracking system </a:t>
            </a:r>
            <a:r>
              <a:rPr lang="en-US" sz="1150" b="0" dirty="0">
                <a:solidFill>
                  <a:srgbClr val="1A1A1A"/>
                </a:solidFill>
              </a:rPr>
              <a:t>for minimum metrics to be verified </a:t>
            </a:r>
            <a:r>
              <a:rPr sz="1150" b="0" dirty="0">
                <a:solidFill>
                  <a:srgbClr val="1A1A1A"/>
                </a:solidFill>
              </a:rPr>
              <a:t>with independent third-party assessment; §12 allows optional Report verification</a:t>
            </a:r>
          </a:p>
          <a:p>
            <a:pPr algn="l">
              <a:spcBef>
                <a:spcPts val="700"/>
              </a:spcBef>
            </a:pPr>
            <a:r>
              <a:rPr sz="1150" b="0" dirty="0">
                <a:solidFill>
                  <a:srgbClr val="1A1A1A"/>
                </a:solidFill>
              </a:rPr>
              <a:t>•  ISO 14064-3:2019 is the international standard for third-party verification of GHG statements — defines verifier requirements, procedures, and statement of assurance</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37863C"/>
                </a:solidFill>
              </a:rPr>
              <a:t>WHY IT'S BEING USED</a:t>
            </a:r>
          </a:p>
        </p:txBody>
      </p:sp>
      <p:sp>
        <p:nvSpPr>
          <p:cNvPr id="13" name="TextBox 12"/>
          <p:cNvSpPr txBox="1"/>
          <p:nvPr/>
        </p:nvSpPr>
        <p:spPr>
          <a:xfrm>
            <a:off x="5897880" y="4498848"/>
            <a:ext cx="6035040" cy="446276"/>
          </a:xfrm>
          <a:prstGeom prst="rect">
            <a:avLst/>
          </a:prstGeom>
          <a:noFill/>
        </p:spPr>
        <p:txBody>
          <a:bodyPr wrap="square">
            <a:spAutoFit/>
          </a:bodyPr>
          <a:lstStyle/>
          <a:p>
            <a:pPr algn="l"/>
            <a:r>
              <a:rPr sz="1150" b="0" dirty="0">
                <a:solidFill>
                  <a:srgbClr val="1A1A1A"/>
                </a:solidFill>
              </a:rPr>
              <a:t>•  SFC MBM's non-certified track criteria drive the verification requirement; §6.1.2</a:t>
            </a:r>
            <a:r>
              <a:rPr lang="en-US" sz="1150" b="0" dirty="0">
                <a:solidFill>
                  <a:srgbClr val="1A1A1A"/>
                </a:solidFill>
              </a:rPr>
              <a:t>+3</a:t>
            </a:r>
            <a:r>
              <a:rPr sz="1150" b="0" dirty="0">
                <a:solidFill>
                  <a:srgbClr val="1A1A1A"/>
                </a:solidFill>
              </a:rPr>
              <a:t> is the binding obligation and ISO 14064-3 is its established normative framework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378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14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Credit Issuance on Registry</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37863C"/>
                </a:solidFill>
              </a:rPr>
              <a:t>123 Carbon</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37863C"/>
                </a:solidFill>
              </a:rPr>
              <a:t>NORMATIVE REFERENCE</a:t>
            </a:r>
          </a:p>
        </p:txBody>
      </p:sp>
      <p:sp>
        <p:nvSpPr>
          <p:cNvPr id="8" name="TextBox 7"/>
          <p:cNvSpPr txBox="1"/>
          <p:nvPr/>
        </p:nvSpPr>
        <p:spPr>
          <a:xfrm>
            <a:off x="384048" y="1901952"/>
            <a:ext cx="5074920" cy="4572000"/>
          </a:xfrm>
          <a:prstGeom prst="rect">
            <a:avLst/>
          </a:prstGeom>
          <a:noFill/>
        </p:spPr>
        <p:txBody>
          <a:bodyPr wrap="square">
            <a:spAutoFit/>
          </a:bodyPr>
          <a:lstStyle/>
          <a:p>
            <a:pPr algn="l"/>
            <a:r>
              <a:rPr sz="1250" b="1">
                <a:solidFill>
                  <a:srgbClr val="1A1A1A"/>
                </a:solidFill>
              </a:rPr>
              <a:t>SFC-SPEC-001 v01, §3.25 + §6.1.3</a:t>
            </a:r>
          </a:p>
          <a:p>
            <a:pPr algn="l">
              <a:spcBef>
                <a:spcPts val="200"/>
              </a:spcBef>
            </a:pPr>
            <a:r>
              <a:rPr sz="1050" b="0">
                <a:solidFill>
                  <a:srgbClr val="556575"/>
                </a:solidFill>
              </a:rPr>
              <a:t>Solution registration and Sustainability Profile (§3.25) requirements</a:t>
            </a:r>
          </a:p>
          <a:p>
            <a:pPr algn="l">
              <a:spcBef>
                <a:spcPts val="1000"/>
              </a:spcBef>
            </a:pPr>
            <a:r>
              <a:rPr sz="1250" b="1">
                <a:solidFill>
                  <a:srgbClr val="1A1A1A"/>
                </a:solidFill>
              </a:rPr>
              <a:t>123 Carbon registry protocols</a:t>
            </a:r>
          </a:p>
          <a:p>
            <a:pPr algn="l">
              <a:spcBef>
                <a:spcPts val="200"/>
              </a:spcBef>
            </a:pPr>
            <a:r>
              <a:rPr sz="1050" b="0">
                <a:solidFill>
                  <a:srgbClr val="556575"/>
                </a:solidFill>
              </a:rPr>
              <a:t>Credit format, unique identifier assignment, and anti-double-counting ledger</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37863C"/>
                </a:solidFill>
              </a:rPr>
              <a:t>WHAT IT IS</a:t>
            </a:r>
          </a:p>
        </p:txBody>
      </p:sp>
      <p:sp>
        <p:nvSpPr>
          <p:cNvPr id="10" name="TextBox 9"/>
          <p:cNvSpPr txBox="1"/>
          <p:nvPr/>
        </p:nvSpPr>
        <p:spPr>
          <a:xfrm>
            <a:off x="5897880" y="1874519"/>
            <a:ext cx="6035040" cy="2148840"/>
          </a:xfrm>
          <a:prstGeom prst="rect">
            <a:avLst/>
          </a:prstGeom>
          <a:noFill/>
        </p:spPr>
        <p:txBody>
          <a:bodyPr wrap="square">
            <a:spAutoFit/>
          </a:bodyPr>
          <a:lstStyle/>
          <a:p>
            <a:pPr algn="l"/>
            <a:r>
              <a:rPr sz="1150" b="0">
                <a:solidFill>
                  <a:srgbClr val="1A1A1A"/>
                </a:solidFill>
              </a:rPr>
              <a:t>•  SFC MBM §3.25 defines the Sustainability Profile that must accompany each credit: lifecycle GHG emission factors, LHV, feedstock type, production process, batch ID</a:t>
            </a:r>
          </a:p>
          <a:p>
            <a:pPr algn="l">
              <a:spcBef>
                <a:spcPts val="700"/>
              </a:spcBef>
            </a:pPr>
            <a:r>
              <a:rPr sz="1150" b="0">
                <a:solidFill>
                  <a:srgbClr val="1A1A1A"/>
                </a:solidFill>
              </a:rPr>
              <a:t>•  123 Carbon registry governs credit issuance format, unique identifier assignment, and the ledger that prevents double-counting across credit streams</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37863C"/>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123 Carbon is the named registry; SFC MBM §3.25 and §6.1.3 define exactly what information must appear on each credit at issuance — the methodology must be designed to produce all these outputs at batch level</a:t>
            </a:r>
          </a:p>
          <a:p>
            <a:pPr algn="l">
              <a:spcBef>
                <a:spcPts val="700"/>
              </a:spcBef>
            </a:pPr>
            <a:r>
              <a:rPr sz="1150" b="0">
                <a:solidFill>
                  <a:srgbClr val="1A1A1A"/>
                </a:solidFill>
              </a:rPr>
              <a:t>•  Registry-level issuance provides the double-counting protection required for running parallel CDR and SAF accounting on the same production process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0"/>
          </a:xfrm>
          <a:prstGeom prst="rect">
            <a:avLst/>
          </a:prstGeom>
          <a:solidFill>
            <a:srgbClr val="378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3657600" cy="292608"/>
          </a:xfrm>
          <a:prstGeom prst="rect">
            <a:avLst/>
          </a:prstGeom>
          <a:noFill/>
        </p:spPr>
        <p:txBody>
          <a:bodyPr wrap="none">
            <a:spAutoFit/>
          </a:bodyPr>
          <a:lstStyle/>
          <a:p>
            <a:pPr algn="l"/>
            <a:r>
              <a:rPr sz="900" b="1">
                <a:solidFill>
                  <a:srgbClr val="FFFFFF"/>
                </a:solidFill>
              </a:rPr>
              <a:t>STEP 15 OF 15</a:t>
            </a:r>
          </a:p>
        </p:txBody>
      </p:sp>
      <p:sp>
        <p:nvSpPr>
          <p:cNvPr id="4" name="TextBox 3"/>
          <p:cNvSpPr txBox="1"/>
          <p:nvPr/>
        </p:nvSpPr>
        <p:spPr>
          <a:xfrm>
            <a:off x="320040" y="393192"/>
            <a:ext cx="8961120" cy="868680"/>
          </a:xfrm>
          <a:prstGeom prst="rect">
            <a:avLst/>
          </a:prstGeom>
          <a:noFill/>
        </p:spPr>
        <p:txBody>
          <a:bodyPr wrap="square">
            <a:spAutoFit/>
          </a:bodyPr>
          <a:lstStyle/>
          <a:p>
            <a:pPr algn="l"/>
            <a:r>
              <a:rPr sz="2600" b="1">
                <a:solidFill>
                  <a:srgbClr val="FFFFFF"/>
                </a:solidFill>
              </a:rPr>
              <a:t>Credit Delivery, Retirement, and Integrity</a:t>
            </a:r>
          </a:p>
        </p:txBody>
      </p:sp>
      <p:sp>
        <p:nvSpPr>
          <p:cNvPr id="5" name="Rectangle 4"/>
          <p:cNvSpPr/>
          <p:nvPr/>
        </p:nvSpPr>
        <p:spPr>
          <a:xfrm>
            <a:off x="9646920" y="347472"/>
            <a:ext cx="22860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76200" tIns="50800" rIns="76200" rtlCol="0" anchor="ctr"/>
          <a:lstStyle/>
          <a:p>
            <a:pPr algn="ctr"/>
            <a:r>
              <a:rPr sz="1000" b="1">
                <a:solidFill>
                  <a:srgbClr val="37863C"/>
                </a:solidFill>
              </a:rPr>
              <a:t>123 Carbon</a:t>
            </a:r>
          </a:p>
        </p:txBody>
      </p:sp>
      <p:sp>
        <p:nvSpPr>
          <p:cNvPr id="6" name="Rectangle 5"/>
          <p:cNvSpPr/>
          <p:nvPr/>
        </p:nvSpPr>
        <p:spPr>
          <a:xfrm>
            <a:off x="228600" y="1508760"/>
            <a:ext cx="5349240" cy="51206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581912"/>
            <a:ext cx="5074920" cy="274320"/>
          </a:xfrm>
          <a:prstGeom prst="rect">
            <a:avLst/>
          </a:prstGeom>
          <a:noFill/>
        </p:spPr>
        <p:txBody>
          <a:bodyPr wrap="none">
            <a:spAutoFit/>
          </a:bodyPr>
          <a:lstStyle/>
          <a:p>
            <a:pPr algn="l"/>
            <a:r>
              <a:rPr sz="800" b="1">
                <a:solidFill>
                  <a:srgbClr val="37863C"/>
                </a:solidFill>
              </a:rPr>
              <a:t>NORMATIVE REFERENCE</a:t>
            </a:r>
          </a:p>
        </p:txBody>
      </p:sp>
      <p:sp>
        <p:nvSpPr>
          <p:cNvPr id="8" name="TextBox 7"/>
          <p:cNvSpPr txBox="1"/>
          <p:nvPr/>
        </p:nvSpPr>
        <p:spPr>
          <a:xfrm>
            <a:off x="384048" y="1901952"/>
            <a:ext cx="5074920" cy="979755"/>
          </a:xfrm>
          <a:prstGeom prst="rect">
            <a:avLst/>
          </a:prstGeom>
          <a:noFill/>
        </p:spPr>
        <p:txBody>
          <a:bodyPr wrap="square">
            <a:spAutoFit/>
          </a:bodyPr>
          <a:lstStyle/>
          <a:p>
            <a:pPr algn="l"/>
            <a:r>
              <a:rPr sz="1250" b="1" dirty="0">
                <a:solidFill>
                  <a:srgbClr val="1A1A1A"/>
                </a:solidFill>
              </a:rPr>
              <a:t>SFC-SPEC-001 v01, §6.1.3</a:t>
            </a:r>
          </a:p>
          <a:p>
            <a:pPr algn="l">
              <a:spcBef>
                <a:spcPts val="200"/>
              </a:spcBef>
            </a:pPr>
            <a:r>
              <a:rPr lang="en-US" sz="1050" b="0">
                <a:solidFill>
                  <a:srgbClr val="556575"/>
                </a:solidFill>
              </a:rPr>
              <a:t>N</a:t>
            </a:r>
            <a:r>
              <a:rPr sz="1050" b="0">
                <a:solidFill>
                  <a:srgbClr val="556575"/>
                </a:solidFill>
              </a:rPr>
              <a:t>on-certified </a:t>
            </a:r>
            <a:r>
              <a:rPr sz="1050" b="0" dirty="0">
                <a:solidFill>
                  <a:srgbClr val="556575"/>
                </a:solidFill>
              </a:rPr>
              <a:t>Solution disclosure requirements</a:t>
            </a:r>
          </a:p>
          <a:p>
            <a:pPr algn="l">
              <a:spcBef>
                <a:spcPts val="1000"/>
              </a:spcBef>
            </a:pPr>
            <a:r>
              <a:rPr sz="1250" b="1" dirty="0">
                <a:solidFill>
                  <a:srgbClr val="1A1A1A"/>
                </a:solidFill>
              </a:rPr>
              <a:t>123 Carbon protocols</a:t>
            </a:r>
          </a:p>
          <a:p>
            <a:pPr algn="l">
              <a:spcBef>
                <a:spcPts val="200"/>
              </a:spcBef>
            </a:pPr>
            <a:r>
              <a:rPr sz="1050" b="0" dirty="0">
                <a:solidFill>
                  <a:srgbClr val="556575"/>
                </a:solidFill>
              </a:rPr>
              <a:t>Credit retirement, transfer chain, and anti-double-counting provisions</a:t>
            </a:r>
          </a:p>
        </p:txBody>
      </p:sp>
      <p:sp>
        <p:nvSpPr>
          <p:cNvPr id="9" name="TextBox 8"/>
          <p:cNvSpPr txBox="1"/>
          <p:nvPr/>
        </p:nvSpPr>
        <p:spPr>
          <a:xfrm>
            <a:off x="5897880" y="1554480"/>
            <a:ext cx="6035040" cy="274320"/>
          </a:xfrm>
          <a:prstGeom prst="rect">
            <a:avLst/>
          </a:prstGeom>
          <a:noFill/>
        </p:spPr>
        <p:txBody>
          <a:bodyPr wrap="none">
            <a:spAutoFit/>
          </a:bodyPr>
          <a:lstStyle/>
          <a:p>
            <a:pPr algn="l"/>
            <a:r>
              <a:rPr sz="800" b="1">
                <a:solidFill>
                  <a:srgbClr val="37863C"/>
                </a:solidFill>
              </a:rPr>
              <a:t>WHAT IT IS</a:t>
            </a:r>
          </a:p>
        </p:txBody>
      </p:sp>
      <p:sp>
        <p:nvSpPr>
          <p:cNvPr id="10" name="TextBox 9"/>
          <p:cNvSpPr txBox="1"/>
          <p:nvPr/>
        </p:nvSpPr>
        <p:spPr>
          <a:xfrm>
            <a:off x="5897880" y="1874519"/>
            <a:ext cx="6035040" cy="446276"/>
          </a:xfrm>
          <a:prstGeom prst="rect">
            <a:avLst/>
          </a:prstGeom>
          <a:noFill/>
        </p:spPr>
        <p:txBody>
          <a:bodyPr wrap="square">
            <a:spAutoFit/>
          </a:bodyPr>
          <a:lstStyle/>
          <a:p>
            <a:pPr algn="l">
              <a:spcBef>
                <a:spcPts val="700"/>
              </a:spcBef>
            </a:pPr>
            <a:r>
              <a:rPr sz="1150" b="0" dirty="0">
                <a:solidFill>
                  <a:srgbClr val="1A1A1A"/>
                </a:solidFill>
              </a:rPr>
              <a:t>•  §6.1.3 requires non-certified Solutions to disclose underlying calculations, data sources, and production processes in the buyer's Report</a:t>
            </a:r>
          </a:p>
        </p:txBody>
      </p:sp>
      <p:sp>
        <p:nvSpPr>
          <p:cNvPr id="11" name="Rectangle 10"/>
          <p:cNvSpPr/>
          <p:nvPr/>
        </p:nvSpPr>
        <p:spPr>
          <a:xfrm>
            <a:off x="5897880" y="4114800"/>
            <a:ext cx="6035040" cy="22860"/>
          </a:xfrm>
          <a:prstGeom prst="rect">
            <a:avLst/>
          </a:prstGeom>
          <a:solidFill>
            <a:srgbClr val="D0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7880" y="4178808"/>
            <a:ext cx="6035040" cy="274320"/>
          </a:xfrm>
          <a:prstGeom prst="rect">
            <a:avLst/>
          </a:prstGeom>
          <a:noFill/>
        </p:spPr>
        <p:txBody>
          <a:bodyPr wrap="none">
            <a:spAutoFit/>
          </a:bodyPr>
          <a:lstStyle/>
          <a:p>
            <a:pPr algn="l"/>
            <a:r>
              <a:rPr sz="800" b="1">
                <a:solidFill>
                  <a:srgbClr val="37863C"/>
                </a:solidFill>
              </a:rPr>
              <a:t>WHY IT'S BEING USED</a:t>
            </a:r>
          </a:p>
        </p:txBody>
      </p:sp>
      <p:sp>
        <p:nvSpPr>
          <p:cNvPr id="13" name="TextBox 12"/>
          <p:cNvSpPr txBox="1"/>
          <p:nvPr/>
        </p:nvSpPr>
        <p:spPr>
          <a:xfrm>
            <a:off x="5897880" y="4498848"/>
            <a:ext cx="6035040" cy="2148840"/>
          </a:xfrm>
          <a:prstGeom prst="rect">
            <a:avLst/>
          </a:prstGeom>
          <a:noFill/>
        </p:spPr>
        <p:txBody>
          <a:bodyPr wrap="square">
            <a:spAutoFit/>
          </a:bodyPr>
          <a:lstStyle/>
          <a:p>
            <a:pPr algn="l"/>
            <a:r>
              <a:rPr sz="1150" b="0">
                <a:solidFill>
                  <a:srgbClr val="1A1A1A"/>
                </a:solidFill>
              </a:rPr>
              <a:t>•  §6.1.3 is the binding disclosure obligation for non-certified Solutions — the methodology must produce all required elements in a form that is documentable and transferable to the buyer</a:t>
            </a:r>
          </a:p>
          <a:p>
            <a:pPr algn="l">
              <a:spcBef>
                <a:spcPts val="700"/>
              </a:spcBef>
            </a:pPr>
            <a:r>
              <a:rPr sz="1150" b="0">
                <a:solidFill>
                  <a:srgbClr val="1A1A1A"/>
                </a:solidFill>
              </a:rPr>
              <a:t>•  Anti-double-counting provisions protect Charm and the buyer from the primary integrity risk: the same GHG reduction claimed simultaneously in both the CDR and SAF credit streams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1244</TotalTime>
  <Words>3869</Words>
  <Application>Microsoft Macintosh PowerPoint</Application>
  <PresentationFormat>Custom</PresentationFormat>
  <Paragraphs>281</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22</cp:revision>
  <dcterms:created xsi:type="dcterms:W3CDTF">2013-01-27T09:14:16Z</dcterms:created>
  <dcterms:modified xsi:type="dcterms:W3CDTF">2026-06-23T17:41:49Z</dcterms:modified>
  <cp:category/>
</cp:coreProperties>
</file>